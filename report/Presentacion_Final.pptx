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media/image-1-1.jpg" ContentType="image/jpg"/>
  <Override PartName="/ppt/media/image-13-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bcac4407-847e-2b54-40d3-02565dcadaf7}">
          <p14:sldIdLst>
            <p14:sldId id="256"/>
            <p14:sldId id="257"/>
            <p14:sldId id="258"/>
            <p14:sldId id="259"/>
          </p14:sldIdLst>
        </p14:section>
        <p14:section name="Etapas base" id="{a1634a81-feab-fb7c-7d10-cde4658e2dec}">
          <p14:sldIdLst>
            <p14:sldId id="260"/>
            <p14:sldId id="261"/>
            <p14:sldId id="262"/>
          </p14:sldIdLst>
        </p14:section>
        <p14:section name="Bloque avanzado" id="{b64f3e38-fd99-9fc6-103c-cdbf200d3309}">
          <p14:sldIdLst>
            <p14:sldId id="263"/>
            <p14:sldId id="264"/>
            <p14:sldId id="265"/>
          </p14:sldIdLst>
        </p14:section>
        <p14:section name="Resultados" id="{fc65db68-ff65-01e2-82bd-83837d507034}">
          <p14:sldIdLst>
            <p14:sldId id="266"/>
            <p14:sldId id="267"/>
            <p14:sldId id="268"/>
          </p14:sldIdLst>
        </p14:section>
        <p14:section name="Cierre" id="{84e4e295-8016-f068-092a-e1dbd310d52c}">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141C"/>
                </a:solidFill>
                <a:latin typeface="+mn-lt"/>
              </a:defRPr>
            </a:pPr>
            <a:r>
              <a:rPr sz="1300" b="0" i="0" u="none" strike="noStrike">
                <a:solidFill>
                  <a:srgbClr val="12141C"/>
                </a:solidFill>
                <a:latin typeface="+mn-lt"/>
              </a:rPr>
              <a:t>Memoria de la lista negra (MB, escala log)</a:t>
            </a:r>
          </a:p>
        </c:rich>
      </c:tx>
      <c:layout/>
      <c:overlay val="0"/>
    </c:title>
    <c:autoTitleDeleted val="0"/>
    <c:plotArea>
      <c:layout/>
      <c:barChart>
        <c:barDir val="col"/>
        <c:grouping val="clustered"/>
        <c:varyColors val="0"/>
        <c:ser>
          <c:idx val="0"/>
          <c:order val="0"/>
          <c:tx>
            <c:strRef>
              <c:f>Sheet1!$B$1</c:f>
              <c:strCache>
                <c:ptCount val="1"/>
                <c:pt idx="0">
                  <c:v>Bloom p = 1 %</c:v>
                </c:pt>
              </c:strCache>
            </c:strRef>
          </c:tx>
          <c:spPr>
            <a:solidFill>
              <a:srgbClr val="00C8E6"/>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Sheet1!$A$2:$A$6</c:f>
              <c:multiLvlStrCache>
                <c:ptCount val="5"/>
                <c:lvl>
                  <c:pt idx="0">
                    <c:v>1K</c:v>
                  </c:pt>
                  <c:pt idx="1">
                    <c:v>10K</c:v>
                  </c:pt>
                  <c:pt idx="2">
                    <c:v>100K</c:v>
                  </c:pt>
                  <c:pt idx="3">
                    <c:v>1M</c:v>
                  </c:pt>
                  <c:pt idx="4">
                    <c:v>10M</c:v>
                  </c:pt>
                </c:lvl>
              </c:multiLvlStrCache>
            </c:multiLvlStrRef>
          </c:cat>
          <c:val>
            <c:numRef>
              <c:f>Sheet1!$B$2:$B$6</c:f>
              <c:numCache>
                <c:formatCode>General</c:formatCode>
                <c:ptCount val="5"/>
                <c:pt idx="0">
                  <c:v>0.0012</c:v>
                </c:pt>
                <c:pt idx="1">
                  <c:v>0.012</c:v>
                </c:pt>
                <c:pt idx="2">
                  <c:v>0.12</c:v>
                </c:pt>
                <c:pt idx="3">
                  <c:v>1.2</c:v>
                </c:pt>
                <c:pt idx="4">
                  <c:v>12</c:v>
                </c:pt>
              </c:numCache>
            </c:numRef>
          </c:val>
        </c:ser>
        <c:ser>
          <c:idx val="1"/>
          <c:order val="1"/>
          <c:tx>
            <c:strRef>
              <c:f>Sheet1!$C$1</c:f>
              <c:strCache>
                <c:ptCount val="1"/>
                <c:pt idx="0">
                  <c:v>Tabla hash exacta</c:v>
                </c:pt>
              </c:strCache>
            </c:strRef>
          </c:tx>
          <c:spPr>
            <a:solidFill>
              <a:srgbClr val="A0A8B4"/>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Sheet1!$A$2:$A$6</c:f>
              <c:multiLvlStrCache>
                <c:ptCount val="5"/>
                <c:lvl>
                  <c:pt idx="0">
                    <c:v>1K</c:v>
                  </c:pt>
                  <c:pt idx="1">
                    <c:v>10K</c:v>
                  </c:pt>
                  <c:pt idx="2">
                    <c:v>100K</c:v>
                  </c:pt>
                  <c:pt idx="3">
                    <c:v>1M</c:v>
                  </c:pt>
                  <c:pt idx="4">
                    <c:v>10M</c:v>
                  </c:pt>
                </c:lvl>
              </c:multiLvlStrCache>
            </c:multiLvlStrRef>
          </c:cat>
          <c:val>
            <c:numRef>
              <c:f>Sheet1!$C$2:$C$6</c:f>
              <c:numCache>
                <c:formatCode>General</c:formatCode>
                <c:ptCount val="5"/>
                <c:pt idx="0">
                  <c:v>0.0336</c:v>
                </c:pt>
                <c:pt idx="1">
                  <c:v>0.263</c:v>
                </c:pt>
                <c:pt idx="2">
                  <c:v>4.2</c:v>
                </c:pt>
                <c:pt idx="3">
                  <c:v>33.6</c:v>
                </c:pt>
                <c:pt idx="4">
                  <c:v>268</c:v>
                </c:pt>
              </c:numCache>
            </c:numRef>
          </c:val>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480"/>
                </a:solidFill>
                <a:latin typeface="+mn-lt"/>
              </a:defRPr>
            </a:pPr>
            <a:endParaRPr lang="en-US"/>
          </a:p>
        </c:txPr>
        <c:crossAx val="2094734552"/>
        <c:crosses val="autoZero"/>
        <c:auto val="1"/>
        <c:lblAlgn val="ctr"/>
        <c:noMultiLvlLbl val="1"/>
      </c:catAx>
      <c:valAx>
        <c:axId val="2094734552"/>
        <c:scaling>
          <c:logBase val="10"/>
          <c:orientation val="minMax"/>
          <c:min val="0.001"/>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4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B748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141C"/>
                </a:solidFill>
                <a:latin typeface="+mn-lt"/>
              </a:defRPr>
            </a:pPr>
            <a:r>
              <a:rPr sz="1300" b="0" i="0" u="none" strike="noStrike">
                <a:solidFill>
                  <a:srgbClr val="12141C"/>
                </a:solidFill>
                <a:latin typeface="+mn-lt"/>
              </a:rPr>
              <a:t>Modularidad Q (más alto es mejor)</a:t>
            </a:r>
          </a:p>
        </c:rich>
      </c:tx>
      <c:layout/>
      <c:overlay val="0"/>
    </c:title>
    <c:autoTitleDeleted val="0"/>
    <c:plotArea>
      <c:layout/>
      <c:barChart>
        <c:barDir val="col"/>
        <c:grouping val="clustered"/>
        <c:varyColors val="0"/>
        <c:ser>
          <c:idx val="0"/>
          <c:order val="0"/>
          <c:tx>
            <c:strRef>
              <c:f>Sheet1!$B$1</c:f>
              <c:strCache>
                <c:ptCount val="1"/>
                <c:pt idx="0">
                  <c:v>Louvain</c:v>
                </c:pt>
              </c:strCache>
            </c:strRef>
          </c:tx>
          <c:spPr>
            <a:solidFill>
              <a:srgbClr val="00C8E6"/>
            </a:solidFill>
            <a:effectLst/>
          </c:spPr>
          <c:invertIfNegative val="0"/>
          <c:dLbls>
            <c:numFmt formatCode="0.000" sourceLinked="0"/>
            <c:txPr>
              <a:bodyPr/>
              <a:lstStyle/>
              <a:p>
                <a:pPr>
                  <a:defRPr b="0" i="0" strike="noStrike" sz="1100" u="none">
                    <a:solidFill>
                      <a:srgbClr val="12141C"/>
                    </a:solidFill>
                    <a:latin typeface="+mn-lt"/>
                  </a:defRPr>
                </a:pPr>
              </a:p>
            </c:txPr>
            <c:showLegendKey val="0"/>
            <c:showVal val="1"/>
            <c:showCatName val="0"/>
            <c:showSerName val="0"/>
            <c:showPercent val="0"/>
            <c:showBubbleSize val="0"/>
            <c:showLeaderLines val="0"/>
          </c:dLbls>
          <c:cat>
            <c:multiLvlStrRef>
              <c:f>Sheet1!$A$2:$A$3</c:f>
              <c:multiLvlStrCache>
                <c:ptCount val="2"/>
                <c:lvl>
                  <c:pt idx="0">
                    <c:v>REES46 real (10M eventos)</c:v>
                  </c:pt>
                  <c:pt idx="1">
                    <c:v>Grafo plantado (1M aristas)</c:v>
                  </c:pt>
                </c:lvl>
              </c:multiLvlStrCache>
            </c:multiLvlStrRef>
          </c:cat>
          <c:val>
            <c:numRef>
              <c:f>Sheet1!$B$2:$B$3</c:f>
              <c:numCache>
                <c:formatCode>General</c:formatCode>
                <c:ptCount val="2"/>
                <c:pt idx="0">
                  <c:v>0.621</c:v>
                </c:pt>
                <c:pt idx="1">
                  <c:v>0.781</c:v>
                </c:pt>
              </c:numCache>
            </c:numRef>
          </c:val>
        </c:ser>
        <c:ser>
          <c:idx val="1"/>
          <c:order val="1"/>
          <c:tx>
            <c:strRef>
              <c:f>Sheet1!$C$1</c:f>
              <c:strCache>
                <c:ptCount val="1"/>
                <c:pt idx="0">
                  <c:v>Label Propagation</c:v>
                </c:pt>
              </c:strCache>
            </c:strRef>
          </c:tx>
          <c:spPr>
            <a:solidFill>
              <a:srgbClr val="A0A8B4"/>
            </a:solidFill>
            <a:effectLst/>
          </c:spPr>
          <c:invertIfNegative val="0"/>
          <c:dLbls>
            <c:numFmt formatCode="0.000" sourceLinked="0"/>
            <c:txPr>
              <a:bodyPr/>
              <a:lstStyle/>
              <a:p>
                <a:pPr>
                  <a:defRPr b="0" i="0" strike="noStrike" sz="1100" u="none">
                    <a:solidFill>
                      <a:srgbClr val="12141C"/>
                    </a:solidFill>
                    <a:latin typeface="+mn-lt"/>
                  </a:defRPr>
                </a:pPr>
              </a:p>
            </c:txPr>
            <c:showLegendKey val="0"/>
            <c:showVal val="1"/>
            <c:showCatName val="0"/>
            <c:showSerName val="0"/>
            <c:showPercent val="0"/>
            <c:showBubbleSize val="0"/>
            <c:showLeaderLines val="0"/>
          </c:dLbls>
          <c:cat>
            <c:multiLvlStrRef>
              <c:f>Sheet1!$A$2:$A$3</c:f>
              <c:multiLvlStrCache>
                <c:ptCount val="2"/>
                <c:lvl>
                  <c:pt idx="0">
                    <c:v>REES46 real (10M eventos)</c:v>
                  </c:pt>
                  <c:pt idx="1">
                    <c:v>Grafo plantado (1M aristas)</c:v>
                  </c:pt>
                </c:lvl>
              </c:multiLvlStrCache>
            </c:multiLvlStrRef>
          </c:cat>
          <c:val>
            <c:numRef>
              <c:f>Sheet1!$C$2:$C$3</c:f>
              <c:numCache>
                <c:formatCode>General</c:formatCode>
                <c:ptCount val="2"/>
                <c:pt idx="0">
                  <c:v>0.383</c:v>
                </c:pt>
                <c:pt idx="1">
                  <c:v>0.75</c:v>
                </c:pt>
              </c:numCache>
            </c:numRef>
          </c:val>
        </c:ser>
        <c:dLbls>
          <c:numFmt formatCode="0.000" sourceLinked="0"/>
          <c:txPr>
            <a:bodyPr/>
            <a:lstStyle/>
            <a:p>
              <a:pPr>
                <a:defRPr b="0" i="0" strike="noStrike" sz="1100" u="none">
                  <a:solidFill>
                    <a:srgbClr val="12141C"/>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480"/>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6B74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B748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141C"/>
                </a:solidFill>
                <a:latin typeface="+mn-lt"/>
              </a:defRPr>
            </a:pPr>
            <a:r>
              <a:rPr sz="1300" b="0" i="0" u="none" strike="noStrike">
                <a:solidFill>
                  <a:srgbClr val="12141C"/>
                </a:solidFill>
                <a:latin typeface="+mn-lt"/>
              </a:rPr>
              <a:t>Tiempo por consulta Top-10 (ms, escala log)</a:t>
            </a:r>
          </a:p>
        </c:rich>
      </c:tx>
      <c:layout/>
      <c:overlay val="0"/>
    </c:title>
    <c:autoTitleDeleted val="0"/>
    <c:plotArea>
      <c:layout/>
      <c:lineChart>
        <c:varyColors val="0"/>
        <c:ser>
          <c:idx val="0"/>
          <c:order val="0"/>
          <c:tx>
            <c:strRef>
              <c:f>Sheet1!$B$1</c:f>
              <c:strCache>
                <c:ptCount val="1"/>
                <c:pt idx="0">
                  <c:v>MinHash + LSH</c:v>
                </c:pt>
              </c:strCache>
            </c:strRef>
          </c:tx>
          <c:spPr>
            <a:solidFill>
              <a:srgbClr val="00C8E6"/>
            </a:solidFill>
            <a:ln w="38100" cap="flat">
              <a:solidFill>
                <a:srgbClr val="00C8E6"/>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8"/>
            <c:spPr>
              <a:solidFill>
                <a:srgbClr val="00C8E6"/>
              </a:solidFill>
              <a:ln w="9525" cap="flat">
                <a:solidFill>
                  <a:srgbClr val="00C8E6"/>
                </a:solidFill>
                <a:prstDash val="solid"/>
                <a:round/>
              </a:ln>
              <a:effectLst/>
            </c:spPr>
          </c:marker>
          <c:cat>
            <c:multiLvlStrRef>
              <c:f>Sheet1!$A$2:$A$5</c:f>
              <c:multiLvlStrCache>
                <c:ptCount val="4"/>
                <c:lvl>
                  <c:pt idx="0">
                    <c:v>1K</c:v>
                  </c:pt>
                  <c:pt idx="1">
                    <c:v>10K</c:v>
                  </c:pt>
                  <c:pt idx="2">
                    <c:v>100K</c:v>
                  </c:pt>
                  <c:pt idx="3">
                    <c:v>1M</c:v>
                  </c:pt>
                </c:lvl>
              </c:multiLvlStrCache>
            </c:multiLvlStrRef>
          </c:cat>
          <c:val>
            <c:numRef>
              <c:f>Sheet1!$B$2:$B$5</c:f>
              <c:numCache>
                <c:formatCode>General</c:formatCode>
                <c:ptCount val="4"/>
                <c:pt idx="0">
                  <c:v>0.52</c:v>
                </c:pt>
                <c:pt idx="1">
                  <c:v>0.58</c:v>
                </c:pt>
                <c:pt idx="2">
                  <c:v>0.62</c:v>
                </c:pt>
                <c:pt idx="3">
                  <c:v>0.76</c:v>
                </c:pt>
              </c:numCache>
            </c:numRef>
          </c:val>
          <c:smooth val="0"/>
        </c:ser>
        <c:ser>
          <c:idx val="1"/>
          <c:order val="1"/>
          <c:tx>
            <c:strRef>
              <c:f>Sheet1!$C$1</c:f>
              <c:strCache>
                <c:ptCount val="1"/>
                <c:pt idx="0">
                  <c:v>Fuerza bruta (Jaccard exacto)</c:v>
                </c:pt>
              </c:strCache>
            </c:strRef>
          </c:tx>
          <c:spPr>
            <a:solidFill>
              <a:srgbClr val="A0A8B4"/>
            </a:solidFill>
            <a:ln w="38100" cap="flat">
              <a:solidFill>
                <a:srgbClr val="A0A8B4"/>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8"/>
            <c:spPr>
              <a:solidFill>
                <a:srgbClr val="A0A8B4"/>
              </a:solidFill>
              <a:ln w="9525" cap="flat">
                <a:solidFill>
                  <a:srgbClr val="A0A8B4"/>
                </a:solidFill>
                <a:prstDash val="solid"/>
                <a:round/>
              </a:ln>
              <a:effectLst/>
            </c:spPr>
          </c:marker>
          <c:cat>
            <c:multiLvlStrRef>
              <c:f>Sheet1!$A$2:$A$5</c:f>
              <c:multiLvlStrCache>
                <c:ptCount val="4"/>
                <c:lvl>
                  <c:pt idx="0">
                    <c:v>1K</c:v>
                  </c:pt>
                  <c:pt idx="1">
                    <c:v>10K</c:v>
                  </c:pt>
                  <c:pt idx="2">
                    <c:v>100K</c:v>
                  </c:pt>
                  <c:pt idx="3">
                    <c:v>1M</c:v>
                  </c:pt>
                </c:lvl>
              </c:multiLvlStrCache>
            </c:multiLvlStrRef>
          </c:cat>
          <c:val>
            <c:numRef>
              <c:f>Sheet1!$C$2:$C$5</c:f>
              <c:numCache>
                <c:formatCode>General</c:formatCode>
                <c:ptCount val="4"/>
                <c:pt idx="0">
                  <c:v>0.23</c:v>
                </c:pt>
                <c:pt idx="1">
                  <c:v>1.75</c:v>
                </c:pt>
                <c:pt idx="2">
                  <c:v>21.23</c:v>
                </c:pt>
                <c:pt idx="3">
                  <c:v>225.09</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480"/>
                </a:solidFill>
                <a:latin typeface="+mn-lt"/>
              </a:defRPr>
            </a:pPr>
            <a:endParaRPr lang="en-US"/>
          </a:p>
        </c:txPr>
        <c:crossAx val="2094734552"/>
        <c:crosses val="autoZero"/>
        <c:auto val="1"/>
        <c:lblAlgn val="ctr"/>
        <c:noMultiLvlLbl val="1"/>
      </c:catAx>
      <c:valAx>
        <c:axId val="2094734552"/>
        <c:scaling>
          <c:logBase val="10"/>
          <c:orientation val="minMax"/>
          <c:min val="0.1"/>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4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B748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141C"/>
                </a:solidFill>
                <a:latin typeface="+mn-lt"/>
              </a:defRPr>
            </a:pPr>
            <a:r>
              <a:rPr sz="1300" b="0" i="0" u="none" strike="noStrike">
                <a:solidFill>
                  <a:srgbClr val="12141C"/>
                </a:solidFill>
                <a:latin typeface="+mn-lt"/>
              </a:rPr>
              <a:t>Tiempo por etapa (s), total 308,8 s</a:t>
            </a:r>
          </a:p>
        </c:rich>
      </c:tx>
      <c:layout/>
      <c:overlay val="0"/>
    </c:title>
    <c:autoTitleDeleted val="0"/>
    <c:plotArea>
      <c:layout/>
      <c:barChart>
        <c:barDir val="bar"/>
        <c:grouping val="clustered"/>
        <c:varyColors val="0"/>
        <c:ser>
          <c:idx val="0"/>
          <c:order val="0"/>
          <c:tx>
            <c:strRef>
              <c:f>Sheet1!$B$1</c:f>
              <c:strCache>
                <c:ptCount val="1"/>
                <c:pt idx="0">
                  <c:v>segundos</c:v>
                </c:pt>
              </c:strCache>
            </c:strRef>
          </c:tx>
          <c:spPr>
            <a:solidFill>
              <a:srgbClr val="A0A8B4"/>
            </a:solidFill>
            <a:effectLst/>
          </c:spPr>
          <c:invertIfNegative val="0"/>
          <c:dLbls>
            <c:numFmt formatCode="0.0" sourceLinked="0"/>
            <c:txPr>
              <a:bodyPr/>
              <a:lstStyle/>
              <a:p>
                <a:pPr>
                  <a:defRPr b="0" i="0" strike="noStrike" sz="1100" u="none">
                    <a:solidFill>
                      <a:srgbClr val="12141C"/>
                    </a:solidFill>
                    <a:latin typeface="+mn-lt"/>
                  </a:defRPr>
                </a:pPr>
              </a:p>
            </c:txPr>
            <c:showLegendKey val="0"/>
            <c:showVal val="1"/>
            <c:showCatName val="0"/>
            <c:showSerName val="0"/>
            <c:showPercent val="0"/>
            <c:showBubbleSize val="0"/>
            <c:showLeaderLines val="0"/>
          </c:dLbls>
          <c:dPt>
            <c:idx val="0"/>
            <c:invertIfNegative val="0"/>
            <c:bubble3D val="0"/>
            <c:spPr>
              <a:solidFill>
                <a:srgbClr val="A0A8B4"/>
              </a:solidFill>
              <a:effectLst/>
            </c:spPr>
          </c:dPt>
          <c:dPt>
            <c:idx val="1"/>
            <c:invertIfNegative val="0"/>
            <c:bubble3D val="0"/>
            <c:spPr>
              <a:solidFill>
                <a:srgbClr val="A0A8B4"/>
              </a:solidFill>
              <a:effectLst/>
            </c:spPr>
          </c:dPt>
          <c:dPt>
            <c:idx val="2"/>
            <c:invertIfNegative val="0"/>
            <c:bubble3D val="0"/>
            <c:spPr>
              <a:solidFill>
                <a:srgbClr val="A0A8B4"/>
              </a:solidFill>
              <a:effectLst/>
            </c:spPr>
          </c:dPt>
          <c:dPt>
            <c:idx val="3"/>
            <c:invertIfNegative val="0"/>
            <c:bubble3D val="0"/>
            <c:spPr>
              <a:solidFill>
                <a:srgbClr val="A0A8B4"/>
              </a:solidFill>
              <a:effectLst/>
            </c:spPr>
          </c:dPt>
          <c:dPt>
            <c:idx val="4"/>
            <c:invertIfNegative val="0"/>
            <c:bubble3D val="0"/>
            <c:spPr>
              <a:solidFill>
                <a:srgbClr val="A0A8B4"/>
              </a:solidFill>
              <a:effectLst/>
            </c:spPr>
          </c:dPt>
          <c:dPt>
            <c:idx val="5"/>
            <c:invertIfNegative val="0"/>
            <c:bubble3D val="0"/>
            <c:spPr>
              <a:solidFill>
                <a:srgbClr val="A0A8B4"/>
              </a:solidFill>
              <a:effectLst/>
            </c:spPr>
          </c:dPt>
          <c:dPt>
            <c:idx val="6"/>
            <c:invertIfNegative val="0"/>
            <c:bubble3D val="0"/>
            <c:spPr>
              <a:solidFill>
                <a:srgbClr val="A0A8B4"/>
              </a:solidFill>
              <a:effectLst/>
            </c:spPr>
          </c:dPt>
          <c:dPt>
            <c:idx val="7"/>
            <c:invertIfNegative val="0"/>
            <c:bubble3D val="0"/>
            <c:spPr>
              <a:solidFill>
                <a:srgbClr val="A0A8B4"/>
              </a:solidFill>
              <a:effectLst/>
            </c:spPr>
          </c:dPt>
          <c:dPt>
            <c:idx val="8"/>
            <c:invertIfNegative val="0"/>
            <c:bubble3D val="0"/>
            <c:spPr>
              <a:solidFill>
                <a:srgbClr val="A0A8B4"/>
              </a:solidFill>
              <a:effectLst/>
            </c:spPr>
          </c:dPt>
          <c:dPt>
            <c:idx val="9"/>
            <c:invertIfNegative val="0"/>
            <c:bubble3D val="0"/>
            <c:spPr>
              <a:solidFill>
                <a:srgbClr val="00C8E6"/>
              </a:solidFill>
              <a:effectLst/>
            </c:spPr>
          </c:dPt>
          <c:cat>
            <c:multiLvlStrRef>
              <c:f>Sheet1!$A$2:$A$11</c:f>
              <c:multiLvlStrCache>
                <c:ptCount val="10"/>
                <c:lvl>
                  <c:pt idx="0">
                    <c:v>S5 KD-Tree</c:v>
                  </c:pt>
                  <c:pt idx="1">
                    <c:v>S4 B+Tree</c:v>
                  </c:pt>
                  <c:pt idx="2">
                    <c:v>S8 grafo y refrescos</c:v>
                  </c:pt>
                  <c:pt idx="3">
                    <c:v>S9 servicio</c:v>
                  </c:pt>
                  <c:pt idx="4">
                    <c:v>S6 filtrado</c:v>
                  </c:pt>
                  <c:pt idx="5">
                    <c:v>S2 prioridad</c:v>
                  </c:pt>
                  <c:pt idx="6">
                    <c:v>S3 almacenamiento</c:v>
                  </c:pt>
                  <c:pt idx="7">
                    <c:v>S1 preprocesamiento</c:v>
                  </c:pt>
                  <c:pt idx="8">
                    <c:v>S0 ingesta</c:v>
                  </c:pt>
                  <c:pt idx="9">
                    <c:v>S7 refresco SVD + IVF</c:v>
                  </c:pt>
                </c:lvl>
              </c:multiLvlStrCache>
            </c:multiLvlStrRef>
          </c:cat>
          <c:val>
            <c:numRef>
              <c:f>Sheet1!$B$2:$B$11</c:f>
              <c:numCache>
                <c:formatCode>General</c:formatCode>
                <c:ptCount val="10"/>
                <c:pt idx="0">
                  <c:v>0.7</c:v>
                </c:pt>
                <c:pt idx="1">
                  <c:v>0.8</c:v>
                </c:pt>
                <c:pt idx="2">
                  <c:v>1.1</c:v>
                </c:pt>
                <c:pt idx="3">
                  <c:v>1.8</c:v>
                </c:pt>
                <c:pt idx="4">
                  <c:v>18.7</c:v>
                </c:pt>
                <c:pt idx="5">
                  <c:v>20.1</c:v>
                </c:pt>
                <c:pt idx="6">
                  <c:v>24.7</c:v>
                </c:pt>
                <c:pt idx="7">
                  <c:v>29.5</c:v>
                </c:pt>
                <c:pt idx="8">
                  <c:v>58.2</c:v>
                </c:pt>
                <c:pt idx="9">
                  <c:v>151</c:v>
                </c:pt>
              </c:numCache>
            </c:numRef>
          </c:val>
        </c:ser>
        <c:dLbls>
          <c:numFmt formatCode="0.0" sourceLinked="0"/>
          <c:txPr>
            <a:bodyPr/>
            <a:lstStyle/>
            <a:p>
              <a:pPr>
                <a:defRPr b="0" i="0" strike="noStrike" sz="1100" u="none">
                  <a:solidFill>
                    <a:srgbClr val="12141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6B748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6B74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Dante · 0:15
Buenas tardes, profesor. Somos el grupo 2: Sebastian Garcia, Clinton Chulluncuy, Ronald Hilario y yo, Dante Barreto. Presentamos un pipeline de data streams para comercio electrónico: diez estructuras de datos encadenadas que procesan diez millones de eventos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Dante · 0:15
La exposición sigue el recorrido de un evento por el pipeline. Yo presento el problema, los datos, la arquitectura y las etapas de consulta, de S3 a S5. Sebastian presenta la entrada del stream y la demo; Clinton, el filtrado de fraude y el grafo; y Ronald, la similitud y los experimentos. Cada uno expone las etapas que implementó.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Dante · 0:50
Elegimos el escenario B, comercio electrónico. Una tienda en línea necesita cuatro cosas a la vez: atender primero las compras urgentes, responder consultas en microsegundos, detectar fraude en segundos y recomendar productos. Usamos los primeros diez millones de eventos reales de REES46, del 1 al 8 de octubre de 2019: 120 mil productos y más de un millón de usuarios; el 95,6 % de los eventos son vistas. Lo que el dataset no trae (tarjetas, dispositivos, tipo de envío, duplicados y ráfagas de fraude) lo generamos con semilla fija, como pide el enunciado. Las etiquetas sintéticas solo sirven para medir precisión y recall: el pipeline nunca las usa para decidir.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Dante · 0:45
Este es el flujo. Un evento entra por la cola, se limpia, se prioriza y se resuelve en tablas hash. Tomamos una decisión importante: el filtrado de fraude, S6, corre justo después de S3, para que un evento bloqueado no llegue a los índices, la similitud ni el grafo. Lo que pasa el filtro alimenta S4, S5, S7 y S8, y todo converge en el servicio S9. Procesamos en lotes de 5 000 eventos: lo incremental se actualiza por evento y lo costoso (KD-Tree, SVD con IVF, PageRank y Louvain) se refresca cada dos millones. Sebastian les explica la entrada.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Sebastian · 0:50
Gracias, Dante. S0 es una cola FIFO enlazada con capacidad de un lote: encolar y desencolar cuestan O(1) y, si se llena, el productor se detiene y el rechazo se cuenta; eso es backpressure. En S1 validamos y normalizamos. Para deduplicar, merge sort deja juntos los repetidos del lote y cada id se busca con búsqueda binaria en las corridas ordenadas de los últimos 500 mil ids. Cuando la ventana se llena, se descarta la corrida más antigua completa, sin mezclar todo el arreglo. Eliminamos los 151 081 duplicados inyectados, y es 1,6 veces más rápido que un conjunto hash en Python. S2 es un heap binario: primero las compras express, luego premium, estándar, programadas, carritos y vistas, con desempate por orden de llegada. Dante sigue con el almacenamiento.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Dante · 0:50
S3 convierte los ids de producto y de usuario en índices densos con una tabla hash propia de sondeo lineal. Con carga máxima de 0,7 promedia 2,1 sondeos y 2,4 microsegundos por operación con diez millones de claves. Encima va una caché LRU, que es una tabla hash más una lista doblemente enlazada, con 91,5 % de aciertos en accesos tipo Zipf. Y la matriz usuario por producto se guarda dispersa: 5,8 millones de celdas no nulas, cuando la densa tendría 129 mil millones. En la revisión corregimos un error: la celda se codificaba como fila por número de columnas más columna, y se corrompía al crecer el catálogo. Ahora la clave es el par fila, columna.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Dante · 0:50
S4 es un B+Tree real en disco, con páginas de 4 KB y 255 claves por hoja. Con diez millones de claves tiene altura 3: una búsqueda lee 3 páginas y tarda 44 microsegundos. Un árbol binario necesitaría unos 43 accesos a disco para mil millones de claves; el B+Tree, 4. Lo usamos para el índice de precio y el índice temporal de órdenes. S5 es un KD-Tree sobre precio, popularidad y conversión: con diez millones de puntos responde KNN en 0,73 ms, 537 veces más rápido que la fuerza bruta. En 32 dimensiones, en cambio, es 421 veces más lento, porque casi no poda ramas. Por eso los embeddings se buscan con IVF, que presentará Ronald. Ahora Clinton con el filtrado.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Clinton · 1:30
Gracias. S6 es la primera etapa fija. El Bloom Filter guarda la lista negra de tarjetas y dispositivos: con p de 0,1 % y diez funciones hash ocupa 3,4 KB en la corrida y no tiene falsos negativos. Como un falso positivo bloquearía una compra legítima, todo positivo se verifica contra el conjunto exacto: hubo 7 y se descartaron. El Count-Min Sketch cuenta intentos por tarjeta y por dispositivo en una ventana de 10 minutos, implementada como un anillo de diez sub-sketches de un minuto. Si una tarjeta supera 12 intentos o un dispositivo 20, se genera una alerta. Count-Min nunca subestima, así que no puede esconder una ráfaga. Sobre los diez millones obtuvimos precisión de 95,4 % y recall de 88,1 %. El recall no llega a 100 % porque los primeros intentos de cada ráfaga pasan antes de alcanzar el umbral. La precisión baja porque en los datos reales hay 309 cuentas con hasta 110 carritos en 10 minutos: parecen bots o revendedores, y en producción irían a revisión manual. En el benchmark con diez millones de claves, el Bloom ocupa 12 MB frente a 268 MB de la tabla exacta.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Clinton · 1:20
S8 construye el grafo de co-compra: los nodos son productos y el peso de una arista es el número de órdenes que contienen a ambos. PageRank se calcula por iteración de potencias sobre la matriz CSR, con alfa 0,85, y lo validamos contra NetworkX. En la corrida real converge en 89 iteraciones y 0,03 segundos; con 9,9 millones de aristas tarda 20,7 segundos. Su correlación con el grado es 0,99, así que la diferencia está en la cola: PageRank sube productos conectados con productos centrales. Para comunidades comparamos Louvain con Label Propagation. Louvain maximiza la modularidad: 0,621 frente a 0,383 en el grafo real, y en grafos plantados es más estable entre semillas, con NMI de 0,99 frente a 0,94. Label Propagation es más rápido, pero no optimiza ninguna función objetivo. Ronald sigue con la similitud.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Ronald · 1:35
Gracias. S7 usa dos técnicas. La primera es MinHash con LSH: cada producto es el conjunto de usuarios que lo compraron o lo pusieron en el carrito. Con 128 minhashes en 32 bandas de 4 filas, el umbral de Jaccard es 0,42. Una consulta son dos búsquedas binarias y se mantiene por debajo de un milisegundo de mil a un millón de conjuntos: 295 veces más rápido que la fuerza bruta. Reportamos el recall de dos formas: 1,0 para los vecinos con Jaccard de al menos 0,5, y 0,029 sobre el top-10 global, porque LSH detecta casi duplicados, no vecinos lejanos. Para vecinos en general usamos IVF sobre embeddings SVD de 32 dimensiones: con diez millones de vectores responde en 0,46 ms frente a 104 ms del KNN exacto, 226 veces más rápido, con recall@10 de 0,95; con nprobe de 16 sube a 0,98. HNSW lo implementamos como referencia, pero en Python su construcción tardó 316 segundos con 100 mil vectores.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Ronald · 1:05
Medimos de mil a diez millones en escala log-log, con 100 repeticiones hasta 10 mil, 10 en 100 mil, 3 en un millón y una en diez millones, porque en Python puro 100 repeticiones con 10M habrían tomado días. La pendiente es el exponente empírico: cerca de 1 significa lineal. La cola y la tabla hash dan 1,12 y 1,08; merge sort y el heap, 1,21 y 1,22, por el factor log n; la búsqueda del B+Tree, 0,32, y el KNN del KD-Tree, 0,11, son casi planos; y la fuerza bruta, 1,02. Las mediciones confirman la teoría. La memoria actual y pico se midió con tracemalloc para todas las estructuras.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Ronald · 0:50
Juntando todo, procesamos los 10,2 millones de eventos de punta a punta en 308,8 segundos: 33 mil eventos por segundo en un solo proceso de Python. El refresco de S7, la SVD y el k-means, se lleva el 49 % del tiempo y es lo primero que paralelizaríamos. Las estructuras de consulta, como el B+Tree y el KD-Tree, suman menos de dos segundos. Sebastian les muestra la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Sebastian · 3:10
[0:00 a 0:20] Lanzo el pipeline sobre los primeros 200 mil eventos reales de REES46 con python scripts/run_pipeline.py --data data/rees46_200000 --refresh 50000. Mientras corre, explico que la traza de la izquierda es la salida literal de la corrida completa de 10M; la compra que se traza en vivo será otra.
[0:20 a 1:10] Recorrido de una compra: entra a la cola con 2 366 eventos en espera; S1 la valida; el heap la deja en la posición 89 de 4 929 porque es una compra programada, detrás de las express, premium y estándar del lote; se resuelve en la tabla hash como el producto 861; pasa el Bloom y el Count-Min; se indexa en el B+Tree; el KD-Tree devuelve smartphones de la misma marca y precio; LSH no da candidatos porque ninguno supera Jaccard 0,42, e IVF sí da vecinos.
[1:10 a 2:20] Abro el panel con streamlit run src/eda/service/dashboard.py. En la pestaña Demo en vivo proceso el stream y muestro las métricas (eventos, duplicados eliminados, bloqueados y precisión), el recorrido del evento y la recomendación final, que indica la fuente de cada producto: grafo, KD-Tree o IVF.
[2:20 a 3:10] En la pestaña Buscar y recomendar escribo "sam" y el Trie autocompleta; muestro el Top-K de más vendidos, una consulta por rango de precio sobre el B+Tree y las alertas ordenadas por severidad en el heap. Plan B: si el panel falla, muestro las capturas y el log run_10M_rees46.log. Clinton cierra con las conclusiones.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Clinton · 0:40
Cerramos con cuatro ideas. Primera: la integración es real; un evento atraviesa las diez etapas y una prueba automática lo verifica. Segunda: lo aproximado paga con error acotado; Bloom y Count-Min usan 22 y 300 veces menos memoria, LSH e IVF responden cientos de veces más rápido, y donde el error es caro, un paso exacto lo corrige. Tercera: las pendientes confirman la complejidad teórica. Cuarta: declaramos los límites; el KD-Tree no sirve en 32 dimensiones, LSH no es un índice global y el umbral fijo confunde a los usuarios intensos con fraude. Como siguiente paso: procesar octubre y noviembre completos, calibrar el umbral por usuario y paralelizar S7.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Todos · —
Quedamos atentos a sus preguntas. Cada integrante responde primero por sus etapas, pero todos conocemos el pipeline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2"/>
        </a:solidFill>
      </p:bgPr>
    </p:bg>
    <p:spTree>
      <p:nvGrpSpPr>
        <p:cNvPr id="1" name=""/>
        <p:cNvGrpSpPr/>
        <p:nvPr/>
      </p:nvGrpSpPr>
      <p:grpSpPr>
        <a:xfrm>
          <a:off x="0" y="0"/>
          <a:ext cx="0" cy="0"/>
          <a:chOff x="0" y="0"/>
          <a:chExt cx="0" cy="0"/>
        </a:xfrm>
      </p:grpSpPr>
      <p:pic>
        <p:nvPicPr>
          <p:cNvPr id="2" name="Image 0" descr="/tmp/w/build/img/logo_oscuro.png">    </p:cNvPr>
          <p:cNvPicPr>
            <a:picLocks noChangeAspect="1"/>
          </p:cNvPicPr>
          <p:nvPr/>
        </p:nvPicPr>
        <p:blipFill>
          <a:blip r:embed="rId1"/>
          <a:stretch>
            <a:fillRect/>
          </a:stretch>
        </p:blipFill>
        <p:spPr>
          <a:xfrm>
            <a:off x="256032" y="164592"/>
            <a:ext cx="1426464" cy="274320"/>
          </a:xfrm>
          <a:prstGeom prst="rect">
            <a:avLst/>
          </a:prstGeom>
        </p:spPr>
      </p:pic>
      <p:sp>
        <p:nvSpPr>
          <p:cNvPr id="3" name="Text 0"/>
          <p:cNvSpPr/>
          <p:nvPr>
            <p:ph idx="102" type="body" hasCustomPrompt="1"/>
          </p:nvPr>
        </p:nvSpPr>
        <p:spPr>
          <a:xfrm>
            <a:off x="777240" y="603504"/>
            <a:ext cx="10607040" cy="274320"/>
          </a:xfrm>
          <a:prstGeom prst="rect">
            <a:avLst/>
          </a:prstGeom>
          <a:noFill/>
          <a:ln/>
        </p:spPr>
        <p:txBody>
          <a:bodyPr wrap="square" rtlCol="0"/>
          <a:lstStyle>
            <a:lvl1pPr algn="l" indent="0" marL="0">
              <a:buNone/>
              <a:defRPr lang="en-US" sz="1100" b="1" dirty="0">
                <a:solidFill>
                  <a:schemeClr val="accent2"/>
                </a:solidFill>
              </a:defRPr>
            </a:lvl1pPr>
          </a:lstStyle>
          <a:p>
            <a:pPr algn="l" indent="0" marL="0">
              <a:buNone/>
            </a:pPr>
            <a:endParaRPr lang="en-US" sz="1100" dirty="0"/>
          </a:p>
        </p:txBody>
      </p:sp>
      <p:sp>
        <p:nvSpPr>
          <p:cNvPr id="4" name="Text 0"/>
          <p:cNvSpPr/>
          <p:nvPr>
            <p:ph idx="103" type="title" hasCustomPrompt="1"/>
          </p:nvPr>
        </p:nvSpPr>
        <p:spPr>
          <a:xfrm>
            <a:off x="777240" y="877824"/>
            <a:ext cx="10789920" cy="54864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SCURO">
    <p:bg>
      <p:bgPr>
        <a:solidFill>
          <a:schemeClr val="tx2"/>
        </a:solidFill>
      </p:bgPr>
    </p:bg>
    <p:spTree>
      <p:nvGrpSpPr>
        <p:cNvPr id="1" name=""/>
        <p:cNvGrpSpPr/>
        <p:nvPr/>
      </p:nvGrpSpPr>
      <p:grpSpPr>
        <a:xfrm>
          <a:off x="0" y="0"/>
          <a:ext cx="0" cy="0"/>
          <a:chOff x="0" y="0"/>
          <a:chExt cx="0" cy="0"/>
        </a:xfrm>
      </p:grpSpPr>
      <p:pic>
        <p:nvPicPr>
          <p:cNvPr id="2" name="Image 0" descr="/tmp/w/build/img/logo_blanco.png">    </p:cNvPr>
          <p:cNvPicPr>
            <a:picLocks noChangeAspect="1"/>
          </p:cNvPicPr>
          <p:nvPr/>
        </p:nvPicPr>
        <p:blipFill>
          <a:blip r:embed="rId1"/>
          <a:stretch>
            <a:fillRect/>
          </a:stretch>
        </p:blipFill>
        <p:spPr>
          <a:xfrm>
            <a:off x="256032" y="164592"/>
            <a:ext cx="1280160" cy="310896"/>
          </a:xfrm>
          <a:prstGeom prst="rect">
            <a:avLst/>
          </a:prstGeom>
        </p:spPr>
      </p:pic>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BBBB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ORTADA">
    <p:bg>
      <p:bgPr>
        <a:solidFill>
          <a:srgbClr val="00000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fondo" descr="/tmp/w/build/img/portada.jpg">    </p:cNvPr>
          <p:cNvPicPr>
            <a:picLocks noChangeAspect="1"/>
          </p:cNvPicPr>
          <p:nvPr/>
        </p:nvPicPr>
        <p:blipFill>
          <a:blip r:embed="rId1"/>
          <a:srcRect l="0" r="0" t="0" b="0"/>
          <a:stretch/>
        </p:blipFill>
        <p:spPr>
          <a:xfrm>
            <a:off x="0" y="0"/>
            <a:ext cx="12191695" cy="6858000"/>
          </a:xfrm>
          <a:prstGeom prst="rect">
            <a:avLst/>
          </a:prstGeom>
        </p:spPr>
      </p:pic>
      <p:sp>
        <p:nvSpPr>
          <p:cNvPr id="3" name="velo"/>
          <p:cNvSpPr/>
          <p:nvPr/>
        </p:nvSpPr>
        <p:spPr>
          <a:xfrm>
            <a:off x="0" y="0"/>
            <a:ext cx="12191695" cy="6858000"/>
          </a:xfrm>
          <a:prstGeom prst="rect">
            <a:avLst/>
          </a:prstGeom>
          <a:solidFill>
            <a:srgbClr val="000000">
              <a:alpha val="65000"/>
            </a:srgbClr>
          </a:solidFill>
          <a:ln/>
        </p:spPr>
        <p:txBody>
          <a:bodyPr/>
          <a:p/>
        </p:txBody>
      </p:sp>
      <p:pic>
        <p:nvPicPr>
          <p:cNvPr id="4" name="logo" descr="/tmp/w/build/img/logo_blanco.png">    </p:cNvPr>
          <p:cNvPicPr>
            <a:picLocks noChangeAspect="1"/>
          </p:cNvPicPr>
          <p:nvPr/>
        </p:nvPicPr>
        <p:blipFill>
          <a:blip r:embed="rId2"/>
          <a:stretch>
            <a:fillRect/>
          </a:stretch>
        </p:blipFill>
        <p:spPr>
          <a:xfrm>
            <a:off x="256032" y="164592"/>
            <a:ext cx="1280160" cy="310896"/>
          </a:xfrm>
          <a:prstGeom prst="rect">
            <a:avLst/>
          </a:prstGeom>
        </p:spPr>
      </p:pic>
      <p:sp>
        <p:nvSpPr>
          <p:cNvPr id="5" name="texto-1"/>
          <p:cNvSpPr txBox="1"/>
          <p:nvPr/>
        </p:nvSpPr>
        <p:spPr>
          <a:xfrm>
            <a:off x="9692640" y="155448"/>
            <a:ext cx="2011680" cy="457200"/>
          </a:xfrm>
          <a:prstGeom prst="rect">
            <a:avLst/>
          </a:prstGeom>
          <a:noFill/>
          <a:ln/>
        </p:spPr>
        <p:txBody>
          <a:bodyPr wrap="square" lIns="0" tIns="0" rIns="0" bIns="0" rtlCol="0" anchor="t"/>
          <a:lstStyle/>
          <a:p>
            <a:pPr algn="r" indent="0" marL="0">
              <a:buNone/>
            </a:pPr>
            <a:r>
              <a:rPr lang="en-US" sz="1200" dirty="0">
                <a:solidFill>
                  <a:schemeClr val="bg1"/>
                </a:solidFill>
              </a:rPr>
              <a:t>Una escuela para</a:t>
            </a:r>
            <a:endParaRPr lang="en-US" sz="1200" dirty="0"/>
          </a:p>
          <a:p>
            <a:pPr algn="r" indent="0" marL="0">
              <a:buNone/>
            </a:pPr>
            <a:r>
              <a:rPr lang="en-US" sz="1200" b="1" dirty="0">
                <a:solidFill>
                  <a:schemeClr val="bg1"/>
                </a:solidFill>
              </a:rPr>
              <a:t>Early Adopters</a:t>
            </a:r>
            <a:endParaRPr lang="en-US" sz="1200" dirty="0"/>
          </a:p>
        </p:txBody>
      </p:sp>
      <p:sp>
        <p:nvSpPr>
          <p:cNvPr id="6" name="texto-2"/>
          <p:cNvSpPr txBox="1"/>
          <p:nvPr/>
        </p:nvSpPr>
        <p:spPr>
          <a:xfrm>
            <a:off x="786384" y="594360"/>
            <a:ext cx="7040880" cy="292608"/>
          </a:xfrm>
          <a:prstGeom prst="rect">
            <a:avLst/>
          </a:prstGeom>
          <a:noFill/>
          <a:ln/>
        </p:spPr>
        <p:txBody>
          <a:bodyPr wrap="square" lIns="0" tIns="0" rIns="0" bIns="0" rtlCol="0" anchor="t"/>
          <a:lstStyle/>
          <a:p>
            <a:pPr indent="0" marL="0">
              <a:buNone/>
            </a:pPr>
            <a:r>
              <a:rPr lang="en-US" sz="1600" dirty="0">
                <a:solidFill>
                  <a:srgbClr val="E6E6E6"/>
                </a:solidFill>
              </a:rPr>
              <a:t>Maestría en Ciencia de Datos e IA · UTEC</a:t>
            </a:r>
            <a:endParaRPr lang="en-US" sz="1600" dirty="0"/>
          </a:p>
        </p:txBody>
      </p:sp>
      <p:sp>
        <p:nvSpPr>
          <p:cNvPr id="7" name="etiqueta-3"/>
          <p:cNvSpPr/>
          <p:nvPr/>
        </p:nvSpPr>
        <p:spPr>
          <a:xfrm>
            <a:off x="777240" y="1207008"/>
            <a:ext cx="3949294" cy="347472"/>
          </a:xfrm>
          <a:prstGeom prst="roundRect">
            <a:avLst>
              <a:gd name="adj" fmla="val 13158"/>
            </a:avLst>
          </a:prstGeom>
          <a:solidFill>
            <a:srgbClr val="00D6E8"/>
          </a:solidFill>
          <a:ln/>
        </p:spPr>
        <p:txBody>
          <a:bodyPr wrap="square" lIns="0" tIns="0" rIns="0" bIns="0" rtlCol="0" anchor="ctr"/>
          <a:lstStyle/>
          <a:p>
            <a:pPr algn="ctr" indent="0" marL="0">
              <a:buNone/>
            </a:pPr>
            <a:r>
              <a:rPr lang="en-US" sz="1500" b="1" dirty="0">
                <a:solidFill>
                  <a:schemeClr val="tx2"/>
                </a:solidFill>
              </a:rPr>
              <a:t>Estructuras de Datos y Algoritmos</a:t>
            </a:r>
            <a:endParaRPr lang="en-US" sz="1500" dirty="0"/>
          </a:p>
        </p:txBody>
      </p:sp>
      <p:sp>
        <p:nvSpPr>
          <p:cNvPr id="8" name="texto-4"/>
          <p:cNvSpPr txBox="1"/>
          <p:nvPr/>
        </p:nvSpPr>
        <p:spPr>
          <a:xfrm>
            <a:off x="786384" y="1719072"/>
            <a:ext cx="6400800" cy="621792"/>
          </a:xfrm>
          <a:prstGeom prst="rect">
            <a:avLst/>
          </a:prstGeom>
          <a:noFill/>
          <a:ln/>
        </p:spPr>
        <p:txBody>
          <a:bodyPr wrap="square" lIns="0" tIns="0" rIns="0" bIns="0" rtlCol="0" anchor="ctr"/>
          <a:lstStyle/>
          <a:p>
            <a:pPr indent="0" marL="0">
              <a:buNone/>
            </a:pPr>
            <a:r>
              <a:rPr lang="en-US" sz="2800" b="1" dirty="0">
                <a:solidFill>
                  <a:schemeClr val="bg1"/>
                </a:solidFill>
              </a:rPr>
              <a:t>PROYECTO FINAL</a:t>
            </a:r>
            <a:endParaRPr lang="en-US" sz="2800" dirty="0"/>
          </a:p>
        </p:txBody>
      </p:sp>
      <p:sp>
        <p:nvSpPr>
          <p:cNvPr id="9" name="texto-5"/>
          <p:cNvSpPr txBox="1"/>
          <p:nvPr/>
        </p:nvSpPr>
        <p:spPr>
          <a:xfrm>
            <a:off x="786384" y="2377440"/>
            <a:ext cx="8229600" cy="457200"/>
          </a:xfrm>
          <a:prstGeom prst="rect">
            <a:avLst/>
          </a:prstGeom>
          <a:noFill/>
          <a:ln/>
        </p:spPr>
        <p:txBody>
          <a:bodyPr wrap="square" lIns="0" tIns="0" rIns="0" bIns="0" rtlCol="0" anchor="ctr"/>
          <a:lstStyle/>
          <a:p>
            <a:pPr indent="0" marL="0">
              <a:buNone/>
            </a:pPr>
            <a:r>
              <a:rPr lang="en-US" sz="2200" b="1" dirty="0">
                <a:solidFill>
                  <a:srgbClr val="00D6E8"/>
                </a:solidFill>
              </a:rPr>
              <a:t>Pipeline de data streams para comercio electrónico</a:t>
            </a:r>
            <a:endParaRPr lang="en-US" sz="2200" dirty="0"/>
          </a:p>
        </p:txBody>
      </p:sp>
      <p:sp>
        <p:nvSpPr>
          <p:cNvPr id="10" name="texto-6"/>
          <p:cNvSpPr txBox="1"/>
          <p:nvPr/>
        </p:nvSpPr>
        <p:spPr>
          <a:xfrm>
            <a:off x="804672" y="2971800"/>
            <a:ext cx="8686800" cy="365760"/>
          </a:xfrm>
          <a:prstGeom prst="rect">
            <a:avLst/>
          </a:prstGeom>
          <a:noFill/>
          <a:ln/>
        </p:spPr>
        <p:txBody>
          <a:bodyPr wrap="square" lIns="0" tIns="0" rIns="0" bIns="0" rtlCol="0" anchor="ctr"/>
          <a:lstStyle/>
          <a:p>
            <a:pPr indent="0" marL="0">
              <a:buNone/>
            </a:pPr>
            <a:r>
              <a:rPr lang="en-US" sz="1400" dirty="0">
                <a:solidFill>
                  <a:schemeClr val="bg1"/>
                </a:solidFill>
              </a:rPr>
              <a:t>Diez estructuras de datos encadenadas sobre 10 millones de eventos reales de REES46 · Escenario B</a:t>
            </a:r>
            <a:endParaRPr lang="en-US" sz="1400" dirty="0"/>
          </a:p>
        </p:txBody>
      </p:sp>
      <p:sp>
        <p:nvSpPr>
          <p:cNvPr id="11" name="linea"/>
          <p:cNvSpPr/>
          <p:nvPr/>
        </p:nvSpPr>
        <p:spPr>
          <a:xfrm>
            <a:off x="804672" y="3520440"/>
            <a:ext cx="2194560" cy="0"/>
          </a:xfrm>
          <a:prstGeom prst="line">
            <a:avLst/>
          </a:prstGeom>
          <a:noFill/>
          <a:ln w="19050">
            <a:solidFill>
              <a:srgbClr val="00D6E8"/>
            </a:solidFill>
            <a:prstDash val="solid"/>
          </a:ln>
        </p:spPr>
        <p:txBody>
          <a:bodyPr/>
          <a:p/>
        </p:txBody>
      </p:sp>
      <p:sp>
        <p:nvSpPr>
          <p:cNvPr id="12" name="texto-7"/>
          <p:cNvSpPr txBox="1"/>
          <p:nvPr/>
        </p:nvSpPr>
        <p:spPr>
          <a:xfrm>
            <a:off x="804672" y="3767328"/>
            <a:ext cx="7040880" cy="1325880"/>
          </a:xfrm>
          <a:prstGeom prst="rect">
            <a:avLst/>
          </a:prstGeom>
          <a:noFill/>
          <a:ln/>
        </p:spPr>
        <p:txBody>
          <a:bodyPr wrap="square" lIns="0" tIns="0" rIns="0" bIns="0" rtlCol="0" anchor="t"/>
          <a:lstStyle/>
          <a:p>
            <a:pPr indent="0" marL="0">
              <a:spcAft>
                <a:spcPts val="400"/>
              </a:spcAft>
              <a:buNone/>
            </a:pPr>
            <a:r>
              <a:rPr lang="en-US" sz="1400" b="1" dirty="0">
                <a:solidFill>
                  <a:srgbClr val="E6E6E6"/>
                </a:solidFill>
              </a:rPr>
              <a:t>Integrantes grupo 2:</a:t>
            </a:r>
            <a:endParaRPr lang="en-US" sz="1400" dirty="0"/>
          </a:p>
          <a:p>
            <a:pPr marL="177800" indent="-177800">
              <a:buSzPct val="100000"/>
              <a:buChar char="•"/>
            </a:pPr>
            <a:r>
              <a:rPr lang="en-US" sz="1400" dirty="0">
                <a:solidFill>
                  <a:srgbClr val="E6E6E6"/>
                </a:solidFill>
              </a:rPr>
              <a:t>Sebastian Rodrigo Garcia Villacorta</a:t>
            </a:r>
            <a:endParaRPr lang="en-US" sz="1400" dirty="0"/>
          </a:p>
          <a:p>
            <a:pPr marL="177800" indent="-177800">
              <a:buSzPct val="100000"/>
              <a:buChar char="•"/>
            </a:pPr>
            <a:r>
              <a:rPr lang="en-US" sz="1400" dirty="0">
                <a:solidFill>
                  <a:srgbClr val="E6E6E6"/>
                </a:solidFill>
              </a:rPr>
              <a:t>Dante Guillermo Barreto Daza</a:t>
            </a:r>
            <a:endParaRPr lang="en-US" sz="1400" dirty="0"/>
          </a:p>
          <a:p>
            <a:pPr marL="177800" indent="-177800">
              <a:buSzPct val="100000"/>
              <a:buChar char="•"/>
            </a:pPr>
            <a:r>
              <a:rPr lang="en-US" sz="1400" dirty="0">
                <a:solidFill>
                  <a:srgbClr val="E6E6E6"/>
                </a:solidFill>
              </a:rPr>
              <a:t>Clinton Michael Chulluncuy Reynoso</a:t>
            </a:r>
            <a:endParaRPr lang="en-US" sz="1400" dirty="0"/>
          </a:p>
          <a:p>
            <a:pPr marL="177800" indent="-177800">
              <a:buSzPct val="100000"/>
              <a:buChar char="•"/>
            </a:pPr>
            <a:r>
              <a:rPr lang="en-US" sz="1400" dirty="0">
                <a:solidFill>
                  <a:srgbClr val="E6E6E6"/>
                </a:solidFill>
              </a:rPr>
              <a:t>Ronald Ramiro Hilario Orihuela</a:t>
            </a:r>
            <a:endParaRPr lang="en-US" sz="1400" dirty="0"/>
          </a:p>
        </p:txBody>
      </p:sp>
      <p:sp>
        <p:nvSpPr>
          <p:cNvPr id="13" name="texto-8"/>
          <p:cNvSpPr txBox="1"/>
          <p:nvPr/>
        </p:nvSpPr>
        <p:spPr>
          <a:xfrm>
            <a:off x="777240" y="5212080"/>
            <a:ext cx="7040880" cy="1188720"/>
          </a:xfrm>
          <a:prstGeom prst="rect">
            <a:avLst/>
          </a:prstGeom>
          <a:noFill/>
          <a:ln/>
        </p:spPr>
        <p:txBody>
          <a:bodyPr wrap="square" lIns="0" tIns="0" rIns="0" bIns="0" rtlCol="0" anchor="t"/>
          <a:lstStyle/>
          <a:p>
            <a:pPr indent="0" marL="0">
              <a:spcAft>
                <a:spcPts val="400"/>
              </a:spcAft>
              <a:buNone/>
            </a:pPr>
            <a:r>
              <a:rPr lang="en-US" sz="1400" b="1" dirty="0">
                <a:solidFill>
                  <a:srgbClr val="E6E6E6"/>
                </a:solidFill>
              </a:rPr>
              <a:t>Docente:</a:t>
            </a:r>
            <a:endParaRPr lang="en-US" sz="1400" dirty="0"/>
          </a:p>
          <a:p>
            <a:pPr marL="177800" indent="-177800">
              <a:spcAft>
                <a:spcPts val="1400"/>
              </a:spcAft>
              <a:buSzPct val="100000"/>
              <a:buChar char="•"/>
            </a:pPr>
            <a:r>
              <a:rPr lang="en-US" sz="1400" dirty="0">
                <a:solidFill>
                  <a:srgbClr val="E6E6E6"/>
                </a:solidFill>
              </a:rPr>
              <a:t>Heider Sánchez</a:t>
            </a:r>
            <a:endParaRPr lang="en-US" sz="1400" dirty="0"/>
          </a:p>
          <a:p>
            <a:pPr indent="0" marL="0">
              <a:buNone/>
            </a:pPr>
            <a:r>
              <a:rPr lang="en-US" sz="1400" dirty="0">
                <a:solidFill>
                  <a:srgbClr val="E6E6E6"/>
                </a:solidFill>
              </a:rPr>
              <a:t>29 de octubre de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o-9"/>
          <p:cNvSpPr txBox="1"/>
          <p:nvPr/>
        </p:nvSpPr>
        <p:spPr>
          <a:xfrm>
            <a:off x="676656" y="960120"/>
            <a:ext cx="3657600" cy="411480"/>
          </a:xfrm>
          <a:prstGeom prst="rect">
            <a:avLst/>
          </a:prstGeom>
          <a:noFill/>
          <a:ln/>
        </p:spPr>
        <p:txBody>
          <a:bodyPr wrap="square" lIns="0" tIns="0" rIns="0" bIns="0" rtlCol="0" anchor="ctr"/>
          <a:lstStyle/>
          <a:p>
            <a:pPr indent="0" marL="0">
              <a:buNone/>
            </a:pPr>
            <a:r>
              <a:rPr lang="en-US" sz="2300" b="1" dirty="0">
                <a:solidFill>
                  <a:srgbClr val="00D6E8"/>
                </a:solidFill>
              </a:rPr>
              <a:t>ÍNDICE</a:t>
            </a:r>
            <a:endParaRPr lang="en-US" sz="2300" dirty="0"/>
          </a:p>
        </p:txBody>
      </p:sp>
      <p:sp>
        <p:nvSpPr>
          <p:cNvPr id="3" name="texto-10"/>
          <p:cNvSpPr txBox="1"/>
          <p:nvPr/>
        </p:nvSpPr>
        <p:spPr>
          <a:xfrm>
            <a:off x="676656" y="1417320"/>
            <a:ext cx="10058400" cy="320040"/>
          </a:xfrm>
          <a:prstGeom prst="rect">
            <a:avLst/>
          </a:prstGeom>
          <a:noFill/>
          <a:ln/>
        </p:spPr>
        <p:txBody>
          <a:bodyPr wrap="square" lIns="0" tIns="0" rIns="0" bIns="0" rtlCol="0" anchor="t"/>
          <a:lstStyle/>
          <a:p>
            <a:pPr indent="0" marL="0">
              <a:buNone/>
            </a:pPr>
            <a:r>
              <a:rPr lang="en-US" sz="1400" dirty="0">
                <a:solidFill>
                  <a:srgbClr val="E6E6E6"/>
                </a:solidFill>
              </a:rPr>
              <a:t>15 minutos · cada integrante expone las etapas que implementó · demo de 3 minutos</a:t>
            </a:r>
            <a:endParaRPr lang="en-US" sz="1400" dirty="0"/>
          </a:p>
        </p:txBody>
      </p:sp>
      <p:sp>
        <p:nvSpPr>
          <p:cNvPr id="4" name="tarjeta-11"/>
          <p:cNvSpPr/>
          <p:nvPr/>
        </p:nvSpPr>
        <p:spPr>
          <a:xfrm>
            <a:off x="563728" y="2148840"/>
            <a:ext cx="2615184" cy="2743200"/>
          </a:xfrm>
          <a:prstGeom prst="roundRect">
            <a:avLst>
              <a:gd name="adj" fmla="val 2797"/>
            </a:avLst>
          </a:prstGeom>
          <a:solidFill>
            <a:srgbClr val="F4F7FB"/>
          </a:solidFill>
          <a:ln w="9525">
            <a:solidFill>
              <a:srgbClr val="E2E8F0"/>
            </a:solidFill>
            <a:prstDash val="solid"/>
          </a:ln>
        </p:spPr>
        <p:txBody>
          <a:bodyPr/>
          <a:p/>
        </p:txBody>
      </p:sp>
      <p:sp>
        <p:nvSpPr>
          <p:cNvPr id="5" name="etiqueta-12"/>
          <p:cNvSpPr/>
          <p:nvPr/>
        </p:nvSpPr>
        <p:spPr>
          <a:xfrm>
            <a:off x="700888" y="2304288"/>
            <a:ext cx="815096" cy="246888"/>
          </a:xfrm>
          <a:prstGeom prst="roundRect">
            <a:avLst>
              <a:gd name="adj" fmla="val 18519"/>
            </a:avLst>
          </a:prstGeom>
          <a:solidFill>
            <a:schemeClr val="accent1"/>
          </a:solidFill>
          <a:ln/>
        </p:spPr>
        <p:txBody>
          <a:bodyPr wrap="square" lIns="0" tIns="0" rIns="0" bIns="0" rtlCol="0" anchor="ctr"/>
          <a:lstStyle/>
          <a:p>
            <a:pPr algn="ctr" indent="0" marL="0">
              <a:buNone/>
            </a:pPr>
            <a:r>
              <a:rPr lang="en-US" sz="1100" b="1" dirty="0">
                <a:solidFill>
                  <a:srgbClr val="04222B"/>
                </a:solidFill>
              </a:rPr>
              <a:t>PARTE A</a:t>
            </a:r>
            <a:endParaRPr lang="en-US" sz="1100" dirty="0"/>
          </a:p>
        </p:txBody>
      </p:sp>
      <p:sp>
        <p:nvSpPr>
          <p:cNvPr id="6" name="texto-13"/>
          <p:cNvSpPr txBox="1"/>
          <p:nvPr/>
        </p:nvSpPr>
        <p:spPr>
          <a:xfrm>
            <a:off x="700888" y="2651760"/>
            <a:ext cx="2340864" cy="329184"/>
          </a:xfrm>
          <a:prstGeom prst="rect">
            <a:avLst/>
          </a:prstGeom>
          <a:noFill/>
          <a:ln/>
        </p:spPr>
        <p:txBody>
          <a:bodyPr wrap="square" lIns="0" tIns="0" rIns="0" bIns="0" rtlCol="0" anchor="t"/>
          <a:lstStyle/>
          <a:p>
            <a:pPr indent="0" marL="0">
              <a:buNone/>
            </a:pPr>
            <a:r>
              <a:rPr lang="en-US" sz="1700" b="1" dirty="0">
                <a:solidFill>
                  <a:srgbClr val="1A2430"/>
                </a:solidFill>
              </a:rPr>
              <a:t>Contexto y consultas</a:t>
            </a:r>
            <a:endParaRPr lang="en-US" sz="1700" dirty="0"/>
          </a:p>
        </p:txBody>
      </p:sp>
      <p:sp>
        <p:nvSpPr>
          <p:cNvPr id="7" name="texto-14"/>
          <p:cNvSpPr txBox="1"/>
          <p:nvPr/>
        </p:nvSpPr>
        <p:spPr>
          <a:xfrm>
            <a:off x="700888" y="2999232"/>
            <a:ext cx="2340864" cy="274320"/>
          </a:xfrm>
          <a:prstGeom prst="rect">
            <a:avLst/>
          </a:prstGeom>
          <a:noFill/>
          <a:ln/>
        </p:spPr>
        <p:txBody>
          <a:bodyPr wrap="square" lIns="0" tIns="0" rIns="0" bIns="0" rtlCol="0" anchor="t"/>
          <a:lstStyle/>
          <a:p>
            <a:pPr indent="0" marL="0">
              <a:buNone/>
            </a:pPr>
            <a:r>
              <a:rPr lang="en-US" sz="1200" b="1" dirty="0">
                <a:solidFill>
                  <a:schemeClr val="accent2"/>
                </a:solidFill>
              </a:rPr>
              <a:t>S3 · S4 · S5</a:t>
            </a:r>
            <a:endParaRPr lang="en-US" sz="1200" dirty="0"/>
          </a:p>
        </p:txBody>
      </p:sp>
      <p:sp>
        <p:nvSpPr>
          <p:cNvPr id="8" name="texto-15"/>
          <p:cNvSpPr txBox="1"/>
          <p:nvPr/>
        </p:nvSpPr>
        <p:spPr>
          <a:xfrm>
            <a:off x="700888" y="3383280"/>
            <a:ext cx="2340864" cy="13716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31414E"/>
                </a:solidFill>
              </a:rPr>
              <a:t>Problema y datos REES46</a:t>
            </a:r>
            <a:endParaRPr lang="en-US" sz="1400" dirty="0"/>
          </a:p>
          <a:p>
            <a:pPr marL="177800" indent="-177800">
              <a:spcAft>
                <a:spcPts val="500"/>
              </a:spcAft>
              <a:buSzPct val="100000"/>
              <a:buChar char="•"/>
            </a:pPr>
            <a:r>
              <a:rPr lang="en-US" sz="1400" dirty="0">
                <a:solidFill>
                  <a:srgbClr val="31414E"/>
                </a:solidFill>
              </a:rPr>
              <a:t>Arquitectura del pipeline</a:t>
            </a:r>
            <a:endParaRPr lang="en-US" sz="1400" dirty="0"/>
          </a:p>
          <a:p>
            <a:pPr marL="177800" indent="-177800">
              <a:spcAft>
                <a:spcPts val="500"/>
              </a:spcAft>
              <a:buSzPct val="100000"/>
              <a:buChar char="•"/>
            </a:pPr>
            <a:r>
              <a:rPr lang="en-US" sz="1400" dirty="0">
                <a:solidFill>
                  <a:srgbClr val="31414E"/>
                </a:solidFill>
              </a:rPr>
              <a:t>S3 hash, LRU y matriz</a:t>
            </a:r>
            <a:endParaRPr lang="en-US" sz="1400" dirty="0"/>
          </a:p>
          <a:p>
            <a:pPr marL="177800" indent="-177800">
              <a:spcAft>
                <a:spcPts val="500"/>
              </a:spcAft>
              <a:buSzPct val="100000"/>
              <a:buChar char="•"/>
            </a:pPr>
            <a:r>
              <a:rPr lang="en-US" sz="1400" dirty="0">
                <a:solidFill>
                  <a:srgbClr val="31414E"/>
                </a:solidFill>
              </a:rPr>
              <a:t>S4 B+Tree y S5 KD-Tree</a:t>
            </a:r>
            <a:endParaRPr lang="en-US" sz="1400" dirty="0"/>
          </a:p>
        </p:txBody>
      </p:sp>
      <p:sp>
        <p:nvSpPr>
          <p:cNvPr id="9" name="tarjeta-16"/>
          <p:cNvSpPr/>
          <p:nvPr/>
        </p:nvSpPr>
        <p:spPr>
          <a:xfrm>
            <a:off x="3380080" y="2148840"/>
            <a:ext cx="2615184" cy="2743200"/>
          </a:xfrm>
          <a:prstGeom prst="roundRect">
            <a:avLst>
              <a:gd name="adj" fmla="val 2797"/>
            </a:avLst>
          </a:prstGeom>
          <a:solidFill>
            <a:srgbClr val="F4F7FB"/>
          </a:solidFill>
          <a:ln w="9525">
            <a:solidFill>
              <a:srgbClr val="E2E8F0"/>
            </a:solidFill>
            <a:prstDash val="solid"/>
          </a:ln>
        </p:spPr>
        <p:txBody>
          <a:bodyPr/>
          <a:p/>
        </p:txBody>
      </p:sp>
      <p:sp>
        <p:nvSpPr>
          <p:cNvPr id="10" name="etiqueta-17"/>
          <p:cNvSpPr/>
          <p:nvPr/>
        </p:nvSpPr>
        <p:spPr>
          <a:xfrm>
            <a:off x="3517240" y="2304288"/>
            <a:ext cx="815096" cy="246888"/>
          </a:xfrm>
          <a:prstGeom prst="roundRect">
            <a:avLst>
              <a:gd name="adj" fmla="val 18519"/>
            </a:avLst>
          </a:prstGeom>
          <a:solidFill>
            <a:srgbClr val="57D3EA"/>
          </a:solidFill>
          <a:ln/>
        </p:spPr>
        <p:txBody>
          <a:bodyPr wrap="square" lIns="0" tIns="0" rIns="0" bIns="0" rtlCol="0" anchor="ctr"/>
          <a:lstStyle/>
          <a:p>
            <a:pPr algn="ctr" indent="0" marL="0">
              <a:buNone/>
            </a:pPr>
            <a:r>
              <a:rPr lang="en-US" sz="1100" b="1" dirty="0">
                <a:solidFill>
                  <a:srgbClr val="04222B"/>
                </a:solidFill>
              </a:rPr>
              <a:t>PARTE B</a:t>
            </a:r>
            <a:endParaRPr lang="en-US" sz="1100" dirty="0"/>
          </a:p>
        </p:txBody>
      </p:sp>
      <p:sp>
        <p:nvSpPr>
          <p:cNvPr id="11" name="texto-18"/>
          <p:cNvSpPr txBox="1"/>
          <p:nvPr/>
        </p:nvSpPr>
        <p:spPr>
          <a:xfrm>
            <a:off x="3517240" y="2651760"/>
            <a:ext cx="2340864" cy="329184"/>
          </a:xfrm>
          <a:prstGeom prst="rect">
            <a:avLst/>
          </a:prstGeom>
          <a:noFill/>
          <a:ln/>
        </p:spPr>
        <p:txBody>
          <a:bodyPr wrap="square" lIns="0" tIns="0" rIns="0" bIns="0" rtlCol="0" anchor="t"/>
          <a:lstStyle/>
          <a:p>
            <a:pPr indent="0" marL="0">
              <a:buNone/>
            </a:pPr>
            <a:r>
              <a:rPr lang="en-US" sz="1700" b="1" dirty="0">
                <a:solidFill>
                  <a:srgbClr val="1A2430"/>
                </a:solidFill>
              </a:rPr>
              <a:t>Entrada y servicio</a:t>
            </a:r>
            <a:endParaRPr lang="en-US" sz="1700" dirty="0"/>
          </a:p>
        </p:txBody>
      </p:sp>
      <p:sp>
        <p:nvSpPr>
          <p:cNvPr id="12" name="texto-19"/>
          <p:cNvSpPr txBox="1"/>
          <p:nvPr/>
        </p:nvSpPr>
        <p:spPr>
          <a:xfrm>
            <a:off x="3517240" y="2999232"/>
            <a:ext cx="2340864" cy="274320"/>
          </a:xfrm>
          <a:prstGeom prst="rect">
            <a:avLst/>
          </a:prstGeom>
          <a:noFill/>
          <a:ln/>
        </p:spPr>
        <p:txBody>
          <a:bodyPr wrap="square" lIns="0" tIns="0" rIns="0" bIns="0" rtlCol="0" anchor="t"/>
          <a:lstStyle/>
          <a:p>
            <a:pPr indent="0" marL="0">
              <a:buNone/>
            </a:pPr>
            <a:r>
              <a:rPr lang="en-US" sz="1200" b="1" dirty="0">
                <a:solidFill>
                  <a:schemeClr val="accent2"/>
                </a:solidFill>
              </a:rPr>
              <a:t>S0 · S1 · S2 · S9</a:t>
            </a:r>
            <a:endParaRPr lang="en-US" sz="1200" dirty="0"/>
          </a:p>
        </p:txBody>
      </p:sp>
      <p:sp>
        <p:nvSpPr>
          <p:cNvPr id="13" name="texto-20"/>
          <p:cNvSpPr txBox="1"/>
          <p:nvPr/>
        </p:nvSpPr>
        <p:spPr>
          <a:xfrm>
            <a:off x="3517240" y="3383280"/>
            <a:ext cx="2340864" cy="13716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31414E"/>
                </a:solidFill>
              </a:rPr>
              <a:t>S0 cola acotada</a:t>
            </a:r>
            <a:endParaRPr lang="en-US" sz="1400" dirty="0"/>
          </a:p>
          <a:p>
            <a:pPr marL="177800" indent="-177800">
              <a:spcAft>
                <a:spcPts val="500"/>
              </a:spcAft>
              <a:buSzPct val="100000"/>
              <a:buChar char="•"/>
            </a:pPr>
            <a:r>
              <a:rPr lang="en-US" sz="1400" dirty="0">
                <a:solidFill>
                  <a:srgbClr val="31414E"/>
                </a:solidFill>
              </a:rPr>
              <a:t>S1 deduplicación</a:t>
            </a:r>
            <a:endParaRPr lang="en-US" sz="1400" dirty="0"/>
          </a:p>
          <a:p>
            <a:pPr marL="177800" indent="-177800">
              <a:spcAft>
                <a:spcPts val="500"/>
              </a:spcAft>
              <a:buSzPct val="100000"/>
              <a:buChar char="•"/>
            </a:pPr>
            <a:r>
              <a:rPr lang="en-US" sz="1400" dirty="0">
                <a:solidFill>
                  <a:srgbClr val="31414E"/>
                </a:solidFill>
              </a:rPr>
              <a:t>S2 heap de prioridad</a:t>
            </a:r>
            <a:endParaRPr lang="en-US" sz="1400" dirty="0"/>
          </a:p>
          <a:p>
            <a:pPr marL="177800" indent="-177800">
              <a:spcAft>
                <a:spcPts val="500"/>
              </a:spcAft>
              <a:buSzPct val="100000"/>
              <a:buChar char="•"/>
            </a:pPr>
            <a:r>
              <a:rPr lang="en-US" sz="1400" dirty="0">
                <a:solidFill>
                  <a:srgbClr val="31414E"/>
                </a:solidFill>
              </a:rPr>
              <a:t>Demo en vivo y panel</a:t>
            </a:r>
            <a:endParaRPr lang="en-US" sz="1400" dirty="0"/>
          </a:p>
        </p:txBody>
      </p:sp>
      <p:sp>
        <p:nvSpPr>
          <p:cNvPr id="14" name="tarjeta-21"/>
          <p:cNvSpPr/>
          <p:nvPr/>
        </p:nvSpPr>
        <p:spPr>
          <a:xfrm>
            <a:off x="6196432" y="2148840"/>
            <a:ext cx="2615184" cy="2743200"/>
          </a:xfrm>
          <a:prstGeom prst="roundRect">
            <a:avLst>
              <a:gd name="adj" fmla="val 2797"/>
            </a:avLst>
          </a:prstGeom>
          <a:solidFill>
            <a:srgbClr val="F4F7FB"/>
          </a:solidFill>
          <a:ln w="9525">
            <a:solidFill>
              <a:srgbClr val="E2E8F0"/>
            </a:solidFill>
            <a:prstDash val="solid"/>
          </a:ln>
        </p:spPr>
        <p:txBody>
          <a:bodyPr/>
          <a:p/>
        </p:txBody>
      </p:sp>
      <p:sp>
        <p:nvSpPr>
          <p:cNvPr id="15" name="etiqueta-22"/>
          <p:cNvSpPr/>
          <p:nvPr/>
        </p:nvSpPr>
        <p:spPr>
          <a:xfrm>
            <a:off x="6333592" y="2304288"/>
            <a:ext cx="815096" cy="246888"/>
          </a:xfrm>
          <a:prstGeom prst="roundRect">
            <a:avLst>
              <a:gd name="adj" fmla="val 18519"/>
            </a:avLst>
          </a:prstGeom>
          <a:solidFill>
            <a:schemeClr val="accent1"/>
          </a:solidFill>
          <a:ln/>
        </p:spPr>
        <p:txBody>
          <a:bodyPr wrap="square" lIns="0" tIns="0" rIns="0" bIns="0" rtlCol="0" anchor="ctr"/>
          <a:lstStyle/>
          <a:p>
            <a:pPr algn="ctr" indent="0" marL="0">
              <a:buNone/>
            </a:pPr>
            <a:r>
              <a:rPr lang="en-US" sz="1100" b="1" dirty="0">
                <a:solidFill>
                  <a:srgbClr val="04222B"/>
                </a:solidFill>
              </a:rPr>
              <a:t>PARTE C</a:t>
            </a:r>
            <a:endParaRPr lang="en-US" sz="1100" dirty="0"/>
          </a:p>
        </p:txBody>
      </p:sp>
      <p:sp>
        <p:nvSpPr>
          <p:cNvPr id="16" name="texto-23"/>
          <p:cNvSpPr txBox="1"/>
          <p:nvPr/>
        </p:nvSpPr>
        <p:spPr>
          <a:xfrm>
            <a:off x="6333592" y="2651760"/>
            <a:ext cx="2340864" cy="329184"/>
          </a:xfrm>
          <a:prstGeom prst="rect">
            <a:avLst/>
          </a:prstGeom>
          <a:noFill/>
          <a:ln/>
        </p:spPr>
        <p:txBody>
          <a:bodyPr wrap="square" lIns="0" tIns="0" rIns="0" bIns="0" rtlCol="0" anchor="t"/>
          <a:lstStyle/>
          <a:p>
            <a:pPr indent="0" marL="0">
              <a:buNone/>
            </a:pPr>
            <a:r>
              <a:rPr lang="en-US" sz="1700" b="1" dirty="0">
                <a:solidFill>
                  <a:srgbClr val="1A2430"/>
                </a:solidFill>
              </a:rPr>
              <a:t>Fraude y grafo</a:t>
            </a:r>
            <a:endParaRPr lang="en-US" sz="1700" dirty="0"/>
          </a:p>
        </p:txBody>
      </p:sp>
      <p:sp>
        <p:nvSpPr>
          <p:cNvPr id="17" name="texto-24"/>
          <p:cNvSpPr txBox="1"/>
          <p:nvPr/>
        </p:nvSpPr>
        <p:spPr>
          <a:xfrm>
            <a:off x="6333592" y="2999232"/>
            <a:ext cx="2340864" cy="274320"/>
          </a:xfrm>
          <a:prstGeom prst="rect">
            <a:avLst/>
          </a:prstGeom>
          <a:noFill/>
          <a:ln/>
        </p:spPr>
        <p:txBody>
          <a:bodyPr wrap="square" lIns="0" tIns="0" rIns="0" bIns="0" rtlCol="0" anchor="t"/>
          <a:lstStyle/>
          <a:p>
            <a:pPr indent="0" marL="0">
              <a:buNone/>
            </a:pPr>
            <a:r>
              <a:rPr lang="en-US" sz="1200" b="1" dirty="0">
                <a:solidFill>
                  <a:schemeClr val="accent2"/>
                </a:solidFill>
              </a:rPr>
              <a:t>S6 · S8</a:t>
            </a:r>
            <a:endParaRPr lang="en-US" sz="1200" dirty="0"/>
          </a:p>
        </p:txBody>
      </p:sp>
      <p:sp>
        <p:nvSpPr>
          <p:cNvPr id="18" name="texto-25"/>
          <p:cNvSpPr txBox="1"/>
          <p:nvPr/>
        </p:nvSpPr>
        <p:spPr>
          <a:xfrm>
            <a:off x="6333592" y="3383280"/>
            <a:ext cx="2340864" cy="13716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31414E"/>
                </a:solidFill>
              </a:rPr>
              <a:t>Bloom + Count-Min</a:t>
            </a:r>
            <a:endParaRPr lang="en-US" sz="1400" dirty="0"/>
          </a:p>
          <a:p>
            <a:pPr marL="177800" indent="-177800">
              <a:spcAft>
                <a:spcPts val="500"/>
              </a:spcAft>
              <a:buSzPct val="100000"/>
              <a:buChar char="•"/>
            </a:pPr>
            <a:r>
              <a:rPr lang="en-US" sz="1400" dirty="0">
                <a:solidFill>
                  <a:srgbClr val="31414E"/>
                </a:solidFill>
              </a:rPr>
              <a:t>PageRank</a:t>
            </a:r>
            <a:endParaRPr lang="en-US" sz="1400" dirty="0"/>
          </a:p>
          <a:p>
            <a:pPr marL="177800" indent="-177800">
              <a:spcAft>
                <a:spcPts val="500"/>
              </a:spcAft>
              <a:buSzPct val="100000"/>
              <a:buChar char="•"/>
            </a:pPr>
            <a:r>
              <a:rPr lang="en-US" sz="1400" dirty="0">
                <a:solidFill>
                  <a:srgbClr val="31414E"/>
                </a:solidFill>
              </a:rPr>
              <a:t>Louvain frente a LPA</a:t>
            </a:r>
            <a:endParaRPr lang="en-US" sz="1400" dirty="0"/>
          </a:p>
          <a:p>
            <a:pPr marL="177800" indent="-177800">
              <a:spcAft>
                <a:spcPts val="500"/>
              </a:spcAft>
              <a:buSzPct val="100000"/>
              <a:buChar char="•"/>
            </a:pPr>
            <a:r>
              <a:rPr lang="en-US" sz="1400" dirty="0">
                <a:solidFill>
                  <a:srgbClr val="31414E"/>
                </a:solidFill>
              </a:rPr>
              <a:t>Conclusiones</a:t>
            </a:r>
            <a:endParaRPr lang="en-US" sz="1400" dirty="0"/>
          </a:p>
        </p:txBody>
      </p:sp>
      <p:sp>
        <p:nvSpPr>
          <p:cNvPr id="19" name="tarjeta-26"/>
          <p:cNvSpPr/>
          <p:nvPr/>
        </p:nvSpPr>
        <p:spPr>
          <a:xfrm>
            <a:off x="9012784" y="2148840"/>
            <a:ext cx="2615184" cy="2743200"/>
          </a:xfrm>
          <a:prstGeom prst="roundRect">
            <a:avLst>
              <a:gd name="adj" fmla="val 2797"/>
            </a:avLst>
          </a:prstGeom>
          <a:solidFill>
            <a:srgbClr val="F4F7FB"/>
          </a:solidFill>
          <a:ln w="9525">
            <a:solidFill>
              <a:srgbClr val="E2E8F0"/>
            </a:solidFill>
            <a:prstDash val="solid"/>
          </a:ln>
        </p:spPr>
        <p:txBody>
          <a:bodyPr/>
          <a:p/>
        </p:txBody>
      </p:sp>
      <p:sp>
        <p:nvSpPr>
          <p:cNvPr id="20" name="etiqueta-27"/>
          <p:cNvSpPr/>
          <p:nvPr/>
        </p:nvSpPr>
        <p:spPr>
          <a:xfrm>
            <a:off x="9149944" y="2304288"/>
            <a:ext cx="815096" cy="246888"/>
          </a:xfrm>
          <a:prstGeom prst="roundRect">
            <a:avLst>
              <a:gd name="adj" fmla="val 18519"/>
            </a:avLst>
          </a:prstGeom>
          <a:solidFill>
            <a:srgbClr val="57D3EA"/>
          </a:solidFill>
          <a:ln/>
        </p:spPr>
        <p:txBody>
          <a:bodyPr wrap="square" lIns="0" tIns="0" rIns="0" bIns="0" rtlCol="0" anchor="ctr"/>
          <a:lstStyle/>
          <a:p>
            <a:pPr algn="ctr" indent="0" marL="0">
              <a:buNone/>
            </a:pPr>
            <a:r>
              <a:rPr lang="en-US" sz="1100" b="1" dirty="0">
                <a:solidFill>
                  <a:srgbClr val="04222B"/>
                </a:solidFill>
              </a:rPr>
              <a:t>PARTE D</a:t>
            </a:r>
            <a:endParaRPr lang="en-US" sz="1100" dirty="0"/>
          </a:p>
        </p:txBody>
      </p:sp>
      <p:sp>
        <p:nvSpPr>
          <p:cNvPr id="21" name="texto-28"/>
          <p:cNvSpPr txBox="1"/>
          <p:nvPr/>
        </p:nvSpPr>
        <p:spPr>
          <a:xfrm>
            <a:off x="9149944" y="2651760"/>
            <a:ext cx="2340864" cy="329184"/>
          </a:xfrm>
          <a:prstGeom prst="rect">
            <a:avLst/>
          </a:prstGeom>
          <a:noFill/>
          <a:ln/>
        </p:spPr>
        <p:txBody>
          <a:bodyPr wrap="square" lIns="0" tIns="0" rIns="0" bIns="0" rtlCol="0" anchor="t"/>
          <a:lstStyle/>
          <a:p>
            <a:pPr indent="0" marL="0">
              <a:buNone/>
            </a:pPr>
            <a:r>
              <a:rPr lang="en-US" sz="1700" b="1" dirty="0">
                <a:solidFill>
                  <a:srgbClr val="1A2430"/>
                </a:solidFill>
              </a:rPr>
              <a:t>Similitud y pruebas</a:t>
            </a:r>
            <a:endParaRPr lang="en-US" sz="1700" dirty="0"/>
          </a:p>
        </p:txBody>
      </p:sp>
      <p:sp>
        <p:nvSpPr>
          <p:cNvPr id="22" name="texto-29"/>
          <p:cNvSpPr txBox="1"/>
          <p:nvPr/>
        </p:nvSpPr>
        <p:spPr>
          <a:xfrm>
            <a:off x="9149944" y="2999232"/>
            <a:ext cx="2340864" cy="274320"/>
          </a:xfrm>
          <a:prstGeom prst="rect">
            <a:avLst/>
          </a:prstGeom>
          <a:noFill/>
          <a:ln/>
        </p:spPr>
        <p:txBody>
          <a:bodyPr wrap="square" lIns="0" tIns="0" rIns="0" bIns="0" rtlCol="0" anchor="t"/>
          <a:lstStyle/>
          <a:p>
            <a:pPr indent="0" marL="0">
              <a:buNone/>
            </a:pPr>
            <a:r>
              <a:rPr lang="en-US" sz="1200" b="1" dirty="0">
                <a:solidFill>
                  <a:schemeClr val="accent2"/>
                </a:solidFill>
              </a:rPr>
              <a:t>S7 · benchmarks</a:t>
            </a:r>
            <a:endParaRPr lang="en-US" sz="1200" dirty="0"/>
          </a:p>
        </p:txBody>
      </p:sp>
      <p:sp>
        <p:nvSpPr>
          <p:cNvPr id="23" name="texto-30"/>
          <p:cNvSpPr txBox="1"/>
          <p:nvPr/>
        </p:nvSpPr>
        <p:spPr>
          <a:xfrm>
            <a:off x="9149944" y="3383280"/>
            <a:ext cx="2340864" cy="13716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31414E"/>
                </a:solidFill>
              </a:rPr>
              <a:t>MinHash + LSH</a:t>
            </a:r>
            <a:endParaRPr lang="en-US" sz="1400" dirty="0"/>
          </a:p>
          <a:p>
            <a:pPr marL="177800" indent="-177800">
              <a:spcAft>
                <a:spcPts val="500"/>
              </a:spcAft>
              <a:buSzPct val="100000"/>
              <a:buChar char="•"/>
            </a:pPr>
            <a:r>
              <a:rPr lang="en-US" sz="1400" dirty="0">
                <a:solidFill>
                  <a:srgbClr val="31414E"/>
                </a:solidFill>
              </a:rPr>
              <a:t>IVF frente a KNN exacto</a:t>
            </a:r>
            <a:endParaRPr lang="en-US" sz="1400" dirty="0"/>
          </a:p>
          <a:p>
            <a:pPr marL="177800" indent="-177800">
              <a:spcAft>
                <a:spcPts val="500"/>
              </a:spcAft>
              <a:buSzPct val="100000"/>
              <a:buChar char="•"/>
            </a:pPr>
            <a:r>
              <a:rPr lang="en-US" sz="1400" dirty="0">
                <a:solidFill>
                  <a:srgbClr val="31414E"/>
                </a:solidFill>
              </a:rPr>
              <a:t>Escalabilidad log-log</a:t>
            </a:r>
            <a:endParaRPr lang="en-US" sz="1400" dirty="0"/>
          </a:p>
          <a:p>
            <a:pPr marL="177800" indent="-177800">
              <a:spcAft>
                <a:spcPts val="500"/>
              </a:spcAft>
              <a:buSzPct val="100000"/>
              <a:buChar char="•"/>
            </a:pPr>
            <a:r>
              <a:rPr lang="en-US" sz="1400" dirty="0">
                <a:solidFill>
                  <a:srgbClr val="31414E"/>
                </a:solidFill>
              </a:rPr>
              <a:t>Corrida de 10M</a:t>
            </a:r>
            <a:endParaRPr lang="en-US" sz="14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BBBB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2" type="body" hasCustomPrompt="1"/>
          </p:nvPr>
        </p:nvSpPr>
        <p:spPr>
          <a:xfrm>
            <a:off x="777240" y="603504"/>
            <a:ext cx="10607040" cy="274320"/>
          </a:xfrm>
          <a:prstGeom prst="rect">
            <a:avLst/>
          </a:prstGeom>
          <a:noFill/>
          <a:ln/>
        </p:spPr>
        <p:txBody>
          <a:bodyPr wrap="square" lIns="0" tIns="0" rIns="0" bIns="0" rtlCol="0" anchor="ctr"/>
          <a:lstStyle/>
          <a:p>
            <a:pPr algn="l" indent="0" marL="0">
              <a:buNone/>
            </a:pPr>
            <a:r>
              <a:rPr lang="en-US" sz="1100" b="1" dirty="0">
                <a:solidFill>
                  <a:schemeClr val="accent2"/>
                </a:solidFill>
              </a:rPr>
              <a:t>ESCENARIO B · PROBLEMA Y DATOS</a:t>
            </a:r>
            <a:endParaRPr lang="en-US" sz="1100" dirty="0"/>
          </a:p>
        </p:txBody>
      </p:sp>
      <p:sp>
        <p:nvSpPr>
          <p:cNvPr id="3" name="Text 0"/>
          <p:cNvSpPr/>
          <p:nvPr>
            <p:ph idx="103" type="title" hasCustomPrompt="1"/>
          </p:nvPr>
        </p:nvSpPr>
        <p:spPr>
          <a:xfrm>
            <a:off x="777240" y="877824"/>
            <a:ext cx="10789920" cy="548640"/>
          </a:xfrm>
          <a:prstGeom prst="rect">
            <a:avLst/>
          </a:prstGeom>
          <a:noFill/>
          <a:ln/>
        </p:spPr>
        <p:txBody>
          <a:bodyPr wrap="square" lIns="0" tIns="0" rIns="0" bIns="0" rtlCol="0" anchor="ctr"/>
          <a:lstStyle/>
          <a:p>
            <a:pPr algn="l" indent="0" marL="0">
              <a:buNone/>
            </a:pPr>
            <a:r>
              <a:rPr lang="en-US" sz="3000" b="1" dirty="0">
                <a:solidFill>
                  <a:schemeClr val="tx1"/>
                </a:solidFill>
              </a:rPr>
              <a:t>Una tienda en línea con 10 M de eventos reales</a:t>
            </a:r>
            <a:endParaRPr lang="en-US" sz="3000" dirty="0"/>
          </a:p>
        </p:txBody>
      </p:sp>
      <p:sp>
        <p:nvSpPr>
          <p:cNvPr id="4" name="circulo-31"/>
          <p:cNvSpPr/>
          <p:nvPr/>
        </p:nvSpPr>
        <p:spPr>
          <a:xfrm>
            <a:off x="777240" y="1828800"/>
            <a:ext cx="731520" cy="731520"/>
          </a:xfrm>
          <a:prstGeom prst="ellipse">
            <a:avLst/>
          </a:prstGeom>
          <a:solidFill>
            <a:schemeClr val="accent6"/>
          </a:solidFill>
          <a:ln w="12700">
            <a:solidFill>
              <a:schemeClr val="accent1"/>
            </a:solidFill>
            <a:prstDash val="solid"/>
          </a:ln>
        </p:spPr>
        <p:txBody>
          <a:bodyPr/>
          <a:p/>
        </p:txBody>
      </p:sp>
      <p:pic>
        <p:nvPicPr>
          <p:cNvPr id="5" name="icono-32" descr="preencoded.png">    </p:cNvPr>
          <p:cNvPicPr>
            <a:picLocks noChangeAspect="1"/>
          </p:cNvPicPr>
          <p:nvPr/>
        </p:nvPicPr>
        <p:blipFill>
          <a:blip r:embed="rId1"/>
          <a:stretch>
            <a:fillRect/>
          </a:stretch>
        </p:blipFill>
        <p:spPr>
          <a:xfrm>
            <a:off x="974750" y="2026310"/>
            <a:ext cx="336499" cy="336499"/>
          </a:xfrm>
          <a:prstGeom prst="rect">
            <a:avLst/>
          </a:prstGeom>
        </p:spPr>
      </p:pic>
      <p:sp>
        <p:nvSpPr>
          <p:cNvPr id="6" name="texto-33"/>
          <p:cNvSpPr txBox="1"/>
          <p:nvPr/>
        </p:nvSpPr>
        <p:spPr>
          <a:xfrm>
            <a:off x="1691640" y="1883664"/>
            <a:ext cx="3840480" cy="310896"/>
          </a:xfrm>
          <a:prstGeom prst="rect">
            <a:avLst/>
          </a:prstGeom>
          <a:noFill/>
          <a:ln/>
        </p:spPr>
        <p:txBody>
          <a:bodyPr wrap="square" lIns="0" tIns="0" rIns="0" bIns="0" rtlCol="0" anchor="t"/>
          <a:lstStyle/>
          <a:p>
            <a:pPr indent="0" marL="0">
              <a:buNone/>
            </a:pPr>
            <a:r>
              <a:rPr lang="en-US" sz="1600" b="1" dirty="0">
                <a:solidFill>
                  <a:srgbClr val="1A2430"/>
                </a:solidFill>
              </a:rPr>
              <a:t>Atender primero lo urgente</a:t>
            </a:r>
            <a:endParaRPr lang="en-US" sz="1600" dirty="0"/>
          </a:p>
        </p:txBody>
      </p:sp>
      <p:sp>
        <p:nvSpPr>
          <p:cNvPr id="7" name="texto-34"/>
          <p:cNvSpPr txBox="1"/>
          <p:nvPr/>
        </p:nvSpPr>
        <p:spPr>
          <a:xfrm>
            <a:off x="1691640" y="2212848"/>
            <a:ext cx="3840480" cy="274320"/>
          </a:xfrm>
          <a:prstGeom prst="rect">
            <a:avLst/>
          </a:prstGeom>
          <a:noFill/>
          <a:ln/>
        </p:spPr>
        <p:txBody>
          <a:bodyPr wrap="square" lIns="0" tIns="0" rIns="0" bIns="0" rtlCol="0" anchor="t"/>
          <a:lstStyle/>
          <a:p>
            <a:pPr indent="0" marL="0">
              <a:buNone/>
            </a:pPr>
            <a:r>
              <a:rPr lang="en-US" sz="1400" dirty="0">
                <a:solidFill>
                  <a:schemeClr val="accent5"/>
                </a:solidFill>
              </a:rPr>
              <a:t>Compras express antes que vistas</a:t>
            </a:r>
            <a:endParaRPr lang="en-US" sz="1400" dirty="0"/>
          </a:p>
        </p:txBody>
      </p:sp>
      <p:sp>
        <p:nvSpPr>
          <p:cNvPr id="8" name="circulo-35"/>
          <p:cNvSpPr/>
          <p:nvPr/>
        </p:nvSpPr>
        <p:spPr>
          <a:xfrm>
            <a:off x="777240" y="2907792"/>
            <a:ext cx="731520" cy="731520"/>
          </a:xfrm>
          <a:prstGeom prst="ellipse">
            <a:avLst/>
          </a:prstGeom>
          <a:solidFill>
            <a:schemeClr val="accent6"/>
          </a:solidFill>
          <a:ln w="12700">
            <a:solidFill>
              <a:schemeClr val="accent1"/>
            </a:solidFill>
            <a:prstDash val="solid"/>
          </a:ln>
        </p:spPr>
        <p:txBody>
          <a:bodyPr/>
          <a:p/>
        </p:txBody>
      </p:sp>
      <p:pic>
        <p:nvPicPr>
          <p:cNvPr id="9" name="icono-36" descr="preencoded.png">    </p:cNvPr>
          <p:cNvPicPr>
            <a:picLocks noChangeAspect="1"/>
          </p:cNvPicPr>
          <p:nvPr/>
        </p:nvPicPr>
        <p:blipFill>
          <a:blip r:embed="rId2"/>
          <a:stretch>
            <a:fillRect/>
          </a:stretch>
        </p:blipFill>
        <p:spPr>
          <a:xfrm>
            <a:off x="974750" y="3105302"/>
            <a:ext cx="336499" cy="336499"/>
          </a:xfrm>
          <a:prstGeom prst="rect">
            <a:avLst/>
          </a:prstGeom>
        </p:spPr>
      </p:pic>
      <p:sp>
        <p:nvSpPr>
          <p:cNvPr id="10" name="texto-37"/>
          <p:cNvSpPr txBox="1"/>
          <p:nvPr/>
        </p:nvSpPr>
        <p:spPr>
          <a:xfrm>
            <a:off x="1691640" y="2962656"/>
            <a:ext cx="3840480" cy="310896"/>
          </a:xfrm>
          <a:prstGeom prst="rect">
            <a:avLst/>
          </a:prstGeom>
          <a:noFill/>
          <a:ln/>
        </p:spPr>
        <p:txBody>
          <a:bodyPr wrap="square" lIns="0" tIns="0" rIns="0" bIns="0" rtlCol="0" anchor="t"/>
          <a:lstStyle/>
          <a:p>
            <a:pPr indent="0" marL="0">
              <a:buNone/>
            </a:pPr>
            <a:r>
              <a:rPr lang="en-US" sz="1600" b="1" dirty="0">
                <a:solidFill>
                  <a:srgbClr val="1A2430"/>
                </a:solidFill>
              </a:rPr>
              <a:t>Responder en microsegundos</a:t>
            </a:r>
            <a:endParaRPr lang="en-US" sz="1600" dirty="0"/>
          </a:p>
        </p:txBody>
      </p:sp>
      <p:sp>
        <p:nvSpPr>
          <p:cNvPr id="11" name="texto-38"/>
          <p:cNvSpPr txBox="1"/>
          <p:nvPr/>
        </p:nvSpPr>
        <p:spPr>
          <a:xfrm>
            <a:off x="1691640" y="3291840"/>
            <a:ext cx="3840480" cy="274320"/>
          </a:xfrm>
          <a:prstGeom prst="rect">
            <a:avLst/>
          </a:prstGeom>
          <a:noFill/>
          <a:ln/>
        </p:spPr>
        <p:txBody>
          <a:bodyPr wrap="square" lIns="0" tIns="0" rIns="0" bIns="0" rtlCol="0" anchor="t"/>
          <a:lstStyle/>
          <a:p>
            <a:pPr indent="0" marL="0">
              <a:buNone/>
            </a:pPr>
            <a:r>
              <a:rPr lang="en-US" sz="1400" dirty="0">
                <a:solidFill>
                  <a:schemeClr val="accent5"/>
                </a:solidFill>
              </a:rPr>
              <a:t>Productos por id y rangos de precio</a:t>
            </a:r>
            <a:endParaRPr lang="en-US" sz="1400" dirty="0"/>
          </a:p>
        </p:txBody>
      </p:sp>
      <p:sp>
        <p:nvSpPr>
          <p:cNvPr id="12" name="circulo-39"/>
          <p:cNvSpPr/>
          <p:nvPr/>
        </p:nvSpPr>
        <p:spPr>
          <a:xfrm>
            <a:off x="777240" y="3986784"/>
            <a:ext cx="731520" cy="731520"/>
          </a:xfrm>
          <a:prstGeom prst="ellipse">
            <a:avLst/>
          </a:prstGeom>
          <a:solidFill>
            <a:schemeClr val="accent6"/>
          </a:solidFill>
          <a:ln w="12700">
            <a:solidFill>
              <a:schemeClr val="accent1"/>
            </a:solidFill>
            <a:prstDash val="solid"/>
          </a:ln>
        </p:spPr>
        <p:txBody>
          <a:bodyPr/>
          <a:p/>
        </p:txBody>
      </p:sp>
      <p:pic>
        <p:nvPicPr>
          <p:cNvPr id="13" name="icono-40" descr="preencoded.png">    </p:cNvPr>
          <p:cNvPicPr>
            <a:picLocks noChangeAspect="1"/>
          </p:cNvPicPr>
          <p:nvPr/>
        </p:nvPicPr>
        <p:blipFill>
          <a:blip r:embed="rId3"/>
          <a:stretch>
            <a:fillRect/>
          </a:stretch>
        </p:blipFill>
        <p:spPr>
          <a:xfrm>
            <a:off x="974750" y="4184294"/>
            <a:ext cx="336499" cy="336499"/>
          </a:xfrm>
          <a:prstGeom prst="rect">
            <a:avLst/>
          </a:prstGeom>
        </p:spPr>
      </p:pic>
      <p:sp>
        <p:nvSpPr>
          <p:cNvPr id="14" name="texto-41"/>
          <p:cNvSpPr txBox="1"/>
          <p:nvPr/>
        </p:nvSpPr>
        <p:spPr>
          <a:xfrm>
            <a:off x="1691640" y="4041648"/>
            <a:ext cx="3840480" cy="310896"/>
          </a:xfrm>
          <a:prstGeom prst="rect">
            <a:avLst/>
          </a:prstGeom>
          <a:noFill/>
          <a:ln/>
        </p:spPr>
        <p:txBody>
          <a:bodyPr wrap="square" lIns="0" tIns="0" rIns="0" bIns="0" rtlCol="0" anchor="t"/>
          <a:lstStyle/>
          <a:p>
            <a:pPr indent="0" marL="0">
              <a:buNone/>
            </a:pPr>
            <a:r>
              <a:rPr lang="en-US" sz="1600" b="1" dirty="0">
                <a:solidFill>
                  <a:srgbClr val="1A2430"/>
                </a:solidFill>
              </a:rPr>
              <a:t>Detectar fraude en segundos</a:t>
            </a:r>
            <a:endParaRPr lang="en-US" sz="1600" dirty="0"/>
          </a:p>
        </p:txBody>
      </p:sp>
      <p:sp>
        <p:nvSpPr>
          <p:cNvPr id="15" name="texto-42"/>
          <p:cNvSpPr txBox="1"/>
          <p:nvPr/>
        </p:nvSpPr>
        <p:spPr>
          <a:xfrm>
            <a:off x="1691640" y="4370832"/>
            <a:ext cx="3840480" cy="274320"/>
          </a:xfrm>
          <a:prstGeom prst="rect">
            <a:avLst/>
          </a:prstGeom>
          <a:noFill/>
          <a:ln/>
        </p:spPr>
        <p:txBody>
          <a:bodyPr wrap="square" lIns="0" tIns="0" rIns="0" bIns="0" rtlCol="0" anchor="t"/>
          <a:lstStyle/>
          <a:p>
            <a:pPr indent="0" marL="0">
              <a:buNone/>
            </a:pPr>
            <a:r>
              <a:rPr lang="en-US" sz="1400" dirty="0">
                <a:solidFill>
                  <a:schemeClr val="accent5"/>
                </a:solidFill>
              </a:rPr>
              <a:t>Lista negra y ráfagas por tarjeta</a:t>
            </a:r>
            <a:endParaRPr lang="en-US" sz="1400" dirty="0"/>
          </a:p>
        </p:txBody>
      </p:sp>
      <p:sp>
        <p:nvSpPr>
          <p:cNvPr id="16" name="circulo-43"/>
          <p:cNvSpPr/>
          <p:nvPr/>
        </p:nvSpPr>
        <p:spPr>
          <a:xfrm>
            <a:off x="777240" y="5065776"/>
            <a:ext cx="731520" cy="731520"/>
          </a:xfrm>
          <a:prstGeom prst="ellipse">
            <a:avLst/>
          </a:prstGeom>
          <a:solidFill>
            <a:schemeClr val="accent6"/>
          </a:solidFill>
          <a:ln w="12700">
            <a:solidFill>
              <a:schemeClr val="accent1"/>
            </a:solidFill>
            <a:prstDash val="solid"/>
          </a:ln>
        </p:spPr>
        <p:txBody>
          <a:bodyPr/>
          <a:p/>
        </p:txBody>
      </p:sp>
      <p:pic>
        <p:nvPicPr>
          <p:cNvPr id="17" name="icono-44" descr="preencoded.png">    </p:cNvPr>
          <p:cNvPicPr>
            <a:picLocks noChangeAspect="1"/>
          </p:cNvPicPr>
          <p:nvPr/>
        </p:nvPicPr>
        <p:blipFill>
          <a:blip r:embed="rId4"/>
          <a:stretch>
            <a:fillRect/>
          </a:stretch>
        </p:blipFill>
        <p:spPr>
          <a:xfrm>
            <a:off x="974750" y="5263286"/>
            <a:ext cx="336499" cy="336499"/>
          </a:xfrm>
          <a:prstGeom prst="rect">
            <a:avLst/>
          </a:prstGeom>
        </p:spPr>
      </p:pic>
      <p:sp>
        <p:nvSpPr>
          <p:cNvPr id="18" name="texto-45"/>
          <p:cNvSpPr txBox="1"/>
          <p:nvPr/>
        </p:nvSpPr>
        <p:spPr>
          <a:xfrm>
            <a:off x="1691640" y="5120640"/>
            <a:ext cx="3840480" cy="310896"/>
          </a:xfrm>
          <a:prstGeom prst="rect">
            <a:avLst/>
          </a:prstGeom>
          <a:noFill/>
          <a:ln/>
        </p:spPr>
        <p:txBody>
          <a:bodyPr wrap="square" lIns="0" tIns="0" rIns="0" bIns="0" rtlCol="0" anchor="t"/>
          <a:lstStyle/>
          <a:p>
            <a:pPr indent="0" marL="0">
              <a:buNone/>
            </a:pPr>
            <a:r>
              <a:rPr lang="en-US" sz="1600" b="1" dirty="0">
                <a:solidFill>
                  <a:srgbClr val="1A2430"/>
                </a:solidFill>
              </a:rPr>
              <a:t>Recomendar y descubrir</a:t>
            </a:r>
            <a:endParaRPr lang="en-US" sz="1600" dirty="0"/>
          </a:p>
        </p:txBody>
      </p:sp>
      <p:sp>
        <p:nvSpPr>
          <p:cNvPr id="19" name="texto-46"/>
          <p:cNvSpPr txBox="1"/>
          <p:nvPr/>
        </p:nvSpPr>
        <p:spPr>
          <a:xfrm>
            <a:off x="1691640" y="5449824"/>
            <a:ext cx="3840480" cy="274320"/>
          </a:xfrm>
          <a:prstGeom prst="rect">
            <a:avLst/>
          </a:prstGeom>
          <a:noFill/>
          <a:ln/>
        </p:spPr>
        <p:txBody>
          <a:bodyPr wrap="square" lIns="0" tIns="0" rIns="0" bIns="0" rtlCol="0" anchor="t"/>
          <a:lstStyle/>
          <a:p>
            <a:pPr indent="0" marL="0">
              <a:buNone/>
            </a:pPr>
            <a:r>
              <a:rPr lang="en-US" sz="1400" dirty="0">
                <a:solidFill>
                  <a:schemeClr val="accent5"/>
                </a:solidFill>
              </a:rPr>
              <a:t>Parecidos y comprados juntos</a:t>
            </a:r>
            <a:endParaRPr lang="en-US" sz="1400" dirty="0"/>
          </a:p>
        </p:txBody>
      </p:sp>
      <p:sp>
        <p:nvSpPr>
          <p:cNvPr id="20" name="tarjeta-47"/>
          <p:cNvSpPr/>
          <p:nvPr/>
        </p:nvSpPr>
        <p:spPr>
          <a:xfrm>
            <a:off x="5806440" y="1783080"/>
            <a:ext cx="5605272" cy="2286000"/>
          </a:xfrm>
          <a:prstGeom prst="roundRect">
            <a:avLst>
              <a:gd name="adj" fmla="val 3200"/>
            </a:avLst>
          </a:prstGeom>
          <a:solidFill>
            <a:srgbClr val="FFFFFF"/>
          </a:solidFill>
          <a:ln w="9525">
            <a:solidFill>
              <a:srgbClr val="E2E8F0"/>
            </a:solidFill>
            <a:prstDash val="solid"/>
          </a:ln>
        </p:spPr>
        <p:txBody>
          <a:bodyPr/>
          <a:p/>
        </p:txBody>
      </p:sp>
      <p:sp>
        <p:nvSpPr>
          <p:cNvPr id="21" name="etiqueta-48"/>
          <p:cNvSpPr/>
          <p:nvPr/>
        </p:nvSpPr>
        <p:spPr>
          <a:xfrm>
            <a:off x="5989320" y="1938528"/>
            <a:ext cx="2052279" cy="246888"/>
          </a:xfrm>
          <a:prstGeom prst="roundRect">
            <a:avLst>
              <a:gd name="adj" fmla="val 18519"/>
            </a:avLst>
          </a:prstGeom>
          <a:solidFill>
            <a:schemeClr val="accent4"/>
          </a:solidFill>
          <a:ln/>
        </p:spPr>
        <p:txBody>
          <a:bodyPr wrap="square" lIns="0" tIns="0" rIns="0" bIns="0" rtlCol="0" anchor="ctr"/>
          <a:lstStyle/>
          <a:p>
            <a:pPr algn="ctr" indent="0" marL="0">
              <a:buNone/>
            </a:pPr>
            <a:r>
              <a:rPr lang="en-US" sz="1100" b="1" dirty="0">
                <a:solidFill>
                  <a:srgbClr val="04222B"/>
                </a:solidFill>
              </a:rPr>
              <a:t>REAL · REES46 (KAGGLE)</a:t>
            </a:r>
            <a:endParaRPr lang="en-US" sz="1100" dirty="0"/>
          </a:p>
        </p:txBody>
      </p:sp>
      <p:sp>
        <p:nvSpPr>
          <p:cNvPr id="22" name="texto-49"/>
          <p:cNvSpPr txBox="1"/>
          <p:nvPr/>
        </p:nvSpPr>
        <p:spPr>
          <a:xfrm>
            <a:off x="5989320" y="2240280"/>
            <a:ext cx="1783080" cy="566928"/>
          </a:xfrm>
          <a:prstGeom prst="rect">
            <a:avLst/>
          </a:prstGeom>
          <a:noFill/>
          <a:ln/>
        </p:spPr>
        <p:txBody>
          <a:bodyPr wrap="square" lIns="0" tIns="0" rIns="0" bIns="0" rtlCol="0" anchor="b"/>
          <a:lstStyle/>
          <a:p>
            <a:pPr indent="0" marL="0">
              <a:buNone/>
            </a:pPr>
            <a:r>
              <a:rPr lang="en-US" sz="3000" b="1" dirty="0">
                <a:solidFill>
                  <a:schemeClr val="accent3"/>
                </a:solidFill>
              </a:rPr>
              <a:t>10,2 M</a:t>
            </a:r>
            <a:endParaRPr lang="en-US" sz="3000" dirty="0"/>
          </a:p>
        </p:txBody>
      </p:sp>
      <p:sp>
        <p:nvSpPr>
          <p:cNvPr id="23" name="texto-50"/>
          <p:cNvSpPr txBox="1"/>
          <p:nvPr/>
        </p:nvSpPr>
        <p:spPr>
          <a:xfrm>
            <a:off x="5989320" y="2843784"/>
            <a:ext cx="1783080" cy="457200"/>
          </a:xfrm>
          <a:prstGeom prst="rect">
            <a:avLst/>
          </a:prstGeom>
          <a:noFill/>
          <a:ln/>
        </p:spPr>
        <p:txBody>
          <a:bodyPr wrap="square" lIns="0" tIns="0" rIns="0" bIns="0" rtlCol="0" anchor="t"/>
          <a:lstStyle/>
          <a:p>
            <a:pPr indent="0" marL="0">
              <a:buNone/>
            </a:pPr>
            <a:r>
              <a:rPr lang="en-US" sz="1200" dirty="0">
                <a:solidFill>
                  <a:schemeClr val="accent5"/>
                </a:solidFill>
              </a:rPr>
              <a:t>eventos del 1 al 8 de octubre de 2019</a:t>
            </a:r>
            <a:endParaRPr lang="en-US" sz="1200" dirty="0"/>
          </a:p>
        </p:txBody>
      </p:sp>
      <p:sp>
        <p:nvSpPr>
          <p:cNvPr id="24" name="texto-51"/>
          <p:cNvSpPr txBox="1"/>
          <p:nvPr/>
        </p:nvSpPr>
        <p:spPr>
          <a:xfrm>
            <a:off x="7863840" y="2240280"/>
            <a:ext cx="1691640" cy="566928"/>
          </a:xfrm>
          <a:prstGeom prst="rect">
            <a:avLst/>
          </a:prstGeom>
          <a:noFill/>
          <a:ln/>
        </p:spPr>
        <p:txBody>
          <a:bodyPr wrap="square" lIns="0" tIns="0" rIns="0" bIns="0" rtlCol="0" anchor="b"/>
          <a:lstStyle/>
          <a:p>
            <a:pPr indent="0" marL="0">
              <a:buNone/>
            </a:pPr>
            <a:r>
              <a:rPr lang="en-US" sz="3000" b="1" dirty="0">
                <a:solidFill>
                  <a:schemeClr val="accent3"/>
                </a:solidFill>
              </a:rPr>
              <a:t>120 565</a:t>
            </a:r>
            <a:endParaRPr lang="en-US" sz="3000" dirty="0"/>
          </a:p>
        </p:txBody>
      </p:sp>
      <p:sp>
        <p:nvSpPr>
          <p:cNvPr id="25" name="texto-52"/>
          <p:cNvSpPr txBox="1"/>
          <p:nvPr/>
        </p:nvSpPr>
        <p:spPr>
          <a:xfrm>
            <a:off x="7863840" y="2843784"/>
            <a:ext cx="1691640" cy="457200"/>
          </a:xfrm>
          <a:prstGeom prst="rect">
            <a:avLst/>
          </a:prstGeom>
          <a:noFill/>
          <a:ln/>
        </p:spPr>
        <p:txBody>
          <a:bodyPr wrap="square" lIns="0" tIns="0" rIns="0" bIns="0" rtlCol="0" anchor="t"/>
          <a:lstStyle/>
          <a:p>
            <a:pPr indent="0" marL="0">
              <a:buNone/>
            </a:pPr>
            <a:r>
              <a:rPr lang="en-US" sz="1200" dirty="0">
                <a:solidFill>
                  <a:schemeClr val="accent5"/>
                </a:solidFill>
              </a:rPr>
              <a:t>productos</a:t>
            </a:r>
            <a:endParaRPr lang="en-US" sz="1200" dirty="0"/>
          </a:p>
        </p:txBody>
      </p:sp>
      <p:sp>
        <p:nvSpPr>
          <p:cNvPr id="26" name="texto-53"/>
          <p:cNvSpPr txBox="1"/>
          <p:nvPr/>
        </p:nvSpPr>
        <p:spPr>
          <a:xfrm>
            <a:off x="9555480" y="2240280"/>
            <a:ext cx="1783080" cy="566928"/>
          </a:xfrm>
          <a:prstGeom prst="rect">
            <a:avLst/>
          </a:prstGeom>
          <a:noFill/>
          <a:ln/>
        </p:spPr>
        <p:txBody>
          <a:bodyPr wrap="square" lIns="0" tIns="0" rIns="0" bIns="0" rtlCol="0" anchor="b"/>
          <a:lstStyle/>
          <a:p>
            <a:pPr indent="0" marL="0">
              <a:buNone/>
            </a:pPr>
            <a:r>
              <a:rPr lang="en-US" sz="3000" b="1" dirty="0">
                <a:solidFill>
                  <a:schemeClr val="accent3"/>
                </a:solidFill>
              </a:rPr>
              <a:t>1,07 M</a:t>
            </a:r>
            <a:endParaRPr lang="en-US" sz="3000" dirty="0"/>
          </a:p>
        </p:txBody>
      </p:sp>
      <p:sp>
        <p:nvSpPr>
          <p:cNvPr id="27" name="texto-54"/>
          <p:cNvSpPr txBox="1"/>
          <p:nvPr/>
        </p:nvSpPr>
        <p:spPr>
          <a:xfrm>
            <a:off x="9555480" y="2843784"/>
            <a:ext cx="1783080" cy="457200"/>
          </a:xfrm>
          <a:prstGeom prst="rect">
            <a:avLst/>
          </a:prstGeom>
          <a:noFill/>
          <a:ln/>
        </p:spPr>
        <p:txBody>
          <a:bodyPr wrap="square" lIns="0" tIns="0" rIns="0" bIns="0" rtlCol="0" anchor="t"/>
          <a:lstStyle/>
          <a:p>
            <a:pPr indent="0" marL="0">
              <a:buNone/>
            </a:pPr>
            <a:r>
              <a:rPr lang="en-US" sz="1200" dirty="0">
                <a:solidFill>
                  <a:schemeClr val="accent5"/>
                </a:solidFill>
              </a:rPr>
              <a:t>usuarios</a:t>
            </a:r>
            <a:endParaRPr lang="en-US" sz="1200" dirty="0"/>
          </a:p>
        </p:txBody>
      </p:sp>
      <p:sp>
        <p:nvSpPr>
          <p:cNvPr id="28" name="texto-55"/>
          <p:cNvSpPr txBox="1"/>
          <p:nvPr/>
        </p:nvSpPr>
        <p:spPr>
          <a:xfrm>
            <a:off x="5989320" y="3429000"/>
            <a:ext cx="5257800" cy="502920"/>
          </a:xfrm>
          <a:prstGeom prst="rect">
            <a:avLst/>
          </a:prstGeom>
          <a:noFill/>
          <a:ln/>
        </p:spPr>
        <p:txBody>
          <a:bodyPr wrap="square" lIns="0" tIns="0" rIns="0" bIns="0" rtlCol="0" anchor="t"/>
          <a:lstStyle/>
          <a:p>
            <a:pPr indent="0" marL="0">
              <a:buNone/>
            </a:pPr>
            <a:r>
              <a:rPr lang="en-US" sz="1300" dirty="0">
                <a:solidFill>
                  <a:schemeClr val="accent5"/>
                </a:solidFill>
              </a:rPr>
              <a:t>DuckDB lee 2019-Oct.csv (5,7 GB) en streaming. El 95,6 % de los eventos son vistas.</a:t>
            </a:r>
            <a:endParaRPr lang="en-US" sz="1300" dirty="0"/>
          </a:p>
        </p:txBody>
      </p:sp>
      <p:sp>
        <p:nvSpPr>
          <p:cNvPr id="29" name="tarjeta-56"/>
          <p:cNvSpPr/>
          <p:nvPr/>
        </p:nvSpPr>
        <p:spPr>
          <a:xfrm>
            <a:off x="5806440" y="4206240"/>
            <a:ext cx="5605272" cy="1783080"/>
          </a:xfrm>
          <a:prstGeom prst="roundRect">
            <a:avLst>
              <a:gd name="adj" fmla="val 4103"/>
            </a:avLst>
          </a:prstGeom>
          <a:solidFill>
            <a:schemeClr val="accent6"/>
          </a:solidFill>
          <a:ln w="9525">
            <a:solidFill>
              <a:schemeClr val="accent1"/>
            </a:solidFill>
            <a:prstDash val="solid"/>
          </a:ln>
        </p:spPr>
        <p:txBody>
          <a:bodyPr/>
          <a:p/>
        </p:txBody>
      </p:sp>
      <p:sp>
        <p:nvSpPr>
          <p:cNvPr id="30" name="etiqueta-57"/>
          <p:cNvSpPr/>
          <p:nvPr/>
        </p:nvSpPr>
        <p:spPr>
          <a:xfrm>
            <a:off x="5989320" y="4361688"/>
            <a:ext cx="2217237" cy="246888"/>
          </a:xfrm>
          <a:prstGeom prst="roundRect">
            <a:avLst>
              <a:gd name="adj" fmla="val 18519"/>
            </a:avLst>
          </a:prstGeom>
          <a:solidFill>
            <a:schemeClr val="accent1"/>
          </a:solidFill>
          <a:ln/>
        </p:spPr>
        <p:txBody>
          <a:bodyPr wrap="square" lIns="0" tIns="0" rIns="0" bIns="0" rtlCol="0" anchor="ctr"/>
          <a:lstStyle/>
          <a:p>
            <a:pPr algn="ctr" indent="0" marL="0">
              <a:buNone/>
            </a:pPr>
            <a:r>
              <a:rPr lang="en-US" sz="1100" b="1" dirty="0">
                <a:solidFill>
                  <a:srgbClr val="04222B"/>
                </a:solidFill>
              </a:rPr>
              <a:t>SINTÉTICO · SEMILLA FIJA</a:t>
            </a:r>
            <a:endParaRPr lang="en-US" sz="1100" dirty="0"/>
          </a:p>
        </p:txBody>
      </p:sp>
      <p:sp>
        <p:nvSpPr>
          <p:cNvPr id="31" name="texto-58"/>
          <p:cNvSpPr txBox="1"/>
          <p:nvPr/>
        </p:nvSpPr>
        <p:spPr>
          <a:xfrm>
            <a:off x="5989320" y="4690872"/>
            <a:ext cx="5257800" cy="777240"/>
          </a:xfrm>
          <a:prstGeom prst="rect">
            <a:avLst/>
          </a:prstGeom>
          <a:noFill/>
          <a:ln/>
        </p:spPr>
        <p:txBody>
          <a:bodyPr wrap="square" lIns="0" tIns="0" rIns="0" bIns="0" rtlCol="0" anchor="t"/>
          <a:lstStyle/>
          <a:p>
            <a:pPr indent="0" marL="0">
              <a:buNone/>
            </a:pPr>
            <a:r>
              <a:rPr lang="en-US" sz="1400" dirty="0">
                <a:solidFill>
                  <a:schemeClr val="accent3"/>
                </a:solidFill>
              </a:rPr>
              <a:t>Dispositivo, tarjeta, usuario premium, tipo de envío y consultas; 151 081 duplicados reenviados y ráfagas de fraude de 25 a 120 intentos.</a:t>
            </a:r>
            <a:endParaRPr lang="en-US" sz="1400" dirty="0"/>
          </a:p>
        </p:txBody>
      </p:sp>
      <p:sp>
        <p:nvSpPr>
          <p:cNvPr id="32" name="texto-59"/>
          <p:cNvSpPr txBox="1"/>
          <p:nvPr/>
        </p:nvSpPr>
        <p:spPr>
          <a:xfrm>
            <a:off x="5989320" y="5532120"/>
            <a:ext cx="5257800" cy="457200"/>
          </a:xfrm>
          <a:prstGeom prst="rect">
            <a:avLst/>
          </a:prstGeom>
          <a:noFill/>
          <a:ln/>
        </p:spPr>
        <p:txBody>
          <a:bodyPr wrap="square" lIns="0" tIns="0" rIns="0" bIns="0" rtlCol="0" anchor="t"/>
          <a:lstStyle/>
          <a:p>
            <a:pPr indent="0" marL="0">
              <a:buNone/>
            </a:pPr>
            <a:r>
              <a:rPr lang="en-US" sz="1400" b="1" dirty="0">
                <a:solidFill>
                  <a:schemeClr val="accent3"/>
                </a:solidFill>
              </a:rPr>
              <a:t>Las etiquetas solo miden precisión y recall: nunca deciden.</a:t>
            </a:r>
            <a:endParaRPr lang="en-US" sz="14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2" type="body" hasCustomPrompt="1"/>
          </p:nvPr>
        </p:nvSpPr>
        <p:spPr>
          <a:xfrm>
            <a:off x="777240" y="603504"/>
            <a:ext cx="10607040" cy="274320"/>
          </a:xfrm>
          <a:prstGeom prst="rect">
            <a:avLst/>
          </a:prstGeom>
          <a:noFill/>
          <a:ln/>
        </p:spPr>
        <p:txBody>
          <a:bodyPr wrap="square" lIns="0" tIns="0" rIns="0" bIns="0" rtlCol="0" anchor="ctr"/>
          <a:lstStyle/>
          <a:p>
            <a:pPr algn="l" indent="0" marL="0">
              <a:buNone/>
            </a:pPr>
            <a:r>
              <a:rPr lang="en-US" sz="1100" b="1" dirty="0">
                <a:solidFill>
                  <a:schemeClr val="accent2"/>
                </a:solidFill>
              </a:rPr>
              <a:t>ARQUITECTURA</a:t>
            </a:r>
            <a:endParaRPr lang="en-US" sz="1100" dirty="0"/>
          </a:p>
        </p:txBody>
      </p:sp>
      <p:sp>
        <p:nvSpPr>
          <p:cNvPr id="3" name="Text 0"/>
          <p:cNvSpPr/>
          <p:nvPr>
            <p:ph idx="103" type="title" hasCustomPrompt="1"/>
          </p:nvPr>
        </p:nvSpPr>
        <p:spPr>
          <a:xfrm>
            <a:off x="777240" y="877824"/>
            <a:ext cx="10789920" cy="548640"/>
          </a:xfrm>
          <a:prstGeom prst="rect">
            <a:avLst/>
          </a:prstGeom>
          <a:noFill/>
          <a:ln/>
        </p:spPr>
        <p:txBody>
          <a:bodyPr wrap="square" lIns="0" tIns="0" rIns="0" bIns="0" rtlCol="0" anchor="ctr"/>
          <a:lstStyle/>
          <a:p>
            <a:pPr algn="l" indent="0" marL="0">
              <a:buNone/>
            </a:pPr>
            <a:r>
              <a:rPr lang="en-US" sz="3000" b="1" dirty="0">
                <a:solidFill>
                  <a:schemeClr val="tx1"/>
                </a:solidFill>
              </a:rPr>
              <a:t>Un evento recorre las diez etapas en orden</a:t>
            </a:r>
            <a:endParaRPr lang="en-US" sz="3000" dirty="0"/>
          </a:p>
        </p:txBody>
      </p:sp>
      <p:sp>
        <p:nvSpPr>
          <p:cNvPr id="4" name="tarjeta-60"/>
          <p:cNvSpPr/>
          <p:nvPr/>
        </p:nvSpPr>
        <p:spPr>
          <a:xfrm>
            <a:off x="777240" y="1828800"/>
            <a:ext cx="1874520" cy="1115568"/>
          </a:xfrm>
          <a:prstGeom prst="roundRect">
            <a:avLst>
              <a:gd name="adj" fmla="val 6557"/>
            </a:avLst>
          </a:prstGeom>
          <a:solidFill>
            <a:srgbClr val="FFFFFF"/>
          </a:solidFill>
          <a:ln w="9525">
            <a:solidFill>
              <a:srgbClr val="E2E8F0"/>
            </a:solidFill>
            <a:prstDash val="solid"/>
          </a:ln>
        </p:spPr>
        <p:txBody>
          <a:bodyPr/>
          <a:p/>
        </p:txBody>
      </p:sp>
      <p:sp>
        <p:nvSpPr>
          <p:cNvPr id="5" name="texto-61"/>
          <p:cNvSpPr txBox="1"/>
          <p:nvPr/>
        </p:nvSpPr>
        <p:spPr>
          <a:xfrm>
            <a:off x="886968" y="1920240"/>
            <a:ext cx="548640" cy="274320"/>
          </a:xfrm>
          <a:prstGeom prst="rect">
            <a:avLst/>
          </a:prstGeom>
          <a:noFill/>
          <a:ln/>
        </p:spPr>
        <p:txBody>
          <a:bodyPr wrap="square" lIns="0" tIns="0" rIns="0" bIns="0" rtlCol="0" anchor="t"/>
          <a:lstStyle/>
          <a:p>
            <a:pPr indent="0" marL="0">
              <a:buNone/>
            </a:pPr>
            <a:r>
              <a:rPr lang="en-US" sz="1300" b="1" dirty="0">
                <a:solidFill>
                  <a:schemeClr val="accent2"/>
                </a:solidFill>
              </a:rPr>
              <a:t>S0</a:t>
            </a:r>
            <a:endParaRPr lang="en-US" sz="1300" dirty="0"/>
          </a:p>
        </p:txBody>
      </p:sp>
      <p:sp>
        <p:nvSpPr>
          <p:cNvPr id="6" name="texto-62"/>
          <p:cNvSpPr txBox="1"/>
          <p:nvPr/>
        </p:nvSpPr>
        <p:spPr>
          <a:xfrm>
            <a:off x="886968" y="2194560"/>
            <a:ext cx="1655064" cy="274320"/>
          </a:xfrm>
          <a:prstGeom prst="rect">
            <a:avLst/>
          </a:prstGeom>
          <a:noFill/>
          <a:ln/>
        </p:spPr>
        <p:txBody>
          <a:bodyPr wrap="square" lIns="0" tIns="0" rIns="0" bIns="0" rtlCol="0" anchor="t"/>
          <a:lstStyle/>
          <a:p>
            <a:pPr indent="0" marL="0">
              <a:buNone/>
            </a:pPr>
            <a:r>
              <a:rPr lang="en-US" sz="1400" b="1" dirty="0">
                <a:solidFill>
                  <a:srgbClr val="1A2430"/>
                </a:solidFill>
              </a:rPr>
              <a:t>Ingesta</a:t>
            </a:r>
            <a:endParaRPr lang="en-US" sz="1400" dirty="0"/>
          </a:p>
        </p:txBody>
      </p:sp>
      <p:sp>
        <p:nvSpPr>
          <p:cNvPr id="7" name="texto-63"/>
          <p:cNvSpPr txBox="1"/>
          <p:nvPr/>
        </p:nvSpPr>
        <p:spPr>
          <a:xfrm>
            <a:off x="886968" y="2487168"/>
            <a:ext cx="1655064" cy="384048"/>
          </a:xfrm>
          <a:prstGeom prst="rect">
            <a:avLst/>
          </a:prstGeom>
          <a:noFill/>
          <a:ln/>
        </p:spPr>
        <p:txBody>
          <a:bodyPr wrap="square" lIns="0" tIns="0" rIns="0" bIns="0" rtlCol="0" anchor="t"/>
          <a:lstStyle/>
          <a:p>
            <a:pPr indent="0" marL="0">
              <a:buNone/>
            </a:pPr>
            <a:r>
              <a:rPr lang="en-US" sz="1150" dirty="0">
                <a:solidFill>
                  <a:schemeClr val="accent5"/>
                </a:solidFill>
              </a:rPr>
              <a:t>Cola FIFO enlazada acotada</a:t>
            </a:r>
            <a:endParaRPr lang="en-US" sz="1150" dirty="0"/>
          </a:p>
        </p:txBody>
      </p:sp>
      <p:sp>
        <p:nvSpPr>
          <p:cNvPr id="8" name="tarjeta-64"/>
          <p:cNvSpPr/>
          <p:nvPr/>
        </p:nvSpPr>
        <p:spPr>
          <a:xfrm>
            <a:off x="2962656" y="1828800"/>
            <a:ext cx="1874520" cy="1115568"/>
          </a:xfrm>
          <a:prstGeom prst="roundRect">
            <a:avLst>
              <a:gd name="adj" fmla="val 6557"/>
            </a:avLst>
          </a:prstGeom>
          <a:solidFill>
            <a:srgbClr val="FFFFFF"/>
          </a:solidFill>
          <a:ln w="9525">
            <a:solidFill>
              <a:srgbClr val="E2E8F0"/>
            </a:solidFill>
            <a:prstDash val="solid"/>
          </a:ln>
        </p:spPr>
        <p:txBody>
          <a:bodyPr/>
          <a:p/>
        </p:txBody>
      </p:sp>
      <p:sp>
        <p:nvSpPr>
          <p:cNvPr id="9" name="texto-65"/>
          <p:cNvSpPr txBox="1"/>
          <p:nvPr/>
        </p:nvSpPr>
        <p:spPr>
          <a:xfrm>
            <a:off x="3072384" y="1920240"/>
            <a:ext cx="548640" cy="274320"/>
          </a:xfrm>
          <a:prstGeom prst="rect">
            <a:avLst/>
          </a:prstGeom>
          <a:noFill/>
          <a:ln/>
        </p:spPr>
        <p:txBody>
          <a:bodyPr wrap="square" lIns="0" tIns="0" rIns="0" bIns="0" rtlCol="0" anchor="t"/>
          <a:lstStyle/>
          <a:p>
            <a:pPr indent="0" marL="0">
              <a:buNone/>
            </a:pPr>
            <a:r>
              <a:rPr lang="en-US" sz="1300" b="1" dirty="0">
                <a:solidFill>
                  <a:schemeClr val="accent2"/>
                </a:solidFill>
              </a:rPr>
              <a:t>S1</a:t>
            </a:r>
            <a:endParaRPr lang="en-US" sz="1300" dirty="0"/>
          </a:p>
        </p:txBody>
      </p:sp>
      <p:sp>
        <p:nvSpPr>
          <p:cNvPr id="10" name="texto-66"/>
          <p:cNvSpPr txBox="1"/>
          <p:nvPr/>
        </p:nvSpPr>
        <p:spPr>
          <a:xfrm>
            <a:off x="3072384" y="2194560"/>
            <a:ext cx="1655064" cy="274320"/>
          </a:xfrm>
          <a:prstGeom prst="rect">
            <a:avLst/>
          </a:prstGeom>
          <a:noFill/>
          <a:ln/>
        </p:spPr>
        <p:txBody>
          <a:bodyPr wrap="square" lIns="0" tIns="0" rIns="0" bIns="0" rtlCol="0" anchor="t"/>
          <a:lstStyle/>
          <a:p>
            <a:pPr indent="0" marL="0">
              <a:buNone/>
            </a:pPr>
            <a:r>
              <a:rPr lang="en-US" sz="1400" b="1" dirty="0">
                <a:solidFill>
                  <a:srgbClr val="1A2430"/>
                </a:solidFill>
              </a:rPr>
              <a:t>Limpieza</a:t>
            </a:r>
            <a:endParaRPr lang="en-US" sz="1400" dirty="0"/>
          </a:p>
        </p:txBody>
      </p:sp>
      <p:sp>
        <p:nvSpPr>
          <p:cNvPr id="11" name="texto-67"/>
          <p:cNvSpPr txBox="1"/>
          <p:nvPr/>
        </p:nvSpPr>
        <p:spPr>
          <a:xfrm>
            <a:off x="3072384" y="2487168"/>
            <a:ext cx="1655064" cy="384048"/>
          </a:xfrm>
          <a:prstGeom prst="rect">
            <a:avLst/>
          </a:prstGeom>
          <a:noFill/>
          <a:ln/>
        </p:spPr>
        <p:txBody>
          <a:bodyPr wrap="square" lIns="0" tIns="0" rIns="0" bIns="0" rtlCol="0" anchor="t"/>
          <a:lstStyle/>
          <a:p>
            <a:pPr indent="0" marL="0">
              <a:buNone/>
            </a:pPr>
            <a:r>
              <a:rPr lang="en-US" sz="1150" dirty="0">
                <a:solidFill>
                  <a:schemeClr val="accent5"/>
                </a:solidFill>
              </a:rPr>
              <a:t>Merge sort + búsqueda binaria</a:t>
            </a:r>
            <a:endParaRPr lang="en-US" sz="1150" dirty="0"/>
          </a:p>
        </p:txBody>
      </p:sp>
      <p:sp>
        <p:nvSpPr>
          <p:cNvPr id="12" name="flecha-68"/>
          <p:cNvSpPr/>
          <p:nvPr/>
        </p:nvSpPr>
        <p:spPr>
          <a:xfrm>
            <a:off x="2679192" y="2386584"/>
            <a:ext cx="256032" cy="0"/>
          </a:xfrm>
          <a:prstGeom prst="line">
            <a:avLst/>
          </a:prstGeom>
          <a:noFill/>
          <a:ln w="19050">
            <a:solidFill>
              <a:srgbClr val="8A94A3"/>
            </a:solidFill>
            <a:prstDash val="solid"/>
            <a:tailEnd type="triangle"/>
          </a:ln>
        </p:spPr>
        <p:txBody>
          <a:bodyPr/>
          <a:p/>
        </p:txBody>
      </p:sp>
      <p:sp>
        <p:nvSpPr>
          <p:cNvPr id="13" name="tarjeta-69"/>
          <p:cNvSpPr/>
          <p:nvPr/>
        </p:nvSpPr>
        <p:spPr>
          <a:xfrm>
            <a:off x="5148072" y="1828800"/>
            <a:ext cx="1874520" cy="1115568"/>
          </a:xfrm>
          <a:prstGeom prst="roundRect">
            <a:avLst>
              <a:gd name="adj" fmla="val 6557"/>
            </a:avLst>
          </a:prstGeom>
          <a:solidFill>
            <a:srgbClr val="FFFFFF"/>
          </a:solidFill>
          <a:ln w="9525">
            <a:solidFill>
              <a:srgbClr val="E2E8F0"/>
            </a:solidFill>
            <a:prstDash val="solid"/>
          </a:ln>
        </p:spPr>
        <p:txBody>
          <a:bodyPr/>
          <a:p/>
        </p:txBody>
      </p:sp>
      <p:sp>
        <p:nvSpPr>
          <p:cNvPr id="14" name="texto-70"/>
          <p:cNvSpPr txBox="1"/>
          <p:nvPr/>
        </p:nvSpPr>
        <p:spPr>
          <a:xfrm>
            <a:off x="5257800" y="1920240"/>
            <a:ext cx="548640" cy="274320"/>
          </a:xfrm>
          <a:prstGeom prst="rect">
            <a:avLst/>
          </a:prstGeom>
          <a:noFill/>
          <a:ln/>
        </p:spPr>
        <p:txBody>
          <a:bodyPr wrap="square" lIns="0" tIns="0" rIns="0" bIns="0" rtlCol="0" anchor="t"/>
          <a:lstStyle/>
          <a:p>
            <a:pPr indent="0" marL="0">
              <a:buNone/>
            </a:pPr>
            <a:r>
              <a:rPr lang="en-US" sz="1300" b="1" dirty="0">
                <a:solidFill>
                  <a:schemeClr val="accent2"/>
                </a:solidFill>
              </a:rPr>
              <a:t>S2</a:t>
            </a:r>
            <a:endParaRPr lang="en-US" sz="1300" dirty="0"/>
          </a:p>
        </p:txBody>
      </p:sp>
      <p:sp>
        <p:nvSpPr>
          <p:cNvPr id="15" name="texto-71"/>
          <p:cNvSpPr txBox="1"/>
          <p:nvPr/>
        </p:nvSpPr>
        <p:spPr>
          <a:xfrm>
            <a:off x="5257800" y="2194560"/>
            <a:ext cx="1655064" cy="274320"/>
          </a:xfrm>
          <a:prstGeom prst="rect">
            <a:avLst/>
          </a:prstGeom>
          <a:noFill/>
          <a:ln/>
        </p:spPr>
        <p:txBody>
          <a:bodyPr wrap="square" lIns="0" tIns="0" rIns="0" bIns="0" rtlCol="0" anchor="t"/>
          <a:lstStyle/>
          <a:p>
            <a:pPr indent="0" marL="0">
              <a:buNone/>
            </a:pPr>
            <a:r>
              <a:rPr lang="en-US" sz="1400" b="1" dirty="0">
                <a:solidFill>
                  <a:srgbClr val="1A2430"/>
                </a:solidFill>
              </a:rPr>
              <a:t>Prioridad</a:t>
            </a:r>
            <a:endParaRPr lang="en-US" sz="1400" dirty="0"/>
          </a:p>
        </p:txBody>
      </p:sp>
      <p:sp>
        <p:nvSpPr>
          <p:cNvPr id="16" name="texto-72"/>
          <p:cNvSpPr txBox="1"/>
          <p:nvPr/>
        </p:nvSpPr>
        <p:spPr>
          <a:xfrm>
            <a:off x="5257800" y="2487168"/>
            <a:ext cx="1655064" cy="384048"/>
          </a:xfrm>
          <a:prstGeom prst="rect">
            <a:avLst/>
          </a:prstGeom>
          <a:noFill/>
          <a:ln/>
        </p:spPr>
        <p:txBody>
          <a:bodyPr wrap="square" lIns="0" tIns="0" rIns="0" bIns="0" rtlCol="0" anchor="t"/>
          <a:lstStyle/>
          <a:p>
            <a:pPr indent="0" marL="0">
              <a:buNone/>
            </a:pPr>
            <a:r>
              <a:rPr lang="en-US" sz="1150" dirty="0">
                <a:solidFill>
                  <a:schemeClr val="accent5"/>
                </a:solidFill>
              </a:rPr>
              <a:t>Heap binario</a:t>
            </a:r>
            <a:endParaRPr lang="en-US" sz="1150" dirty="0"/>
          </a:p>
        </p:txBody>
      </p:sp>
      <p:sp>
        <p:nvSpPr>
          <p:cNvPr id="17" name="flecha-73"/>
          <p:cNvSpPr/>
          <p:nvPr/>
        </p:nvSpPr>
        <p:spPr>
          <a:xfrm>
            <a:off x="4864608" y="2386584"/>
            <a:ext cx="256032" cy="0"/>
          </a:xfrm>
          <a:prstGeom prst="line">
            <a:avLst/>
          </a:prstGeom>
          <a:noFill/>
          <a:ln w="19050">
            <a:solidFill>
              <a:srgbClr val="8A94A3"/>
            </a:solidFill>
            <a:prstDash val="solid"/>
            <a:tailEnd type="triangle"/>
          </a:ln>
        </p:spPr>
        <p:txBody>
          <a:bodyPr/>
          <a:p/>
        </p:txBody>
      </p:sp>
      <p:sp>
        <p:nvSpPr>
          <p:cNvPr id="18" name="tarjeta-74"/>
          <p:cNvSpPr/>
          <p:nvPr/>
        </p:nvSpPr>
        <p:spPr>
          <a:xfrm>
            <a:off x="7333488" y="1828800"/>
            <a:ext cx="1874520" cy="1115568"/>
          </a:xfrm>
          <a:prstGeom prst="roundRect">
            <a:avLst>
              <a:gd name="adj" fmla="val 6557"/>
            </a:avLst>
          </a:prstGeom>
          <a:solidFill>
            <a:srgbClr val="FFFFFF"/>
          </a:solidFill>
          <a:ln w="9525">
            <a:solidFill>
              <a:srgbClr val="E2E8F0"/>
            </a:solidFill>
            <a:prstDash val="solid"/>
          </a:ln>
        </p:spPr>
        <p:txBody>
          <a:bodyPr/>
          <a:p/>
        </p:txBody>
      </p:sp>
      <p:sp>
        <p:nvSpPr>
          <p:cNvPr id="19" name="texto-75"/>
          <p:cNvSpPr txBox="1"/>
          <p:nvPr/>
        </p:nvSpPr>
        <p:spPr>
          <a:xfrm>
            <a:off x="7443216" y="1920240"/>
            <a:ext cx="548640" cy="274320"/>
          </a:xfrm>
          <a:prstGeom prst="rect">
            <a:avLst/>
          </a:prstGeom>
          <a:noFill/>
          <a:ln/>
        </p:spPr>
        <p:txBody>
          <a:bodyPr wrap="square" lIns="0" tIns="0" rIns="0" bIns="0" rtlCol="0" anchor="t"/>
          <a:lstStyle/>
          <a:p>
            <a:pPr indent="0" marL="0">
              <a:buNone/>
            </a:pPr>
            <a:r>
              <a:rPr lang="en-US" sz="1300" b="1" dirty="0">
                <a:solidFill>
                  <a:schemeClr val="accent2"/>
                </a:solidFill>
              </a:rPr>
              <a:t>S3</a:t>
            </a:r>
            <a:endParaRPr lang="en-US" sz="1300" dirty="0"/>
          </a:p>
        </p:txBody>
      </p:sp>
      <p:sp>
        <p:nvSpPr>
          <p:cNvPr id="20" name="texto-76"/>
          <p:cNvSpPr txBox="1"/>
          <p:nvPr/>
        </p:nvSpPr>
        <p:spPr>
          <a:xfrm>
            <a:off x="7443216" y="2194560"/>
            <a:ext cx="1655064" cy="274320"/>
          </a:xfrm>
          <a:prstGeom prst="rect">
            <a:avLst/>
          </a:prstGeom>
          <a:noFill/>
          <a:ln/>
        </p:spPr>
        <p:txBody>
          <a:bodyPr wrap="square" lIns="0" tIns="0" rIns="0" bIns="0" rtlCol="0" anchor="t"/>
          <a:lstStyle/>
          <a:p>
            <a:pPr indent="0" marL="0">
              <a:buNone/>
            </a:pPr>
            <a:r>
              <a:rPr lang="en-US" sz="1400" b="1" dirty="0">
                <a:solidFill>
                  <a:srgbClr val="1A2430"/>
                </a:solidFill>
              </a:rPr>
              <a:t>Almacenamiento</a:t>
            </a:r>
            <a:endParaRPr lang="en-US" sz="1400" dirty="0"/>
          </a:p>
        </p:txBody>
      </p:sp>
      <p:sp>
        <p:nvSpPr>
          <p:cNvPr id="21" name="texto-77"/>
          <p:cNvSpPr txBox="1"/>
          <p:nvPr/>
        </p:nvSpPr>
        <p:spPr>
          <a:xfrm>
            <a:off x="7443216" y="2487168"/>
            <a:ext cx="1655064" cy="384048"/>
          </a:xfrm>
          <a:prstGeom prst="rect">
            <a:avLst/>
          </a:prstGeom>
          <a:noFill/>
          <a:ln/>
        </p:spPr>
        <p:txBody>
          <a:bodyPr wrap="square" lIns="0" tIns="0" rIns="0" bIns="0" rtlCol="0" anchor="t"/>
          <a:lstStyle/>
          <a:p>
            <a:pPr indent="0" marL="0">
              <a:buNone/>
            </a:pPr>
            <a:r>
              <a:rPr lang="en-US" sz="1150" dirty="0">
                <a:solidFill>
                  <a:schemeClr val="accent5"/>
                </a:solidFill>
              </a:rPr>
              <a:t>Hash, LRU, matriz dispersa</a:t>
            </a:r>
            <a:endParaRPr lang="en-US" sz="1150" dirty="0"/>
          </a:p>
        </p:txBody>
      </p:sp>
      <p:sp>
        <p:nvSpPr>
          <p:cNvPr id="22" name="flecha-78"/>
          <p:cNvSpPr/>
          <p:nvPr/>
        </p:nvSpPr>
        <p:spPr>
          <a:xfrm>
            <a:off x="7050024" y="2386584"/>
            <a:ext cx="256032" cy="0"/>
          </a:xfrm>
          <a:prstGeom prst="line">
            <a:avLst/>
          </a:prstGeom>
          <a:noFill/>
          <a:ln w="19050">
            <a:solidFill>
              <a:srgbClr val="8A94A3"/>
            </a:solidFill>
            <a:prstDash val="solid"/>
            <a:tailEnd type="triangle"/>
          </a:ln>
        </p:spPr>
        <p:txBody>
          <a:bodyPr/>
          <a:p/>
        </p:txBody>
      </p:sp>
      <p:sp>
        <p:nvSpPr>
          <p:cNvPr id="23" name="tarjeta-79"/>
          <p:cNvSpPr/>
          <p:nvPr/>
        </p:nvSpPr>
        <p:spPr>
          <a:xfrm>
            <a:off x="9518904" y="1828800"/>
            <a:ext cx="1874520" cy="1115568"/>
          </a:xfrm>
          <a:prstGeom prst="roundRect">
            <a:avLst>
              <a:gd name="adj" fmla="val 6557"/>
            </a:avLst>
          </a:prstGeom>
          <a:solidFill>
            <a:schemeClr val="accent6"/>
          </a:solidFill>
          <a:ln w="19050">
            <a:solidFill>
              <a:schemeClr val="accent1"/>
            </a:solidFill>
            <a:prstDash val="solid"/>
          </a:ln>
        </p:spPr>
        <p:txBody>
          <a:bodyPr/>
          <a:p/>
        </p:txBody>
      </p:sp>
      <p:sp>
        <p:nvSpPr>
          <p:cNvPr id="24" name="texto-80"/>
          <p:cNvSpPr txBox="1"/>
          <p:nvPr/>
        </p:nvSpPr>
        <p:spPr>
          <a:xfrm>
            <a:off x="9628632" y="1920240"/>
            <a:ext cx="548640" cy="274320"/>
          </a:xfrm>
          <a:prstGeom prst="rect">
            <a:avLst/>
          </a:prstGeom>
          <a:noFill/>
          <a:ln/>
        </p:spPr>
        <p:txBody>
          <a:bodyPr wrap="square" lIns="0" tIns="0" rIns="0" bIns="0" rtlCol="0" anchor="t"/>
          <a:lstStyle/>
          <a:p>
            <a:pPr indent="0" marL="0">
              <a:buNone/>
            </a:pPr>
            <a:r>
              <a:rPr lang="en-US" sz="1300" b="1" dirty="0">
                <a:solidFill>
                  <a:schemeClr val="accent2"/>
                </a:solidFill>
              </a:rPr>
              <a:t>S6</a:t>
            </a:r>
            <a:endParaRPr lang="en-US" sz="1300" dirty="0"/>
          </a:p>
        </p:txBody>
      </p:sp>
      <p:sp>
        <p:nvSpPr>
          <p:cNvPr id="25" name="texto-81"/>
          <p:cNvSpPr txBox="1"/>
          <p:nvPr/>
        </p:nvSpPr>
        <p:spPr>
          <a:xfrm>
            <a:off x="9628632" y="2194560"/>
            <a:ext cx="1655064" cy="274320"/>
          </a:xfrm>
          <a:prstGeom prst="rect">
            <a:avLst/>
          </a:prstGeom>
          <a:noFill/>
          <a:ln/>
        </p:spPr>
        <p:txBody>
          <a:bodyPr wrap="square" lIns="0" tIns="0" rIns="0" bIns="0" rtlCol="0" anchor="t"/>
          <a:lstStyle/>
          <a:p>
            <a:pPr indent="0" marL="0">
              <a:buNone/>
            </a:pPr>
            <a:r>
              <a:rPr lang="en-US" sz="1400" b="1" dirty="0">
                <a:solidFill>
                  <a:srgbClr val="1A2430"/>
                </a:solidFill>
              </a:rPr>
              <a:t>Filtrado [FIJA]</a:t>
            </a:r>
            <a:endParaRPr lang="en-US" sz="1400" dirty="0"/>
          </a:p>
        </p:txBody>
      </p:sp>
      <p:sp>
        <p:nvSpPr>
          <p:cNvPr id="26" name="texto-82"/>
          <p:cNvSpPr txBox="1"/>
          <p:nvPr/>
        </p:nvSpPr>
        <p:spPr>
          <a:xfrm>
            <a:off x="9628632" y="2487168"/>
            <a:ext cx="1655064" cy="384048"/>
          </a:xfrm>
          <a:prstGeom prst="rect">
            <a:avLst/>
          </a:prstGeom>
          <a:noFill/>
          <a:ln/>
        </p:spPr>
        <p:txBody>
          <a:bodyPr wrap="square" lIns="0" tIns="0" rIns="0" bIns="0" rtlCol="0" anchor="t"/>
          <a:lstStyle/>
          <a:p>
            <a:pPr indent="0" marL="0">
              <a:buNone/>
            </a:pPr>
            <a:r>
              <a:rPr lang="en-US" sz="1150" dirty="0">
                <a:solidFill>
                  <a:schemeClr val="accent5"/>
                </a:solidFill>
              </a:rPr>
              <a:t>Bloom + Count-Min</a:t>
            </a:r>
            <a:endParaRPr lang="en-US" sz="1150" dirty="0"/>
          </a:p>
        </p:txBody>
      </p:sp>
      <p:sp>
        <p:nvSpPr>
          <p:cNvPr id="27" name="flecha-83"/>
          <p:cNvSpPr/>
          <p:nvPr/>
        </p:nvSpPr>
        <p:spPr>
          <a:xfrm>
            <a:off x="9235440" y="2386584"/>
            <a:ext cx="256032" cy="0"/>
          </a:xfrm>
          <a:prstGeom prst="line">
            <a:avLst/>
          </a:prstGeom>
          <a:noFill/>
          <a:ln w="19050">
            <a:solidFill>
              <a:srgbClr val="8A94A3"/>
            </a:solidFill>
            <a:prstDash val="solid"/>
            <a:tailEnd type="triangle"/>
          </a:ln>
        </p:spPr>
        <p:txBody>
          <a:bodyPr/>
          <a:p/>
        </p:txBody>
      </p:sp>
      <p:sp>
        <p:nvSpPr>
          <p:cNvPr id="28" name="bus-v"/>
          <p:cNvSpPr/>
          <p:nvPr/>
        </p:nvSpPr>
        <p:spPr>
          <a:xfrm>
            <a:off x="10456164" y="2944368"/>
            <a:ext cx="0" cy="347472"/>
          </a:xfrm>
          <a:prstGeom prst="line">
            <a:avLst/>
          </a:prstGeom>
          <a:noFill/>
          <a:ln w="19050">
            <a:solidFill>
              <a:srgbClr val="8A94A3"/>
            </a:solidFill>
            <a:prstDash val="solid"/>
          </a:ln>
        </p:spPr>
        <p:txBody>
          <a:bodyPr/>
          <a:p/>
        </p:txBody>
      </p:sp>
      <p:sp>
        <p:nvSpPr>
          <p:cNvPr id="29" name="bus-h"/>
          <p:cNvSpPr/>
          <p:nvPr/>
        </p:nvSpPr>
        <p:spPr>
          <a:xfrm>
            <a:off x="1714500" y="3291840"/>
            <a:ext cx="8741664" cy="0"/>
          </a:xfrm>
          <a:prstGeom prst="line">
            <a:avLst/>
          </a:prstGeom>
          <a:noFill/>
          <a:ln w="19050">
            <a:solidFill>
              <a:srgbClr val="8A94A3"/>
            </a:solidFill>
            <a:prstDash val="solid"/>
          </a:ln>
        </p:spPr>
        <p:txBody>
          <a:bodyPr/>
          <a:p/>
        </p:txBody>
      </p:sp>
      <p:sp>
        <p:nvSpPr>
          <p:cNvPr id="30" name="texto-84"/>
          <p:cNvSpPr txBox="1"/>
          <p:nvPr/>
        </p:nvSpPr>
        <p:spPr>
          <a:xfrm>
            <a:off x="1805940" y="3017520"/>
            <a:ext cx="1828800" cy="237744"/>
          </a:xfrm>
          <a:prstGeom prst="rect">
            <a:avLst/>
          </a:prstGeom>
          <a:noFill/>
          <a:ln/>
        </p:spPr>
        <p:txBody>
          <a:bodyPr wrap="square" lIns="0" tIns="0" rIns="0" bIns="0" rtlCol="0" anchor="t"/>
          <a:lstStyle/>
          <a:p>
            <a:pPr indent="0" marL="0">
              <a:buNone/>
            </a:pPr>
            <a:r>
              <a:rPr lang="en-US" sz="1100" i="1" dirty="0">
                <a:solidFill>
                  <a:schemeClr val="accent5"/>
                </a:solidFill>
              </a:rPr>
              <a:t>eventos legítimos</a:t>
            </a:r>
            <a:endParaRPr lang="en-US" sz="1100" dirty="0"/>
          </a:p>
        </p:txBody>
      </p:sp>
      <p:sp>
        <p:nvSpPr>
          <p:cNvPr id="31" name="flecha-85"/>
          <p:cNvSpPr/>
          <p:nvPr/>
        </p:nvSpPr>
        <p:spPr>
          <a:xfrm>
            <a:off x="1714500" y="3291840"/>
            <a:ext cx="0" cy="292608"/>
          </a:xfrm>
          <a:prstGeom prst="line">
            <a:avLst/>
          </a:prstGeom>
          <a:noFill/>
          <a:ln w="19050">
            <a:solidFill>
              <a:srgbClr val="8A94A3"/>
            </a:solidFill>
            <a:prstDash val="solid"/>
            <a:tailEnd type="triangle"/>
          </a:ln>
        </p:spPr>
        <p:txBody>
          <a:bodyPr/>
          <a:p/>
        </p:txBody>
      </p:sp>
      <p:sp>
        <p:nvSpPr>
          <p:cNvPr id="32" name="tarjeta-86"/>
          <p:cNvSpPr/>
          <p:nvPr/>
        </p:nvSpPr>
        <p:spPr>
          <a:xfrm>
            <a:off x="777240" y="3611880"/>
            <a:ext cx="1874520" cy="1115568"/>
          </a:xfrm>
          <a:prstGeom prst="roundRect">
            <a:avLst>
              <a:gd name="adj" fmla="val 6557"/>
            </a:avLst>
          </a:prstGeom>
          <a:solidFill>
            <a:srgbClr val="FFFFFF"/>
          </a:solidFill>
          <a:ln w="9525">
            <a:solidFill>
              <a:srgbClr val="E2E8F0"/>
            </a:solidFill>
            <a:prstDash val="solid"/>
          </a:ln>
        </p:spPr>
        <p:txBody>
          <a:bodyPr/>
          <a:p/>
        </p:txBody>
      </p:sp>
      <p:sp>
        <p:nvSpPr>
          <p:cNvPr id="33" name="texto-87"/>
          <p:cNvSpPr txBox="1"/>
          <p:nvPr/>
        </p:nvSpPr>
        <p:spPr>
          <a:xfrm>
            <a:off x="886968" y="3703320"/>
            <a:ext cx="548640" cy="274320"/>
          </a:xfrm>
          <a:prstGeom prst="rect">
            <a:avLst/>
          </a:prstGeom>
          <a:noFill/>
          <a:ln/>
        </p:spPr>
        <p:txBody>
          <a:bodyPr wrap="square" lIns="0" tIns="0" rIns="0" bIns="0" rtlCol="0" anchor="t"/>
          <a:lstStyle/>
          <a:p>
            <a:pPr indent="0" marL="0">
              <a:buNone/>
            </a:pPr>
            <a:r>
              <a:rPr lang="en-US" sz="1300" b="1" dirty="0">
                <a:solidFill>
                  <a:schemeClr val="accent2"/>
                </a:solidFill>
              </a:rPr>
              <a:t>S4</a:t>
            </a:r>
            <a:endParaRPr lang="en-US" sz="1300" dirty="0"/>
          </a:p>
        </p:txBody>
      </p:sp>
      <p:sp>
        <p:nvSpPr>
          <p:cNvPr id="34" name="texto-88"/>
          <p:cNvSpPr txBox="1"/>
          <p:nvPr/>
        </p:nvSpPr>
        <p:spPr>
          <a:xfrm>
            <a:off x="886968" y="3977640"/>
            <a:ext cx="1655064" cy="274320"/>
          </a:xfrm>
          <a:prstGeom prst="rect">
            <a:avLst/>
          </a:prstGeom>
          <a:noFill/>
          <a:ln/>
        </p:spPr>
        <p:txBody>
          <a:bodyPr wrap="square" lIns="0" tIns="0" rIns="0" bIns="0" rtlCol="0" anchor="t"/>
          <a:lstStyle/>
          <a:p>
            <a:pPr indent="0" marL="0">
              <a:buNone/>
            </a:pPr>
            <a:r>
              <a:rPr lang="en-US" sz="1400" b="1" dirty="0">
                <a:solidFill>
                  <a:srgbClr val="1A2430"/>
                </a:solidFill>
              </a:rPr>
              <a:t>Índice en disco</a:t>
            </a:r>
            <a:endParaRPr lang="en-US" sz="1400" dirty="0"/>
          </a:p>
        </p:txBody>
      </p:sp>
      <p:sp>
        <p:nvSpPr>
          <p:cNvPr id="35" name="texto-89"/>
          <p:cNvSpPr txBox="1"/>
          <p:nvPr/>
        </p:nvSpPr>
        <p:spPr>
          <a:xfrm>
            <a:off x="886968" y="4270248"/>
            <a:ext cx="1655064" cy="384048"/>
          </a:xfrm>
          <a:prstGeom prst="rect">
            <a:avLst/>
          </a:prstGeom>
          <a:noFill/>
          <a:ln/>
        </p:spPr>
        <p:txBody>
          <a:bodyPr wrap="square" lIns="0" tIns="0" rIns="0" bIns="0" rtlCol="0" anchor="t"/>
          <a:lstStyle/>
          <a:p>
            <a:pPr indent="0" marL="0">
              <a:buNone/>
            </a:pPr>
            <a:r>
              <a:rPr lang="en-US" sz="1150" dirty="0">
                <a:solidFill>
                  <a:schemeClr val="accent5"/>
                </a:solidFill>
              </a:rPr>
              <a:t>B+Tree, páginas de 4 KB</a:t>
            </a:r>
            <a:endParaRPr lang="en-US" sz="1150" dirty="0"/>
          </a:p>
        </p:txBody>
      </p:sp>
      <p:sp>
        <p:nvSpPr>
          <p:cNvPr id="36" name="flecha-90"/>
          <p:cNvSpPr/>
          <p:nvPr/>
        </p:nvSpPr>
        <p:spPr>
          <a:xfrm>
            <a:off x="3899916" y="3291840"/>
            <a:ext cx="0" cy="292608"/>
          </a:xfrm>
          <a:prstGeom prst="line">
            <a:avLst/>
          </a:prstGeom>
          <a:noFill/>
          <a:ln w="19050">
            <a:solidFill>
              <a:srgbClr val="8A94A3"/>
            </a:solidFill>
            <a:prstDash val="solid"/>
            <a:tailEnd type="triangle"/>
          </a:ln>
        </p:spPr>
        <p:txBody>
          <a:bodyPr/>
          <a:p/>
        </p:txBody>
      </p:sp>
      <p:sp>
        <p:nvSpPr>
          <p:cNvPr id="37" name="tarjeta-91"/>
          <p:cNvSpPr/>
          <p:nvPr/>
        </p:nvSpPr>
        <p:spPr>
          <a:xfrm>
            <a:off x="2962656" y="3611880"/>
            <a:ext cx="1874520" cy="1115568"/>
          </a:xfrm>
          <a:prstGeom prst="roundRect">
            <a:avLst>
              <a:gd name="adj" fmla="val 6557"/>
            </a:avLst>
          </a:prstGeom>
          <a:solidFill>
            <a:srgbClr val="FFFFFF"/>
          </a:solidFill>
          <a:ln w="9525">
            <a:solidFill>
              <a:srgbClr val="E2E8F0"/>
            </a:solidFill>
            <a:prstDash val="solid"/>
          </a:ln>
        </p:spPr>
        <p:txBody>
          <a:bodyPr/>
          <a:p/>
        </p:txBody>
      </p:sp>
      <p:sp>
        <p:nvSpPr>
          <p:cNvPr id="38" name="texto-92"/>
          <p:cNvSpPr txBox="1"/>
          <p:nvPr/>
        </p:nvSpPr>
        <p:spPr>
          <a:xfrm>
            <a:off x="3072384" y="3703320"/>
            <a:ext cx="548640" cy="274320"/>
          </a:xfrm>
          <a:prstGeom prst="rect">
            <a:avLst/>
          </a:prstGeom>
          <a:noFill/>
          <a:ln/>
        </p:spPr>
        <p:txBody>
          <a:bodyPr wrap="square" lIns="0" tIns="0" rIns="0" bIns="0" rtlCol="0" anchor="t"/>
          <a:lstStyle/>
          <a:p>
            <a:pPr indent="0" marL="0">
              <a:buNone/>
            </a:pPr>
            <a:r>
              <a:rPr lang="en-US" sz="1300" b="1" dirty="0">
                <a:solidFill>
                  <a:schemeClr val="accent2"/>
                </a:solidFill>
              </a:rPr>
              <a:t>S5</a:t>
            </a:r>
            <a:endParaRPr lang="en-US" sz="1300" dirty="0"/>
          </a:p>
        </p:txBody>
      </p:sp>
      <p:sp>
        <p:nvSpPr>
          <p:cNvPr id="39" name="texto-93"/>
          <p:cNvSpPr txBox="1"/>
          <p:nvPr/>
        </p:nvSpPr>
        <p:spPr>
          <a:xfrm>
            <a:off x="3072384" y="3977640"/>
            <a:ext cx="1655064" cy="274320"/>
          </a:xfrm>
          <a:prstGeom prst="rect">
            <a:avLst/>
          </a:prstGeom>
          <a:noFill/>
          <a:ln/>
        </p:spPr>
        <p:txBody>
          <a:bodyPr wrap="square" lIns="0" tIns="0" rIns="0" bIns="0" rtlCol="0" anchor="t"/>
          <a:lstStyle/>
          <a:p>
            <a:pPr indent="0" marL="0">
              <a:buNone/>
            </a:pPr>
            <a:r>
              <a:rPr lang="en-US" sz="1400" b="1" dirty="0">
                <a:solidFill>
                  <a:srgbClr val="1A2430"/>
                </a:solidFill>
              </a:rPr>
              <a:t>Atributos</a:t>
            </a:r>
            <a:endParaRPr lang="en-US" sz="1400" dirty="0"/>
          </a:p>
        </p:txBody>
      </p:sp>
      <p:sp>
        <p:nvSpPr>
          <p:cNvPr id="40" name="texto-94"/>
          <p:cNvSpPr txBox="1"/>
          <p:nvPr/>
        </p:nvSpPr>
        <p:spPr>
          <a:xfrm>
            <a:off x="3072384" y="4270248"/>
            <a:ext cx="1655064" cy="384048"/>
          </a:xfrm>
          <a:prstGeom prst="rect">
            <a:avLst/>
          </a:prstGeom>
          <a:noFill/>
          <a:ln/>
        </p:spPr>
        <p:txBody>
          <a:bodyPr wrap="square" lIns="0" tIns="0" rIns="0" bIns="0" rtlCol="0" anchor="t"/>
          <a:lstStyle/>
          <a:p>
            <a:pPr indent="0" marL="0">
              <a:buNone/>
            </a:pPr>
            <a:r>
              <a:rPr lang="en-US" sz="1150" dirty="0">
                <a:solidFill>
                  <a:schemeClr val="accent5"/>
                </a:solidFill>
              </a:rPr>
              <a:t>KD-Tree 3D + KNN exacto</a:t>
            </a:r>
            <a:endParaRPr lang="en-US" sz="1150" dirty="0"/>
          </a:p>
        </p:txBody>
      </p:sp>
      <p:sp>
        <p:nvSpPr>
          <p:cNvPr id="41" name="flecha-95"/>
          <p:cNvSpPr/>
          <p:nvPr/>
        </p:nvSpPr>
        <p:spPr>
          <a:xfrm>
            <a:off x="6085332" y="3291840"/>
            <a:ext cx="0" cy="292608"/>
          </a:xfrm>
          <a:prstGeom prst="line">
            <a:avLst/>
          </a:prstGeom>
          <a:noFill/>
          <a:ln w="19050">
            <a:solidFill>
              <a:srgbClr val="8A94A3"/>
            </a:solidFill>
            <a:prstDash val="solid"/>
            <a:tailEnd type="triangle"/>
          </a:ln>
        </p:spPr>
        <p:txBody>
          <a:bodyPr/>
          <a:p/>
        </p:txBody>
      </p:sp>
      <p:sp>
        <p:nvSpPr>
          <p:cNvPr id="42" name="tarjeta-96"/>
          <p:cNvSpPr/>
          <p:nvPr/>
        </p:nvSpPr>
        <p:spPr>
          <a:xfrm>
            <a:off x="5148072" y="3611880"/>
            <a:ext cx="1874520" cy="1115568"/>
          </a:xfrm>
          <a:prstGeom prst="roundRect">
            <a:avLst>
              <a:gd name="adj" fmla="val 6557"/>
            </a:avLst>
          </a:prstGeom>
          <a:solidFill>
            <a:schemeClr val="accent6"/>
          </a:solidFill>
          <a:ln w="19050">
            <a:solidFill>
              <a:schemeClr val="accent1"/>
            </a:solidFill>
            <a:prstDash val="solid"/>
          </a:ln>
        </p:spPr>
        <p:txBody>
          <a:bodyPr/>
          <a:p/>
        </p:txBody>
      </p:sp>
      <p:sp>
        <p:nvSpPr>
          <p:cNvPr id="43" name="texto-97"/>
          <p:cNvSpPr txBox="1"/>
          <p:nvPr/>
        </p:nvSpPr>
        <p:spPr>
          <a:xfrm>
            <a:off x="5257800" y="3703320"/>
            <a:ext cx="548640" cy="274320"/>
          </a:xfrm>
          <a:prstGeom prst="rect">
            <a:avLst/>
          </a:prstGeom>
          <a:noFill/>
          <a:ln/>
        </p:spPr>
        <p:txBody>
          <a:bodyPr wrap="square" lIns="0" tIns="0" rIns="0" bIns="0" rtlCol="0" anchor="t"/>
          <a:lstStyle/>
          <a:p>
            <a:pPr indent="0" marL="0">
              <a:buNone/>
            </a:pPr>
            <a:r>
              <a:rPr lang="en-US" sz="1300" b="1" dirty="0">
                <a:solidFill>
                  <a:schemeClr val="accent2"/>
                </a:solidFill>
              </a:rPr>
              <a:t>S7</a:t>
            </a:r>
            <a:endParaRPr lang="en-US" sz="1300" dirty="0"/>
          </a:p>
        </p:txBody>
      </p:sp>
      <p:sp>
        <p:nvSpPr>
          <p:cNvPr id="44" name="texto-98"/>
          <p:cNvSpPr txBox="1"/>
          <p:nvPr/>
        </p:nvSpPr>
        <p:spPr>
          <a:xfrm>
            <a:off x="5257800" y="3977640"/>
            <a:ext cx="1655064" cy="274320"/>
          </a:xfrm>
          <a:prstGeom prst="rect">
            <a:avLst/>
          </a:prstGeom>
          <a:noFill/>
          <a:ln/>
        </p:spPr>
        <p:txBody>
          <a:bodyPr wrap="square" lIns="0" tIns="0" rIns="0" bIns="0" rtlCol="0" anchor="t"/>
          <a:lstStyle/>
          <a:p>
            <a:pPr indent="0" marL="0">
              <a:buNone/>
            </a:pPr>
            <a:r>
              <a:rPr lang="en-US" sz="1400" b="1" dirty="0">
                <a:solidFill>
                  <a:srgbClr val="1A2430"/>
                </a:solidFill>
              </a:rPr>
              <a:t>Similitud [FIJA]</a:t>
            </a:r>
            <a:endParaRPr lang="en-US" sz="1400" dirty="0"/>
          </a:p>
        </p:txBody>
      </p:sp>
      <p:sp>
        <p:nvSpPr>
          <p:cNvPr id="45" name="texto-99"/>
          <p:cNvSpPr txBox="1"/>
          <p:nvPr/>
        </p:nvSpPr>
        <p:spPr>
          <a:xfrm>
            <a:off x="5257800" y="4270248"/>
            <a:ext cx="1655064" cy="384048"/>
          </a:xfrm>
          <a:prstGeom prst="rect">
            <a:avLst/>
          </a:prstGeom>
          <a:noFill/>
          <a:ln/>
        </p:spPr>
        <p:txBody>
          <a:bodyPr wrap="square" lIns="0" tIns="0" rIns="0" bIns="0" rtlCol="0" anchor="t"/>
          <a:lstStyle/>
          <a:p>
            <a:pPr indent="0" marL="0">
              <a:buNone/>
            </a:pPr>
            <a:r>
              <a:rPr lang="en-US" sz="1150" dirty="0">
                <a:solidFill>
                  <a:schemeClr val="accent5"/>
                </a:solidFill>
              </a:rPr>
              <a:t>MinHash + LSH, IVF</a:t>
            </a:r>
            <a:endParaRPr lang="en-US" sz="1150" dirty="0"/>
          </a:p>
        </p:txBody>
      </p:sp>
      <p:sp>
        <p:nvSpPr>
          <p:cNvPr id="46" name="flecha-100"/>
          <p:cNvSpPr/>
          <p:nvPr/>
        </p:nvSpPr>
        <p:spPr>
          <a:xfrm>
            <a:off x="8270748" y="3291840"/>
            <a:ext cx="0" cy="292608"/>
          </a:xfrm>
          <a:prstGeom prst="line">
            <a:avLst/>
          </a:prstGeom>
          <a:noFill/>
          <a:ln w="19050">
            <a:solidFill>
              <a:srgbClr val="8A94A3"/>
            </a:solidFill>
            <a:prstDash val="solid"/>
            <a:tailEnd type="triangle"/>
          </a:ln>
        </p:spPr>
        <p:txBody>
          <a:bodyPr/>
          <a:p/>
        </p:txBody>
      </p:sp>
      <p:sp>
        <p:nvSpPr>
          <p:cNvPr id="47" name="tarjeta-101"/>
          <p:cNvSpPr/>
          <p:nvPr/>
        </p:nvSpPr>
        <p:spPr>
          <a:xfrm>
            <a:off x="7333488" y="3611880"/>
            <a:ext cx="1874520" cy="1115568"/>
          </a:xfrm>
          <a:prstGeom prst="roundRect">
            <a:avLst>
              <a:gd name="adj" fmla="val 6557"/>
            </a:avLst>
          </a:prstGeom>
          <a:solidFill>
            <a:schemeClr val="accent6"/>
          </a:solidFill>
          <a:ln w="19050">
            <a:solidFill>
              <a:schemeClr val="accent1"/>
            </a:solidFill>
            <a:prstDash val="solid"/>
          </a:ln>
        </p:spPr>
        <p:txBody>
          <a:bodyPr/>
          <a:p/>
        </p:txBody>
      </p:sp>
      <p:sp>
        <p:nvSpPr>
          <p:cNvPr id="48" name="texto-102"/>
          <p:cNvSpPr txBox="1"/>
          <p:nvPr/>
        </p:nvSpPr>
        <p:spPr>
          <a:xfrm>
            <a:off x="7443216" y="3703320"/>
            <a:ext cx="548640" cy="274320"/>
          </a:xfrm>
          <a:prstGeom prst="rect">
            <a:avLst/>
          </a:prstGeom>
          <a:noFill/>
          <a:ln/>
        </p:spPr>
        <p:txBody>
          <a:bodyPr wrap="square" lIns="0" tIns="0" rIns="0" bIns="0" rtlCol="0" anchor="t"/>
          <a:lstStyle/>
          <a:p>
            <a:pPr indent="0" marL="0">
              <a:buNone/>
            </a:pPr>
            <a:r>
              <a:rPr lang="en-US" sz="1300" b="1" dirty="0">
                <a:solidFill>
                  <a:schemeClr val="accent2"/>
                </a:solidFill>
              </a:rPr>
              <a:t>S8</a:t>
            </a:r>
            <a:endParaRPr lang="en-US" sz="1300" dirty="0"/>
          </a:p>
        </p:txBody>
      </p:sp>
      <p:sp>
        <p:nvSpPr>
          <p:cNvPr id="49" name="texto-103"/>
          <p:cNvSpPr txBox="1"/>
          <p:nvPr/>
        </p:nvSpPr>
        <p:spPr>
          <a:xfrm>
            <a:off x="7443216" y="3977640"/>
            <a:ext cx="1655064" cy="274320"/>
          </a:xfrm>
          <a:prstGeom prst="rect">
            <a:avLst/>
          </a:prstGeom>
          <a:noFill/>
          <a:ln/>
        </p:spPr>
        <p:txBody>
          <a:bodyPr wrap="square" lIns="0" tIns="0" rIns="0" bIns="0" rtlCol="0" anchor="t"/>
          <a:lstStyle/>
          <a:p>
            <a:pPr indent="0" marL="0">
              <a:buNone/>
            </a:pPr>
            <a:r>
              <a:rPr lang="en-US" sz="1400" b="1" dirty="0">
                <a:solidFill>
                  <a:srgbClr val="1A2430"/>
                </a:solidFill>
              </a:rPr>
              <a:t>Grafo [FIJA]</a:t>
            </a:r>
            <a:endParaRPr lang="en-US" sz="1400" dirty="0"/>
          </a:p>
        </p:txBody>
      </p:sp>
      <p:sp>
        <p:nvSpPr>
          <p:cNvPr id="50" name="texto-104"/>
          <p:cNvSpPr txBox="1"/>
          <p:nvPr/>
        </p:nvSpPr>
        <p:spPr>
          <a:xfrm>
            <a:off x="7443216" y="4270248"/>
            <a:ext cx="1655064" cy="384048"/>
          </a:xfrm>
          <a:prstGeom prst="rect">
            <a:avLst/>
          </a:prstGeom>
          <a:noFill/>
          <a:ln/>
        </p:spPr>
        <p:txBody>
          <a:bodyPr wrap="square" lIns="0" tIns="0" rIns="0" bIns="0" rtlCol="0" anchor="t"/>
          <a:lstStyle/>
          <a:p>
            <a:pPr indent="0" marL="0">
              <a:buNone/>
            </a:pPr>
            <a:r>
              <a:rPr lang="en-US" sz="1150" dirty="0">
                <a:solidFill>
                  <a:schemeClr val="accent5"/>
                </a:solidFill>
              </a:rPr>
              <a:t>PageRank, Louvain, LPA</a:t>
            </a:r>
            <a:endParaRPr lang="en-US" sz="1150" dirty="0"/>
          </a:p>
        </p:txBody>
      </p:sp>
      <p:sp>
        <p:nvSpPr>
          <p:cNvPr id="51" name="tarjeta-105"/>
          <p:cNvSpPr/>
          <p:nvPr/>
        </p:nvSpPr>
        <p:spPr>
          <a:xfrm>
            <a:off x="9518904" y="3611880"/>
            <a:ext cx="1874520" cy="1115568"/>
          </a:xfrm>
          <a:prstGeom prst="roundRect">
            <a:avLst>
              <a:gd name="adj" fmla="val 6557"/>
            </a:avLst>
          </a:prstGeom>
          <a:solidFill>
            <a:srgbClr val="FFFFFF"/>
          </a:solidFill>
          <a:ln w="9525">
            <a:solidFill>
              <a:srgbClr val="E2E8F0"/>
            </a:solidFill>
            <a:prstDash val="solid"/>
          </a:ln>
        </p:spPr>
        <p:txBody>
          <a:bodyPr/>
          <a:p/>
        </p:txBody>
      </p:sp>
      <p:sp>
        <p:nvSpPr>
          <p:cNvPr id="52" name="texto-106"/>
          <p:cNvSpPr txBox="1"/>
          <p:nvPr/>
        </p:nvSpPr>
        <p:spPr>
          <a:xfrm>
            <a:off x="9628632" y="3703320"/>
            <a:ext cx="548640" cy="274320"/>
          </a:xfrm>
          <a:prstGeom prst="rect">
            <a:avLst/>
          </a:prstGeom>
          <a:noFill/>
          <a:ln/>
        </p:spPr>
        <p:txBody>
          <a:bodyPr wrap="square" lIns="0" tIns="0" rIns="0" bIns="0" rtlCol="0" anchor="t"/>
          <a:lstStyle/>
          <a:p>
            <a:pPr indent="0" marL="0">
              <a:buNone/>
            </a:pPr>
            <a:r>
              <a:rPr lang="en-US" sz="1300" b="1" dirty="0">
                <a:solidFill>
                  <a:schemeClr val="accent2"/>
                </a:solidFill>
              </a:rPr>
              <a:t>S9</a:t>
            </a:r>
            <a:endParaRPr lang="en-US" sz="1300" dirty="0"/>
          </a:p>
        </p:txBody>
      </p:sp>
      <p:sp>
        <p:nvSpPr>
          <p:cNvPr id="53" name="texto-107"/>
          <p:cNvSpPr txBox="1"/>
          <p:nvPr/>
        </p:nvSpPr>
        <p:spPr>
          <a:xfrm>
            <a:off x="9628632" y="3977640"/>
            <a:ext cx="1655064" cy="274320"/>
          </a:xfrm>
          <a:prstGeom prst="rect">
            <a:avLst/>
          </a:prstGeom>
          <a:noFill/>
          <a:ln/>
        </p:spPr>
        <p:txBody>
          <a:bodyPr wrap="square" lIns="0" tIns="0" rIns="0" bIns="0" rtlCol="0" anchor="t"/>
          <a:lstStyle/>
          <a:p>
            <a:pPr indent="0" marL="0">
              <a:buNone/>
            </a:pPr>
            <a:r>
              <a:rPr lang="en-US" sz="1400" b="1" dirty="0">
                <a:solidFill>
                  <a:srgbClr val="1A2430"/>
                </a:solidFill>
              </a:rPr>
              <a:t>Servicio</a:t>
            </a:r>
            <a:endParaRPr lang="en-US" sz="1400" dirty="0"/>
          </a:p>
        </p:txBody>
      </p:sp>
      <p:sp>
        <p:nvSpPr>
          <p:cNvPr id="54" name="texto-108"/>
          <p:cNvSpPr txBox="1"/>
          <p:nvPr/>
        </p:nvSpPr>
        <p:spPr>
          <a:xfrm>
            <a:off x="9628632" y="4270248"/>
            <a:ext cx="1655064" cy="384048"/>
          </a:xfrm>
          <a:prstGeom prst="rect">
            <a:avLst/>
          </a:prstGeom>
          <a:noFill/>
          <a:ln/>
        </p:spPr>
        <p:txBody>
          <a:bodyPr wrap="square" lIns="0" tIns="0" rIns="0" bIns="0" rtlCol="0" anchor="t"/>
          <a:lstStyle/>
          <a:p>
            <a:pPr indent="0" marL="0">
              <a:buNone/>
            </a:pPr>
            <a:r>
              <a:rPr lang="en-US" sz="1150" dirty="0">
                <a:solidFill>
                  <a:schemeClr val="accent5"/>
                </a:solidFill>
              </a:rPr>
              <a:t>Trie, Top-K, panel</a:t>
            </a:r>
            <a:endParaRPr lang="en-US" sz="1150" dirty="0"/>
          </a:p>
        </p:txBody>
      </p:sp>
      <p:sp>
        <p:nvSpPr>
          <p:cNvPr id="55" name="sal"/>
          <p:cNvSpPr/>
          <p:nvPr/>
        </p:nvSpPr>
        <p:spPr>
          <a:xfrm>
            <a:off x="1714500" y="4727448"/>
            <a:ext cx="0" cy="256032"/>
          </a:xfrm>
          <a:prstGeom prst="line">
            <a:avLst/>
          </a:prstGeom>
          <a:noFill/>
          <a:ln w="19050">
            <a:solidFill>
              <a:srgbClr val="8A94A3"/>
            </a:solidFill>
            <a:prstDash val="solid"/>
          </a:ln>
        </p:spPr>
        <p:txBody>
          <a:bodyPr/>
          <a:p/>
        </p:txBody>
      </p:sp>
      <p:sp>
        <p:nvSpPr>
          <p:cNvPr id="56" name="sal-109"/>
          <p:cNvSpPr/>
          <p:nvPr/>
        </p:nvSpPr>
        <p:spPr>
          <a:xfrm>
            <a:off x="3899916" y="4727448"/>
            <a:ext cx="0" cy="256032"/>
          </a:xfrm>
          <a:prstGeom prst="line">
            <a:avLst/>
          </a:prstGeom>
          <a:noFill/>
          <a:ln w="19050">
            <a:solidFill>
              <a:srgbClr val="8A94A3"/>
            </a:solidFill>
            <a:prstDash val="solid"/>
          </a:ln>
        </p:spPr>
        <p:txBody>
          <a:bodyPr/>
          <a:p/>
        </p:txBody>
      </p:sp>
      <p:sp>
        <p:nvSpPr>
          <p:cNvPr id="57" name="sal-110"/>
          <p:cNvSpPr/>
          <p:nvPr/>
        </p:nvSpPr>
        <p:spPr>
          <a:xfrm>
            <a:off x="6085332" y="4727448"/>
            <a:ext cx="0" cy="256032"/>
          </a:xfrm>
          <a:prstGeom prst="line">
            <a:avLst/>
          </a:prstGeom>
          <a:noFill/>
          <a:ln w="19050">
            <a:solidFill>
              <a:srgbClr val="8A94A3"/>
            </a:solidFill>
            <a:prstDash val="solid"/>
          </a:ln>
        </p:spPr>
        <p:txBody>
          <a:bodyPr/>
          <a:p/>
        </p:txBody>
      </p:sp>
      <p:sp>
        <p:nvSpPr>
          <p:cNvPr id="58" name="sal-111"/>
          <p:cNvSpPr/>
          <p:nvPr/>
        </p:nvSpPr>
        <p:spPr>
          <a:xfrm>
            <a:off x="8270748" y="4727448"/>
            <a:ext cx="0" cy="256032"/>
          </a:xfrm>
          <a:prstGeom prst="line">
            <a:avLst/>
          </a:prstGeom>
          <a:noFill/>
          <a:ln w="19050">
            <a:solidFill>
              <a:srgbClr val="8A94A3"/>
            </a:solidFill>
            <a:prstDash val="solid"/>
          </a:ln>
        </p:spPr>
        <p:txBody>
          <a:bodyPr/>
          <a:p/>
        </p:txBody>
      </p:sp>
      <p:sp>
        <p:nvSpPr>
          <p:cNvPr id="59" name="bus-s9"/>
          <p:cNvSpPr/>
          <p:nvPr/>
        </p:nvSpPr>
        <p:spPr>
          <a:xfrm>
            <a:off x="1714500" y="4983480"/>
            <a:ext cx="8741664" cy="0"/>
          </a:xfrm>
          <a:prstGeom prst="line">
            <a:avLst/>
          </a:prstGeom>
          <a:noFill/>
          <a:ln w="19050">
            <a:solidFill>
              <a:srgbClr val="8A94A3"/>
            </a:solidFill>
            <a:prstDash val="solid"/>
          </a:ln>
        </p:spPr>
        <p:txBody>
          <a:bodyPr/>
          <a:p/>
        </p:txBody>
      </p:sp>
      <p:sp>
        <p:nvSpPr>
          <p:cNvPr id="60" name="flecha-112"/>
          <p:cNvSpPr/>
          <p:nvPr/>
        </p:nvSpPr>
        <p:spPr>
          <a:xfrm flipV="1">
            <a:off x="10456164" y="4754880"/>
            <a:ext cx="0" cy="228600"/>
          </a:xfrm>
          <a:prstGeom prst="line">
            <a:avLst/>
          </a:prstGeom>
          <a:noFill/>
          <a:ln w="19050">
            <a:solidFill>
              <a:srgbClr val="8A94A3"/>
            </a:solidFill>
            <a:prstDash val="solid"/>
            <a:tailEnd type="triangle"/>
          </a:ln>
        </p:spPr>
        <p:txBody>
          <a:bodyPr/>
          <a:p/>
        </p:txBody>
      </p:sp>
      <p:sp>
        <p:nvSpPr>
          <p:cNvPr id="61" name="texto-113"/>
          <p:cNvSpPr txBox="1"/>
          <p:nvPr/>
        </p:nvSpPr>
        <p:spPr>
          <a:xfrm>
            <a:off x="9336024" y="1527048"/>
            <a:ext cx="2240280" cy="237744"/>
          </a:xfrm>
          <a:prstGeom prst="rect">
            <a:avLst/>
          </a:prstGeom>
          <a:noFill/>
          <a:ln/>
        </p:spPr>
        <p:txBody>
          <a:bodyPr wrap="square" lIns="0" tIns="0" rIns="0" bIns="0" rtlCol="0" anchor="t"/>
          <a:lstStyle/>
          <a:p>
            <a:pPr algn="r" indent="0" marL="0">
              <a:buNone/>
            </a:pPr>
            <a:r>
              <a:rPr lang="en-US" sz="1100" b="1" dirty="0">
                <a:solidFill>
                  <a:srgbClr val="C0392B"/>
                </a:solidFill>
              </a:rPr>
              <a:t>alertas → heap por severidad</a:t>
            </a:r>
            <a:endParaRPr lang="en-US" sz="1100" dirty="0"/>
          </a:p>
        </p:txBody>
      </p:sp>
      <p:sp>
        <p:nvSpPr>
          <p:cNvPr id="62" name="texto-114"/>
          <p:cNvSpPr txBox="1"/>
          <p:nvPr/>
        </p:nvSpPr>
        <p:spPr>
          <a:xfrm>
            <a:off x="777240" y="5440680"/>
            <a:ext cx="10607040" cy="502920"/>
          </a:xfrm>
          <a:prstGeom prst="rect">
            <a:avLst/>
          </a:prstGeom>
          <a:noFill/>
          <a:ln/>
        </p:spPr>
        <p:txBody>
          <a:bodyPr wrap="square" lIns="0" tIns="0" rIns="0" bIns="0" rtlCol="0" anchor="t"/>
          <a:lstStyle/>
          <a:p>
            <a:pPr indent="0" marL="0">
              <a:buNone/>
            </a:pPr>
            <a:r>
              <a:rPr lang="en-US" sz="1300" b="1" dirty="0">
                <a:solidFill>
                  <a:srgbClr val="1A2430"/>
                </a:solidFill>
              </a:rPr>
              <a:t>Lotes de 5 000 eventos. </a:t>
            </a:r>
            <a:pPr indent="0" marL="0">
              <a:buNone/>
            </a:pPr>
            <a:r>
              <a:rPr lang="en-US" sz="1300" dirty="0">
                <a:solidFill>
                  <a:schemeClr val="accent5"/>
                </a:solidFill>
              </a:rPr>
              <a:t>S6 corre justo después de S3: lo bloqueado no contamina índices, similitud ni grafo. KD-Tree, SVD + IVF, PageRank y Louvain se refrescan cada 2 M de eventos.</a:t>
            </a:r>
            <a:endParaRPr lang="en-US" sz="13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2" type="body" hasCustomPrompt="1"/>
          </p:nvPr>
        </p:nvSpPr>
        <p:spPr>
          <a:xfrm>
            <a:off x="777240" y="603504"/>
            <a:ext cx="10607040" cy="274320"/>
          </a:xfrm>
          <a:prstGeom prst="rect">
            <a:avLst/>
          </a:prstGeom>
          <a:noFill/>
          <a:ln/>
        </p:spPr>
        <p:txBody>
          <a:bodyPr wrap="square" lIns="0" tIns="0" rIns="0" bIns="0" rtlCol="0" anchor="ctr"/>
          <a:lstStyle/>
          <a:p>
            <a:pPr algn="l" indent="0" marL="0">
              <a:buNone/>
            </a:pPr>
            <a:r>
              <a:rPr lang="en-US" sz="1100" b="1" dirty="0">
                <a:solidFill>
                  <a:schemeClr val="accent2"/>
                </a:solidFill>
              </a:rPr>
              <a:t>S0 A S2 · ENTRAR, LIMPIAR Y PRIORIZAR</a:t>
            </a:r>
            <a:endParaRPr lang="en-US" sz="1100" dirty="0"/>
          </a:p>
        </p:txBody>
      </p:sp>
      <p:sp>
        <p:nvSpPr>
          <p:cNvPr id="3" name="Text 0"/>
          <p:cNvSpPr/>
          <p:nvPr>
            <p:ph idx="103" type="title" hasCustomPrompt="1"/>
          </p:nvPr>
        </p:nvSpPr>
        <p:spPr>
          <a:xfrm>
            <a:off x="777240" y="877824"/>
            <a:ext cx="10789920" cy="548640"/>
          </a:xfrm>
          <a:prstGeom prst="rect">
            <a:avLst/>
          </a:prstGeom>
          <a:noFill/>
          <a:ln/>
        </p:spPr>
        <p:txBody>
          <a:bodyPr wrap="square" lIns="0" tIns="0" rIns="0" bIns="0" rtlCol="0" anchor="ctr"/>
          <a:lstStyle/>
          <a:p>
            <a:pPr algn="l" indent="0" marL="0">
              <a:buNone/>
            </a:pPr>
            <a:r>
              <a:rPr lang="en-US" sz="3000" b="1" dirty="0">
                <a:solidFill>
                  <a:schemeClr val="tx1"/>
                </a:solidFill>
              </a:rPr>
              <a:t>Del stream crudo a eventos limpios y priorizados</a:t>
            </a:r>
            <a:endParaRPr lang="en-US" sz="3000" dirty="0"/>
          </a:p>
        </p:txBody>
      </p:sp>
      <p:sp>
        <p:nvSpPr>
          <p:cNvPr id="4" name="tarjeta-115"/>
          <p:cNvSpPr/>
          <p:nvPr/>
        </p:nvSpPr>
        <p:spPr>
          <a:xfrm>
            <a:off x="777240" y="1783080"/>
            <a:ext cx="3401568" cy="3337560"/>
          </a:xfrm>
          <a:prstGeom prst="roundRect">
            <a:avLst>
              <a:gd name="adj" fmla="val 2192"/>
            </a:avLst>
          </a:prstGeom>
          <a:solidFill>
            <a:srgbClr val="FFFFFF"/>
          </a:solidFill>
          <a:ln w="9525">
            <a:solidFill>
              <a:srgbClr val="E2E8F0"/>
            </a:solidFill>
            <a:prstDash val="solid"/>
          </a:ln>
        </p:spPr>
        <p:txBody>
          <a:bodyPr/>
          <a:p/>
        </p:txBody>
      </p:sp>
      <p:sp>
        <p:nvSpPr>
          <p:cNvPr id="5" name="etiqueta-116"/>
          <p:cNvSpPr/>
          <p:nvPr/>
        </p:nvSpPr>
        <p:spPr>
          <a:xfrm>
            <a:off x="932688" y="1938528"/>
            <a:ext cx="2134758" cy="246888"/>
          </a:xfrm>
          <a:prstGeom prst="roundRect">
            <a:avLst>
              <a:gd name="adj" fmla="val 18519"/>
            </a:avLst>
          </a:prstGeom>
          <a:solidFill>
            <a:schemeClr val="accent4"/>
          </a:solidFill>
          <a:ln/>
        </p:spPr>
        <p:txBody>
          <a:bodyPr wrap="square" lIns="0" tIns="0" rIns="0" bIns="0" rtlCol="0" anchor="ctr"/>
          <a:lstStyle/>
          <a:p>
            <a:pPr algn="ctr" indent="0" marL="0">
              <a:buNone/>
            </a:pPr>
            <a:r>
              <a:rPr lang="en-US" sz="1100" b="1" dirty="0">
                <a:solidFill>
                  <a:srgbClr val="04222B"/>
                </a:solidFill>
              </a:rPr>
              <a:t>S0 · COLA FIFO ENLAZADA</a:t>
            </a:r>
            <a:endParaRPr lang="en-US" sz="1100" dirty="0"/>
          </a:p>
        </p:txBody>
      </p:sp>
      <p:sp>
        <p:nvSpPr>
          <p:cNvPr id="6" name="texto-117"/>
          <p:cNvSpPr txBox="1"/>
          <p:nvPr/>
        </p:nvSpPr>
        <p:spPr>
          <a:xfrm>
            <a:off x="932688" y="2286000"/>
            <a:ext cx="3090672" cy="310896"/>
          </a:xfrm>
          <a:prstGeom prst="rect">
            <a:avLst/>
          </a:prstGeom>
          <a:noFill/>
          <a:ln/>
        </p:spPr>
        <p:txBody>
          <a:bodyPr wrap="square" lIns="0" tIns="0" rIns="0" bIns="0" rtlCol="0" anchor="t"/>
          <a:lstStyle/>
          <a:p>
            <a:pPr indent="0" marL="0">
              <a:buNone/>
            </a:pPr>
            <a:r>
              <a:rPr lang="en-US" sz="1600" b="1" dirty="0">
                <a:solidFill>
                  <a:srgbClr val="1A2430"/>
                </a:solidFill>
              </a:rPr>
              <a:t>Buffer con backpressure</a:t>
            </a:r>
            <a:endParaRPr lang="en-US" sz="1600" dirty="0"/>
          </a:p>
        </p:txBody>
      </p:sp>
      <p:sp>
        <p:nvSpPr>
          <p:cNvPr id="7" name="texto-118"/>
          <p:cNvSpPr txBox="1"/>
          <p:nvPr/>
        </p:nvSpPr>
        <p:spPr>
          <a:xfrm>
            <a:off x="932688" y="2679192"/>
            <a:ext cx="3090672" cy="132588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accent5"/>
                </a:solidFill>
              </a:rPr>
              <a:t>Capacidad de un lote</a:t>
            </a:r>
            <a:endParaRPr lang="en-US" sz="1350" dirty="0"/>
          </a:p>
          <a:p>
            <a:pPr marL="177800" indent="-177800">
              <a:spcAft>
                <a:spcPts val="500"/>
              </a:spcAft>
              <a:buSzPct val="100000"/>
              <a:buChar char="•"/>
            </a:pPr>
            <a:r>
              <a:rPr lang="en-US" sz="1350" dirty="0">
                <a:solidFill>
                  <a:schemeClr val="accent5"/>
                </a:solidFill>
              </a:rPr>
              <a:t>Si se llena, el productor se detiene y se cuenta el rechazo</a:t>
            </a:r>
            <a:endParaRPr lang="en-US" sz="1350" dirty="0"/>
          </a:p>
          <a:p>
            <a:pPr marL="177800" indent="-177800">
              <a:spcAft>
                <a:spcPts val="500"/>
              </a:spcAft>
              <a:buSzPct val="100000"/>
              <a:buChar char="•"/>
            </a:pPr>
            <a:r>
              <a:rPr lang="en-US" sz="1350" dirty="0">
                <a:solidFill>
                  <a:schemeClr val="accent5"/>
                </a:solidFill>
              </a:rPr>
              <a:t>enqueue y dequeue O(1)</a:t>
            </a:r>
            <a:endParaRPr lang="en-US" sz="1350" dirty="0"/>
          </a:p>
        </p:txBody>
      </p:sp>
      <p:sp>
        <p:nvSpPr>
          <p:cNvPr id="8" name="texto-119"/>
          <p:cNvSpPr txBox="1"/>
          <p:nvPr/>
        </p:nvSpPr>
        <p:spPr>
          <a:xfrm>
            <a:off x="932688" y="4023360"/>
            <a:ext cx="3090672" cy="502920"/>
          </a:xfrm>
          <a:prstGeom prst="rect">
            <a:avLst/>
          </a:prstGeom>
          <a:noFill/>
          <a:ln/>
        </p:spPr>
        <p:txBody>
          <a:bodyPr wrap="square" lIns="0" tIns="0" rIns="0" bIns="0" rtlCol="0" anchor="b"/>
          <a:lstStyle/>
          <a:p>
            <a:pPr indent="0" marL="0">
              <a:buNone/>
            </a:pPr>
            <a:r>
              <a:rPr lang="en-US" sz="2800" b="1" dirty="0">
                <a:solidFill>
                  <a:schemeClr val="accent3"/>
                </a:solidFill>
              </a:rPr>
              <a:t>O(1)</a:t>
            </a:r>
            <a:endParaRPr lang="en-US" sz="2800" dirty="0"/>
          </a:p>
        </p:txBody>
      </p:sp>
      <p:sp>
        <p:nvSpPr>
          <p:cNvPr id="9" name="texto-120"/>
          <p:cNvSpPr txBox="1"/>
          <p:nvPr/>
        </p:nvSpPr>
        <p:spPr>
          <a:xfrm>
            <a:off x="932688" y="4562856"/>
            <a:ext cx="3090672" cy="411480"/>
          </a:xfrm>
          <a:prstGeom prst="rect">
            <a:avLst/>
          </a:prstGeom>
          <a:noFill/>
          <a:ln/>
        </p:spPr>
        <p:txBody>
          <a:bodyPr wrap="square" lIns="0" tIns="0" rIns="0" bIns="0" rtlCol="0" anchor="t"/>
          <a:lstStyle/>
          <a:p>
            <a:pPr indent="0" marL="0">
              <a:buNone/>
            </a:pPr>
            <a:r>
              <a:rPr lang="en-US" sz="1200" dirty="0">
                <a:solidFill>
                  <a:schemeClr val="accent5"/>
                </a:solidFill>
              </a:rPr>
              <a:t>por operación; pendiente 1,12 de 1K a 10M</a:t>
            </a:r>
            <a:endParaRPr lang="en-US" sz="1200" dirty="0"/>
          </a:p>
        </p:txBody>
      </p:sp>
      <p:sp>
        <p:nvSpPr>
          <p:cNvPr id="10" name="tarjeta-121"/>
          <p:cNvSpPr/>
          <p:nvPr/>
        </p:nvSpPr>
        <p:spPr>
          <a:xfrm>
            <a:off x="4393692" y="1783080"/>
            <a:ext cx="3401568" cy="3337560"/>
          </a:xfrm>
          <a:prstGeom prst="roundRect">
            <a:avLst>
              <a:gd name="adj" fmla="val 2192"/>
            </a:avLst>
          </a:prstGeom>
          <a:solidFill>
            <a:srgbClr val="FFFFFF"/>
          </a:solidFill>
          <a:ln w="9525">
            <a:solidFill>
              <a:srgbClr val="E2E8F0"/>
            </a:solidFill>
            <a:prstDash val="solid"/>
          </a:ln>
        </p:spPr>
        <p:txBody>
          <a:bodyPr/>
          <a:p/>
        </p:txBody>
      </p:sp>
      <p:sp>
        <p:nvSpPr>
          <p:cNvPr id="11" name="etiqueta-122"/>
          <p:cNvSpPr/>
          <p:nvPr/>
        </p:nvSpPr>
        <p:spPr>
          <a:xfrm>
            <a:off x="4549140" y="1938528"/>
            <a:ext cx="3042026" cy="246888"/>
          </a:xfrm>
          <a:prstGeom prst="roundRect">
            <a:avLst>
              <a:gd name="adj" fmla="val 18519"/>
            </a:avLst>
          </a:prstGeom>
          <a:solidFill>
            <a:schemeClr val="accent4"/>
          </a:solidFill>
          <a:ln/>
        </p:spPr>
        <p:txBody>
          <a:bodyPr wrap="square" lIns="0" tIns="0" rIns="0" bIns="0" rtlCol="0" anchor="ctr"/>
          <a:lstStyle/>
          <a:p>
            <a:pPr algn="ctr" indent="0" marL="0">
              <a:buNone/>
            </a:pPr>
            <a:r>
              <a:rPr lang="en-US" sz="1100" b="1" dirty="0">
                <a:solidFill>
                  <a:srgbClr val="04222B"/>
                </a:solidFill>
              </a:rPr>
              <a:t>S1 · MERGE SORT + BÚSQUEDA BINARIA</a:t>
            </a:r>
            <a:endParaRPr lang="en-US" sz="1100" dirty="0"/>
          </a:p>
        </p:txBody>
      </p:sp>
      <p:sp>
        <p:nvSpPr>
          <p:cNvPr id="12" name="texto-123"/>
          <p:cNvSpPr txBox="1"/>
          <p:nvPr/>
        </p:nvSpPr>
        <p:spPr>
          <a:xfrm>
            <a:off x="4549140" y="2286000"/>
            <a:ext cx="3090672" cy="310896"/>
          </a:xfrm>
          <a:prstGeom prst="rect">
            <a:avLst/>
          </a:prstGeom>
          <a:noFill/>
          <a:ln/>
        </p:spPr>
        <p:txBody>
          <a:bodyPr wrap="square" lIns="0" tIns="0" rIns="0" bIns="0" rtlCol="0" anchor="t"/>
          <a:lstStyle/>
          <a:p>
            <a:pPr indent="0" marL="0">
              <a:buNone/>
            </a:pPr>
            <a:r>
              <a:rPr lang="en-US" sz="1600" b="1" dirty="0">
                <a:solidFill>
                  <a:srgbClr val="1A2430"/>
                </a:solidFill>
              </a:rPr>
              <a:t>Validar y deduplicar</a:t>
            </a:r>
            <a:endParaRPr lang="en-US" sz="1600" dirty="0"/>
          </a:p>
        </p:txBody>
      </p:sp>
      <p:sp>
        <p:nvSpPr>
          <p:cNvPr id="13" name="texto-124"/>
          <p:cNvSpPr txBox="1"/>
          <p:nvPr/>
        </p:nvSpPr>
        <p:spPr>
          <a:xfrm>
            <a:off x="4549140" y="2679192"/>
            <a:ext cx="3090672" cy="132588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accent5"/>
                </a:solidFill>
              </a:rPr>
              <a:t>Merge sort junta los repetidos del lote</a:t>
            </a:r>
            <a:endParaRPr lang="en-US" sz="1350" dirty="0"/>
          </a:p>
          <a:p>
            <a:pPr marL="177800" indent="-177800">
              <a:spcAft>
                <a:spcPts val="500"/>
              </a:spcAft>
              <a:buSzPct val="100000"/>
              <a:buChar char="•"/>
            </a:pPr>
            <a:r>
              <a:rPr lang="en-US" sz="1350" dirty="0">
                <a:solidFill>
                  <a:schemeClr val="accent5"/>
                </a:solidFill>
              </a:rPr>
              <a:t>Búsqueda binaria en corridas ordenadas de los últimos 500K ids</a:t>
            </a:r>
            <a:endParaRPr lang="en-US" sz="1350" dirty="0"/>
          </a:p>
          <a:p>
            <a:pPr marL="177800" indent="-177800">
              <a:spcAft>
                <a:spcPts val="500"/>
              </a:spcAft>
              <a:buSzPct val="100000"/>
              <a:buChar char="•"/>
            </a:pPr>
            <a:r>
              <a:rPr lang="en-US" sz="1350" dirty="0">
                <a:solidFill>
                  <a:schemeClr val="accent5"/>
                </a:solidFill>
              </a:rPr>
              <a:t>Expira la corrida más antigua, sin mezclar</a:t>
            </a:r>
            <a:endParaRPr lang="en-US" sz="1350" dirty="0"/>
          </a:p>
        </p:txBody>
      </p:sp>
      <p:sp>
        <p:nvSpPr>
          <p:cNvPr id="14" name="texto-125"/>
          <p:cNvSpPr txBox="1"/>
          <p:nvPr/>
        </p:nvSpPr>
        <p:spPr>
          <a:xfrm>
            <a:off x="4549140" y="4023360"/>
            <a:ext cx="3090672" cy="502920"/>
          </a:xfrm>
          <a:prstGeom prst="rect">
            <a:avLst/>
          </a:prstGeom>
          <a:noFill/>
          <a:ln/>
        </p:spPr>
        <p:txBody>
          <a:bodyPr wrap="square" lIns="0" tIns="0" rIns="0" bIns="0" rtlCol="0" anchor="b"/>
          <a:lstStyle/>
          <a:p>
            <a:pPr indent="0" marL="0">
              <a:buNone/>
            </a:pPr>
            <a:r>
              <a:rPr lang="en-US" sz="2800" b="1" dirty="0">
                <a:solidFill>
                  <a:schemeClr val="accent3"/>
                </a:solidFill>
              </a:rPr>
              <a:t>151 081</a:t>
            </a:r>
            <a:endParaRPr lang="en-US" sz="2800" dirty="0"/>
          </a:p>
        </p:txBody>
      </p:sp>
      <p:sp>
        <p:nvSpPr>
          <p:cNvPr id="15" name="texto-126"/>
          <p:cNvSpPr txBox="1"/>
          <p:nvPr/>
        </p:nvSpPr>
        <p:spPr>
          <a:xfrm>
            <a:off x="4549140" y="4562856"/>
            <a:ext cx="3090672" cy="411480"/>
          </a:xfrm>
          <a:prstGeom prst="rect">
            <a:avLst/>
          </a:prstGeom>
          <a:noFill/>
          <a:ln/>
        </p:spPr>
        <p:txBody>
          <a:bodyPr wrap="square" lIns="0" tIns="0" rIns="0" bIns="0" rtlCol="0" anchor="t"/>
          <a:lstStyle/>
          <a:p>
            <a:pPr indent="0" marL="0">
              <a:buNone/>
            </a:pPr>
            <a:r>
              <a:rPr lang="en-US" sz="1200" dirty="0">
                <a:solidFill>
                  <a:schemeClr val="accent5"/>
                </a:solidFill>
              </a:rPr>
              <a:t>duplicados eliminados de 151 081 inyectados</a:t>
            </a:r>
            <a:endParaRPr lang="en-US" sz="1200" dirty="0"/>
          </a:p>
        </p:txBody>
      </p:sp>
      <p:sp>
        <p:nvSpPr>
          <p:cNvPr id="16" name="tarjeta-127"/>
          <p:cNvSpPr/>
          <p:nvPr/>
        </p:nvSpPr>
        <p:spPr>
          <a:xfrm>
            <a:off x="8010144" y="1783080"/>
            <a:ext cx="3401568" cy="3337560"/>
          </a:xfrm>
          <a:prstGeom prst="roundRect">
            <a:avLst>
              <a:gd name="adj" fmla="val 2192"/>
            </a:avLst>
          </a:prstGeom>
          <a:solidFill>
            <a:srgbClr val="FFFFFF"/>
          </a:solidFill>
          <a:ln w="9525">
            <a:solidFill>
              <a:srgbClr val="E2E8F0"/>
            </a:solidFill>
            <a:prstDash val="solid"/>
          </a:ln>
        </p:spPr>
        <p:txBody>
          <a:bodyPr/>
          <a:p/>
        </p:txBody>
      </p:sp>
      <p:sp>
        <p:nvSpPr>
          <p:cNvPr id="17" name="etiqueta-128"/>
          <p:cNvSpPr/>
          <p:nvPr/>
        </p:nvSpPr>
        <p:spPr>
          <a:xfrm>
            <a:off x="8165592" y="1938528"/>
            <a:ext cx="1639885" cy="246888"/>
          </a:xfrm>
          <a:prstGeom prst="roundRect">
            <a:avLst>
              <a:gd name="adj" fmla="val 18519"/>
            </a:avLst>
          </a:prstGeom>
          <a:solidFill>
            <a:schemeClr val="accent4"/>
          </a:solidFill>
          <a:ln/>
        </p:spPr>
        <p:txBody>
          <a:bodyPr wrap="square" lIns="0" tIns="0" rIns="0" bIns="0" rtlCol="0" anchor="ctr"/>
          <a:lstStyle/>
          <a:p>
            <a:pPr algn="ctr" indent="0" marL="0">
              <a:buNone/>
            </a:pPr>
            <a:r>
              <a:rPr lang="en-US" sz="1100" b="1" dirty="0">
                <a:solidFill>
                  <a:srgbClr val="04222B"/>
                </a:solidFill>
              </a:rPr>
              <a:t>S2 · HEAP BINARIO</a:t>
            </a:r>
            <a:endParaRPr lang="en-US" sz="1100" dirty="0"/>
          </a:p>
        </p:txBody>
      </p:sp>
      <p:sp>
        <p:nvSpPr>
          <p:cNvPr id="18" name="texto-129"/>
          <p:cNvSpPr txBox="1"/>
          <p:nvPr/>
        </p:nvSpPr>
        <p:spPr>
          <a:xfrm>
            <a:off x="8165592" y="2286000"/>
            <a:ext cx="3090672" cy="310896"/>
          </a:xfrm>
          <a:prstGeom prst="rect">
            <a:avLst/>
          </a:prstGeom>
          <a:noFill/>
          <a:ln/>
        </p:spPr>
        <p:txBody>
          <a:bodyPr wrap="square" lIns="0" tIns="0" rIns="0" bIns="0" rtlCol="0" anchor="t"/>
          <a:lstStyle/>
          <a:p>
            <a:pPr indent="0" marL="0">
              <a:buNone/>
            </a:pPr>
            <a:r>
              <a:rPr lang="en-US" sz="1600" b="1" dirty="0">
                <a:solidFill>
                  <a:srgbClr val="1A2430"/>
                </a:solidFill>
              </a:rPr>
              <a:t>Atender primero lo urgente</a:t>
            </a:r>
            <a:endParaRPr lang="en-US" sz="1600" dirty="0"/>
          </a:p>
        </p:txBody>
      </p:sp>
      <p:sp>
        <p:nvSpPr>
          <p:cNvPr id="19" name="texto-130"/>
          <p:cNvSpPr txBox="1"/>
          <p:nvPr/>
        </p:nvSpPr>
        <p:spPr>
          <a:xfrm>
            <a:off x="8165592" y="2679192"/>
            <a:ext cx="3090672" cy="132588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accent5"/>
                </a:solidFill>
              </a:rPr>
              <a:t>Express, premium, estándar, programada, carrito, vista</a:t>
            </a:r>
            <a:endParaRPr lang="en-US" sz="1350" dirty="0"/>
          </a:p>
          <a:p>
            <a:pPr marL="177800" indent="-177800">
              <a:spcAft>
                <a:spcPts val="500"/>
              </a:spcAft>
              <a:buSzPct val="100000"/>
              <a:buChar char="•"/>
            </a:pPr>
            <a:r>
              <a:rPr lang="en-US" sz="1350" dirty="0">
                <a:solidFill>
                  <a:schemeClr val="accent5"/>
                </a:solidFill>
              </a:rPr>
              <a:t>Desempate por orden de llegada</a:t>
            </a:r>
            <a:endParaRPr lang="en-US" sz="1350" dirty="0"/>
          </a:p>
          <a:p>
            <a:pPr marL="177800" indent="-177800">
              <a:spcAft>
                <a:spcPts val="500"/>
              </a:spcAft>
              <a:buSzPct val="100000"/>
              <a:buChar char="•"/>
            </a:pPr>
            <a:r>
              <a:rPr lang="en-US" sz="1350" dirty="0">
                <a:solidFill>
                  <a:schemeClr val="accent5"/>
                </a:solidFill>
              </a:rPr>
              <a:t>push y pop O(log n)</a:t>
            </a:r>
            <a:endParaRPr lang="en-US" sz="1350" dirty="0"/>
          </a:p>
        </p:txBody>
      </p:sp>
      <p:sp>
        <p:nvSpPr>
          <p:cNvPr id="20" name="texto-131"/>
          <p:cNvSpPr txBox="1"/>
          <p:nvPr/>
        </p:nvSpPr>
        <p:spPr>
          <a:xfrm>
            <a:off x="8165592" y="4023360"/>
            <a:ext cx="3090672" cy="502920"/>
          </a:xfrm>
          <a:prstGeom prst="rect">
            <a:avLst/>
          </a:prstGeom>
          <a:noFill/>
          <a:ln/>
        </p:spPr>
        <p:txBody>
          <a:bodyPr wrap="square" lIns="0" tIns="0" rIns="0" bIns="0" rtlCol="0" anchor="b"/>
          <a:lstStyle/>
          <a:p>
            <a:pPr indent="0" marL="0">
              <a:buNone/>
            </a:pPr>
            <a:r>
              <a:rPr lang="en-US" sz="2800" b="1" dirty="0">
                <a:solidFill>
                  <a:schemeClr val="accent3"/>
                </a:solidFill>
              </a:rPr>
              <a:t>76 348</a:t>
            </a:r>
            <a:endParaRPr lang="en-US" sz="2800" dirty="0"/>
          </a:p>
        </p:txBody>
      </p:sp>
      <p:sp>
        <p:nvSpPr>
          <p:cNvPr id="21" name="texto-132"/>
          <p:cNvSpPr txBox="1"/>
          <p:nvPr/>
        </p:nvSpPr>
        <p:spPr>
          <a:xfrm>
            <a:off x="8165592" y="4562856"/>
            <a:ext cx="3090672" cy="411480"/>
          </a:xfrm>
          <a:prstGeom prst="rect">
            <a:avLst/>
          </a:prstGeom>
          <a:noFill/>
          <a:ln/>
        </p:spPr>
        <p:txBody>
          <a:bodyPr wrap="square" lIns="0" tIns="0" rIns="0" bIns="0" rtlCol="0" anchor="t"/>
          <a:lstStyle/>
          <a:p>
            <a:pPr indent="0" marL="0">
              <a:buNone/>
            </a:pPr>
            <a:r>
              <a:rPr lang="en-US" sz="1200" dirty="0">
                <a:solidFill>
                  <a:schemeClr val="accent5"/>
                </a:solidFill>
              </a:rPr>
              <a:t>compras express atendidas primero</a:t>
            </a:r>
            <a:endParaRPr lang="en-US" sz="1200" dirty="0"/>
          </a:p>
        </p:txBody>
      </p:sp>
      <p:sp>
        <p:nvSpPr>
          <p:cNvPr id="22" name="tarjeta-133"/>
          <p:cNvSpPr/>
          <p:nvPr/>
        </p:nvSpPr>
        <p:spPr>
          <a:xfrm>
            <a:off x="777240" y="5303520"/>
            <a:ext cx="10634472" cy="868680"/>
          </a:xfrm>
          <a:prstGeom prst="roundRect">
            <a:avLst>
              <a:gd name="adj" fmla="val 8421"/>
            </a:avLst>
          </a:prstGeom>
          <a:solidFill>
            <a:schemeClr val="accent6"/>
          </a:solidFill>
          <a:ln w="9525">
            <a:solidFill>
              <a:schemeClr val="accent1"/>
            </a:solidFill>
            <a:prstDash val="solid"/>
          </a:ln>
        </p:spPr>
        <p:txBody>
          <a:bodyPr/>
          <a:p/>
        </p:txBody>
      </p:sp>
      <p:sp>
        <p:nvSpPr>
          <p:cNvPr id="23" name="etiqueta-134"/>
          <p:cNvSpPr/>
          <p:nvPr/>
        </p:nvSpPr>
        <p:spPr>
          <a:xfrm>
            <a:off x="932688" y="5422392"/>
            <a:ext cx="1722364" cy="246888"/>
          </a:xfrm>
          <a:prstGeom prst="roundRect">
            <a:avLst>
              <a:gd name="adj" fmla="val 18519"/>
            </a:avLst>
          </a:prstGeom>
          <a:solidFill>
            <a:schemeClr val="accent1"/>
          </a:solidFill>
          <a:ln/>
        </p:spPr>
        <p:txBody>
          <a:bodyPr wrap="square" lIns="0" tIns="0" rIns="0" bIns="0" rtlCol="0" anchor="ctr"/>
          <a:lstStyle/>
          <a:p>
            <a:pPr algn="ctr" indent="0" marL="0">
              <a:buNone/>
            </a:pPr>
            <a:r>
              <a:rPr lang="en-US" sz="1100" b="1" dirty="0">
                <a:solidFill>
                  <a:srgbClr val="04222B"/>
                </a:solidFill>
              </a:rPr>
              <a:t>DECISIÓN DE DISEÑO</a:t>
            </a:r>
            <a:endParaRPr lang="en-US" sz="1100" dirty="0"/>
          </a:p>
        </p:txBody>
      </p:sp>
      <p:sp>
        <p:nvSpPr>
          <p:cNvPr id="24" name="texto-135"/>
          <p:cNvSpPr txBox="1"/>
          <p:nvPr/>
        </p:nvSpPr>
        <p:spPr>
          <a:xfrm>
            <a:off x="932688" y="5705856"/>
            <a:ext cx="10332720" cy="411480"/>
          </a:xfrm>
          <a:prstGeom prst="rect">
            <a:avLst/>
          </a:prstGeom>
          <a:noFill/>
          <a:ln/>
        </p:spPr>
        <p:txBody>
          <a:bodyPr wrap="square" lIns="0" tIns="0" rIns="0" bIns="0" rtlCol="0" anchor="ctr"/>
          <a:lstStyle/>
          <a:p>
            <a:pPr indent="0" marL="0">
              <a:buNone/>
            </a:pPr>
            <a:r>
              <a:rPr lang="en-US" sz="1400" dirty="0">
                <a:solidFill>
                  <a:schemeClr val="accent3"/>
                </a:solidFill>
              </a:rPr>
              <a:t>Corridas ordenadas + búsqueda binaria vectorizada: sin la mezcla O(W) por lote, mismos duplicados que un conjunto hash y 1,6 veces más rápido (50 s frente a 79 s).</a:t>
            </a:r>
            <a:endParaRPr lang="en-US" sz="14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2" type="body" hasCustomPrompt="1"/>
          </p:nvPr>
        </p:nvSpPr>
        <p:spPr>
          <a:xfrm>
            <a:off x="777240" y="603504"/>
            <a:ext cx="10607040" cy="274320"/>
          </a:xfrm>
          <a:prstGeom prst="rect">
            <a:avLst/>
          </a:prstGeom>
          <a:noFill/>
          <a:ln/>
        </p:spPr>
        <p:txBody>
          <a:bodyPr wrap="square" lIns="0" tIns="0" rIns="0" bIns="0" rtlCol="0" anchor="ctr"/>
          <a:lstStyle/>
          <a:p>
            <a:pPr algn="l" indent="0" marL="0">
              <a:buNone/>
            </a:pPr>
            <a:r>
              <a:rPr lang="en-US" sz="1100" b="1" dirty="0">
                <a:solidFill>
                  <a:schemeClr val="accent2"/>
                </a:solidFill>
              </a:rPr>
              <a:t>S3 · ALMACENAMIENTO</a:t>
            </a:r>
            <a:endParaRPr lang="en-US" sz="1100" dirty="0"/>
          </a:p>
        </p:txBody>
      </p:sp>
      <p:sp>
        <p:nvSpPr>
          <p:cNvPr id="3" name="Text 0"/>
          <p:cNvSpPr/>
          <p:nvPr>
            <p:ph idx="103" type="title" hasCustomPrompt="1"/>
          </p:nvPr>
        </p:nvSpPr>
        <p:spPr>
          <a:xfrm>
            <a:off x="777240" y="877824"/>
            <a:ext cx="10789920" cy="548640"/>
          </a:xfrm>
          <a:prstGeom prst="rect">
            <a:avLst/>
          </a:prstGeom>
          <a:noFill/>
          <a:ln/>
        </p:spPr>
        <p:txBody>
          <a:bodyPr wrap="square" lIns="0" tIns="0" rIns="0" bIns="0" rtlCol="0" anchor="ctr"/>
          <a:lstStyle/>
          <a:p>
            <a:pPr algn="l" indent="0" marL="0">
              <a:buNone/>
            </a:pPr>
            <a:r>
              <a:rPr lang="en-US" sz="3000" b="1" dirty="0">
                <a:solidFill>
                  <a:schemeClr val="tx1"/>
                </a:solidFill>
              </a:rPr>
              <a:t>Resolver ids en O(1) y guardar interacciones dispersas</a:t>
            </a:r>
            <a:endParaRPr lang="en-US" sz="3000" dirty="0"/>
          </a:p>
        </p:txBody>
      </p:sp>
      <p:sp>
        <p:nvSpPr>
          <p:cNvPr id="4" name="tarjeta-136"/>
          <p:cNvSpPr/>
          <p:nvPr/>
        </p:nvSpPr>
        <p:spPr>
          <a:xfrm>
            <a:off x="777240" y="1783080"/>
            <a:ext cx="3401568" cy="3246120"/>
          </a:xfrm>
          <a:prstGeom prst="roundRect">
            <a:avLst>
              <a:gd name="adj" fmla="val 2254"/>
            </a:avLst>
          </a:prstGeom>
          <a:solidFill>
            <a:srgbClr val="FFFFFF"/>
          </a:solidFill>
          <a:ln w="9525">
            <a:solidFill>
              <a:srgbClr val="E2E8F0"/>
            </a:solidFill>
            <a:prstDash val="solid"/>
          </a:ln>
        </p:spPr>
        <p:txBody>
          <a:bodyPr/>
          <a:p/>
        </p:txBody>
      </p:sp>
      <p:sp>
        <p:nvSpPr>
          <p:cNvPr id="5" name="etiqueta-137"/>
          <p:cNvSpPr/>
          <p:nvPr/>
        </p:nvSpPr>
        <p:spPr>
          <a:xfrm>
            <a:off x="932688" y="1938528"/>
            <a:ext cx="1062533" cy="246888"/>
          </a:xfrm>
          <a:prstGeom prst="roundRect">
            <a:avLst>
              <a:gd name="adj" fmla="val 18519"/>
            </a:avLst>
          </a:prstGeom>
          <a:solidFill>
            <a:schemeClr val="accent4"/>
          </a:solidFill>
          <a:ln/>
        </p:spPr>
        <p:txBody>
          <a:bodyPr wrap="square" lIns="0" tIns="0" rIns="0" bIns="0" rtlCol="0" anchor="ctr"/>
          <a:lstStyle/>
          <a:p>
            <a:pPr algn="ctr" indent="0" marL="0">
              <a:buNone/>
            </a:pPr>
            <a:r>
              <a:rPr lang="en-US" sz="1100" b="1" dirty="0">
                <a:solidFill>
                  <a:srgbClr val="04222B"/>
                </a:solidFill>
              </a:rPr>
              <a:t>TABLA HASH</a:t>
            </a:r>
            <a:endParaRPr lang="en-US" sz="1100" dirty="0"/>
          </a:p>
        </p:txBody>
      </p:sp>
      <p:sp>
        <p:nvSpPr>
          <p:cNvPr id="6" name="texto-138"/>
          <p:cNvSpPr txBox="1"/>
          <p:nvPr/>
        </p:nvSpPr>
        <p:spPr>
          <a:xfrm>
            <a:off x="932688" y="2286000"/>
            <a:ext cx="3090672" cy="310896"/>
          </a:xfrm>
          <a:prstGeom prst="rect">
            <a:avLst/>
          </a:prstGeom>
          <a:noFill/>
          <a:ln/>
        </p:spPr>
        <p:txBody>
          <a:bodyPr wrap="square" lIns="0" tIns="0" rIns="0" bIns="0" rtlCol="0" anchor="t"/>
          <a:lstStyle/>
          <a:p>
            <a:pPr indent="0" marL="0">
              <a:buNone/>
            </a:pPr>
            <a:r>
              <a:rPr lang="en-US" sz="1600" b="1" dirty="0">
                <a:solidFill>
                  <a:srgbClr val="1A2430"/>
                </a:solidFill>
              </a:rPr>
              <a:t>Sondeo lineal</a:t>
            </a:r>
            <a:endParaRPr lang="en-US" sz="1600" dirty="0"/>
          </a:p>
        </p:txBody>
      </p:sp>
      <p:sp>
        <p:nvSpPr>
          <p:cNvPr id="7" name="texto-139"/>
          <p:cNvSpPr txBox="1"/>
          <p:nvPr/>
        </p:nvSpPr>
        <p:spPr>
          <a:xfrm>
            <a:off x="932688" y="2651760"/>
            <a:ext cx="3090672" cy="1005840"/>
          </a:xfrm>
          <a:prstGeom prst="rect">
            <a:avLst/>
          </a:prstGeom>
          <a:noFill/>
          <a:ln/>
        </p:spPr>
        <p:txBody>
          <a:bodyPr wrap="square" lIns="0" tIns="0" rIns="0" bIns="0" rtlCol="0" anchor="t"/>
          <a:lstStyle/>
          <a:p>
            <a:pPr indent="0" marL="0">
              <a:buNone/>
            </a:pPr>
            <a:r>
              <a:rPr lang="en-US" sz="1400" dirty="0">
                <a:solidFill>
                  <a:schemeClr val="accent5"/>
                </a:solidFill>
              </a:rPr>
              <a:t>Carga ≤ 0,7 y lápidas para borrar. Resuelve product_id y user_id a índices densos.</a:t>
            </a:r>
            <a:endParaRPr lang="en-US" sz="1400" dirty="0"/>
          </a:p>
        </p:txBody>
      </p:sp>
      <p:sp>
        <p:nvSpPr>
          <p:cNvPr id="8" name="texto-140"/>
          <p:cNvSpPr txBox="1"/>
          <p:nvPr/>
        </p:nvSpPr>
        <p:spPr>
          <a:xfrm>
            <a:off x="932688" y="3794760"/>
            <a:ext cx="3090672" cy="548640"/>
          </a:xfrm>
          <a:prstGeom prst="rect">
            <a:avLst/>
          </a:prstGeom>
          <a:noFill/>
          <a:ln/>
        </p:spPr>
        <p:txBody>
          <a:bodyPr wrap="square" lIns="0" tIns="0" rIns="0" bIns="0" rtlCol="0" anchor="b"/>
          <a:lstStyle/>
          <a:p>
            <a:pPr indent="0" marL="0">
              <a:buNone/>
            </a:pPr>
            <a:r>
              <a:rPr lang="en-US" sz="3400" b="1" dirty="0">
                <a:solidFill>
                  <a:schemeClr val="accent3"/>
                </a:solidFill>
              </a:rPr>
              <a:t>2,4 µs</a:t>
            </a:r>
            <a:endParaRPr lang="en-US" sz="3400" dirty="0"/>
          </a:p>
        </p:txBody>
      </p:sp>
      <p:sp>
        <p:nvSpPr>
          <p:cNvPr id="9" name="texto-141"/>
          <p:cNvSpPr txBox="1"/>
          <p:nvPr/>
        </p:nvSpPr>
        <p:spPr>
          <a:xfrm>
            <a:off x="932688" y="4379976"/>
            <a:ext cx="3090672" cy="457200"/>
          </a:xfrm>
          <a:prstGeom prst="rect">
            <a:avLst/>
          </a:prstGeom>
          <a:noFill/>
          <a:ln/>
        </p:spPr>
        <p:txBody>
          <a:bodyPr wrap="square" lIns="0" tIns="0" rIns="0" bIns="0" rtlCol="0" anchor="t"/>
          <a:lstStyle/>
          <a:p>
            <a:pPr indent="0" marL="0">
              <a:buNone/>
            </a:pPr>
            <a:r>
              <a:rPr lang="en-US" sz="1200" dirty="0">
                <a:solidFill>
                  <a:schemeClr val="accent5"/>
                </a:solidFill>
              </a:rPr>
              <a:t>por operación con 10M claves (2,1 sondeos)</a:t>
            </a:r>
            <a:endParaRPr lang="en-US" sz="1200" dirty="0"/>
          </a:p>
        </p:txBody>
      </p:sp>
      <p:sp>
        <p:nvSpPr>
          <p:cNvPr id="10" name="tarjeta-142"/>
          <p:cNvSpPr/>
          <p:nvPr/>
        </p:nvSpPr>
        <p:spPr>
          <a:xfrm>
            <a:off x="4393692" y="1783080"/>
            <a:ext cx="3401568" cy="3246120"/>
          </a:xfrm>
          <a:prstGeom prst="roundRect">
            <a:avLst>
              <a:gd name="adj" fmla="val 2254"/>
            </a:avLst>
          </a:prstGeom>
          <a:solidFill>
            <a:srgbClr val="FFFFFF"/>
          </a:solidFill>
          <a:ln w="9525">
            <a:solidFill>
              <a:srgbClr val="E2E8F0"/>
            </a:solidFill>
            <a:prstDash val="solid"/>
          </a:ln>
        </p:spPr>
        <p:txBody>
          <a:bodyPr/>
          <a:p/>
        </p:txBody>
      </p:sp>
      <p:sp>
        <p:nvSpPr>
          <p:cNvPr id="11" name="etiqueta-143"/>
          <p:cNvSpPr/>
          <p:nvPr/>
        </p:nvSpPr>
        <p:spPr>
          <a:xfrm>
            <a:off x="4549140" y="1938528"/>
            <a:ext cx="980054" cy="246888"/>
          </a:xfrm>
          <a:prstGeom prst="roundRect">
            <a:avLst>
              <a:gd name="adj" fmla="val 18519"/>
            </a:avLst>
          </a:prstGeom>
          <a:solidFill>
            <a:schemeClr val="accent4"/>
          </a:solidFill>
          <a:ln/>
        </p:spPr>
        <p:txBody>
          <a:bodyPr wrap="square" lIns="0" tIns="0" rIns="0" bIns="0" rtlCol="0" anchor="ctr"/>
          <a:lstStyle/>
          <a:p>
            <a:pPr algn="ctr" indent="0" marL="0">
              <a:buNone/>
            </a:pPr>
            <a:r>
              <a:rPr lang="en-US" sz="1100" b="1" dirty="0">
                <a:solidFill>
                  <a:srgbClr val="04222B"/>
                </a:solidFill>
              </a:rPr>
              <a:t>CACHÉ LRU</a:t>
            </a:r>
            <a:endParaRPr lang="en-US" sz="1100" dirty="0"/>
          </a:p>
        </p:txBody>
      </p:sp>
      <p:sp>
        <p:nvSpPr>
          <p:cNvPr id="12" name="texto-144"/>
          <p:cNvSpPr txBox="1"/>
          <p:nvPr/>
        </p:nvSpPr>
        <p:spPr>
          <a:xfrm>
            <a:off x="4549140" y="2286000"/>
            <a:ext cx="3090672" cy="310896"/>
          </a:xfrm>
          <a:prstGeom prst="rect">
            <a:avLst/>
          </a:prstGeom>
          <a:noFill/>
          <a:ln/>
        </p:spPr>
        <p:txBody>
          <a:bodyPr wrap="square" lIns="0" tIns="0" rIns="0" bIns="0" rtlCol="0" anchor="t"/>
          <a:lstStyle/>
          <a:p>
            <a:pPr indent="0" marL="0">
              <a:buNone/>
            </a:pPr>
            <a:r>
              <a:rPr lang="en-US" sz="1600" b="1" dirty="0">
                <a:solidFill>
                  <a:srgbClr val="1A2430"/>
                </a:solidFill>
              </a:rPr>
              <a:t>Hash + lista doble</a:t>
            </a:r>
            <a:endParaRPr lang="en-US" sz="1600" dirty="0"/>
          </a:p>
        </p:txBody>
      </p:sp>
      <p:sp>
        <p:nvSpPr>
          <p:cNvPr id="13" name="texto-145"/>
          <p:cNvSpPr txBox="1"/>
          <p:nvPr/>
        </p:nvSpPr>
        <p:spPr>
          <a:xfrm>
            <a:off x="4549140" y="2651760"/>
            <a:ext cx="3090672" cy="1005840"/>
          </a:xfrm>
          <a:prstGeom prst="rect">
            <a:avLst/>
          </a:prstGeom>
          <a:noFill/>
          <a:ln/>
        </p:spPr>
        <p:txBody>
          <a:bodyPr wrap="square" lIns="0" tIns="0" rIns="0" bIns="0" rtlCol="0" anchor="t"/>
          <a:lstStyle/>
          <a:p>
            <a:pPr indent="0" marL="0">
              <a:buNone/>
            </a:pPr>
            <a:r>
              <a:rPr lang="en-US" sz="1400" dirty="0">
                <a:solidFill>
                  <a:schemeClr val="accent5"/>
                </a:solidFill>
              </a:rPr>
              <a:t>Fichas de producto y recomendaciones calculadas; O(1) por acceso.</a:t>
            </a:r>
            <a:endParaRPr lang="en-US" sz="1400" dirty="0"/>
          </a:p>
        </p:txBody>
      </p:sp>
      <p:sp>
        <p:nvSpPr>
          <p:cNvPr id="14" name="texto-146"/>
          <p:cNvSpPr txBox="1"/>
          <p:nvPr/>
        </p:nvSpPr>
        <p:spPr>
          <a:xfrm>
            <a:off x="4549140" y="3794760"/>
            <a:ext cx="3090672" cy="548640"/>
          </a:xfrm>
          <a:prstGeom prst="rect">
            <a:avLst/>
          </a:prstGeom>
          <a:noFill/>
          <a:ln/>
        </p:spPr>
        <p:txBody>
          <a:bodyPr wrap="square" lIns="0" tIns="0" rIns="0" bIns="0" rtlCol="0" anchor="b"/>
          <a:lstStyle/>
          <a:p>
            <a:pPr indent="0" marL="0">
              <a:buNone/>
            </a:pPr>
            <a:r>
              <a:rPr lang="en-US" sz="3400" b="1" dirty="0">
                <a:solidFill>
                  <a:schemeClr val="accent3"/>
                </a:solidFill>
              </a:rPr>
              <a:t>91,5 %</a:t>
            </a:r>
            <a:endParaRPr lang="en-US" sz="3400" dirty="0"/>
          </a:p>
        </p:txBody>
      </p:sp>
      <p:sp>
        <p:nvSpPr>
          <p:cNvPr id="15" name="texto-147"/>
          <p:cNvSpPr txBox="1"/>
          <p:nvPr/>
        </p:nvSpPr>
        <p:spPr>
          <a:xfrm>
            <a:off x="4549140" y="4379976"/>
            <a:ext cx="3090672" cy="457200"/>
          </a:xfrm>
          <a:prstGeom prst="rect">
            <a:avLst/>
          </a:prstGeom>
          <a:noFill/>
          <a:ln/>
        </p:spPr>
        <p:txBody>
          <a:bodyPr wrap="square" lIns="0" tIns="0" rIns="0" bIns="0" rtlCol="0" anchor="t"/>
          <a:lstStyle/>
          <a:p>
            <a:pPr indent="0" marL="0">
              <a:buNone/>
            </a:pPr>
            <a:r>
              <a:rPr lang="en-US" sz="1200" dirty="0">
                <a:solidFill>
                  <a:schemeClr val="accent5"/>
                </a:solidFill>
              </a:rPr>
              <a:t>de aciertos con accesos tipo Zipf</a:t>
            </a:r>
            <a:endParaRPr lang="en-US" sz="1200" dirty="0"/>
          </a:p>
        </p:txBody>
      </p:sp>
      <p:sp>
        <p:nvSpPr>
          <p:cNvPr id="16" name="tarjeta-148"/>
          <p:cNvSpPr/>
          <p:nvPr/>
        </p:nvSpPr>
        <p:spPr>
          <a:xfrm>
            <a:off x="8010144" y="1783080"/>
            <a:ext cx="3401568" cy="3246120"/>
          </a:xfrm>
          <a:prstGeom prst="roundRect">
            <a:avLst>
              <a:gd name="adj" fmla="val 2254"/>
            </a:avLst>
          </a:prstGeom>
          <a:solidFill>
            <a:srgbClr val="FFFFFF"/>
          </a:solidFill>
          <a:ln w="9525">
            <a:solidFill>
              <a:srgbClr val="E2E8F0"/>
            </a:solidFill>
            <a:prstDash val="solid"/>
          </a:ln>
        </p:spPr>
        <p:txBody>
          <a:bodyPr/>
          <a:p/>
        </p:txBody>
      </p:sp>
      <p:sp>
        <p:nvSpPr>
          <p:cNvPr id="17" name="etiqueta-149"/>
          <p:cNvSpPr/>
          <p:nvPr/>
        </p:nvSpPr>
        <p:spPr>
          <a:xfrm>
            <a:off x="8165592" y="1938528"/>
            <a:ext cx="1474927" cy="246888"/>
          </a:xfrm>
          <a:prstGeom prst="roundRect">
            <a:avLst>
              <a:gd name="adj" fmla="val 18519"/>
            </a:avLst>
          </a:prstGeom>
          <a:solidFill>
            <a:schemeClr val="accent4"/>
          </a:solidFill>
          <a:ln/>
        </p:spPr>
        <p:txBody>
          <a:bodyPr wrap="square" lIns="0" tIns="0" rIns="0" bIns="0" rtlCol="0" anchor="ctr"/>
          <a:lstStyle/>
          <a:p>
            <a:pPr algn="ctr" indent="0" marL="0">
              <a:buNone/>
            </a:pPr>
            <a:r>
              <a:rPr lang="en-US" sz="1100" b="1" dirty="0">
                <a:solidFill>
                  <a:srgbClr val="04222B"/>
                </a:solidFill>
              </a:rPr>
              <a:t>MATRIZ DISPERSA</a:t>
            </a:r>
            <a:endParaRPr lang="en-US" sz="1100" dirty="0"/>
          </a:p>
        </p:txBody>
      </p:sp>
      <p:sp>
        <p:nvSpPr>
          <p:cNvPr id="18" name="texto-150"/>
          <p:cNvSpPr txBox="1"/>
          <p:nvPr/>
        </p:nvSpPr>
        <p:spPr>
          <a:xfrm>
            <a:off x="8165592" y="2286000"/>
            <a:ext cx="3090672" cy="310896"/>
          </a:xfrm>
          <a:prstGeom prst="rect">
            <a:avLst/>
          </a:prstGeom>
          <a:noFill/>
          <a:ln/>
        </p:spPr>
        <p:txBody>
          <a:bodyPr wrap="square" lIns="0" tIns="0" rIns="0" bIns="0" rtlCol="0" anchor="t"/>
          <a:lstStyle/>
          <a:p>
            <a:pPr indent="0" marL="0">
              <a:buNone/>
            </a:pPr>
            <a:r>
              <a:rPr lang="en-US" sz="1600" b="1" dirty="0">
                <a:solidFill>
                  <a:srgbClr val="1A2430"/>
                </a:solidFill>
              </a:rPr>
              <a:t>DOK → CSR</a:t>
            </a:r>
            <a:endParaRPr lang="en-US" sz="1600" dirty="0"/>
          </a:p>
        </p:txBody>
      </p:sp>
      <p:sp>
        <p:nvSpPr>
          <p:cNvPr id="19" name="texto-151"/>
          <p:cNvSpPr txBox="1"/>
          <p:nvPr/>
        </p:nvSpPr>
        <p:spPr>
          <a:xfrm>
            <a:off x="8165592" y="2651760"/>
            <a:ext cx="3090672" cy="1005840"/>
          </a:xfrm>
          <a:prstGeom prst="rect">
            <a:avLst/>
          </a:prstGeom>
          <a:noFill/>
          <a:ln/>
        </p:spPr>
        <p:txBody>
          <a:bodyPr wrap="square" lIns="0" tIns="0" rIns="0" bIns="0" rtlCol="0" anchor="t"/>
          <a:lstStyle/>
          <a:p>
            <a:pPr indent="0" marL="0">
              <a:buNone/>
            </a:pPr>
            <a:r>
              <a:rPr lang="en-US" sz="1400" dirty="0">
                <a:solidFill>
                  <a:schemeClr val="accent5"/>
                </a:solidFill>
              </a:rPr>
              <a:t>Matriz usuario × producto: alimenta MinHash y la SVD de S7.</a:t>
            </a:r>
            <a:endParaRPr lang="en-US" sz="1400" dirty="0"/>
          </a:p>
        </p:txBody>
      </p:sp>
      <p:sp>
        <p:nvSpPr>
          <p:cNvPr id="20" name="texto-152"/>
          <p:cNvSpPr txBox="1"/>
          <p:nvPr/>
        </p:nvSpPr>
        <p:spPr>
          <a:xfrm>
            <a:off x="8165592" y="3794760"/>
            <a:ext cx="3090672" cy="548640"/>
          </a:xfrm>
          <a:prstGeom prst="rect">
            <a:avLst/>
          </a:prstGeom>
          <a:noFill/>
          <a:ln/>
        </p:spPr>
        <p:txBody>
          <a:bodyPr wrap="square" lIns="0" tIns="0" rIns="0" bIns="0" rtlCol="0" anchor="b"/>
          <a:lstStyle/>
          <a:p>
            <a:pPr indent="0" marL="0">
              <a:buNone/>
            </a:pPr>
            <a:r>
              <a:rPr lang="en-US" sz="3400" b="1" dirty="0">
                <a:solidFill>
                  <a:schemeClr val="accent3"/>
                </a:solidFill>
              </a:rPr>
              <a:t>5,8 M</a:t>
            </a:r>
            <a:endParaRPr lang="en-US" sz="3400" dirty="0"/>
          </a:p>
        </p:txBody>
      </p:sp>
      <p:sp>
        <p:nvSpPr>
          <p:cNvPr id="21" name="texto-153"/>
          <p:cNvSpPr txBox="1"/>
          <p:nvPr/>
        </p:nvSpPr>
        <p:spPr>
          <a:xfrm>
            <a:off x="8165592" y="4379976"/>
            <a:ext cx="3090672" cy="457200"/>
          </a:xfrm>
          <a:prstGeom prst="rect">
            <a:avLst/>
          </a:prstGeom>
          <a:noFill/>
          <a:ln/>
        </p:spPr>
        <p:txBody>
          <a:bodyPr wrap="square" lIns="0" tIns="0" rIns="0" bIns="0" rtlCol="0" anchor="t"/>
          <a:lstStyle/>
          <a:p>
            <a:pPr indent="0" marL="0">
              <a:buNone/>
            </a:pPr>
            <a:r>
              <a:rPr lang="en-US" sz="1200" dirty="0">
                <a:solidFill>
                  <a:schemeClr val="accent5"/>
                </a:solidFill>
              </a:rPr>
              <a:t>celdas no nulas; la densa tendría 129 mil millones</a:t>
            </a:r>
            <a:endParaRPr lang="en-US" sz="1200" dirty="0"/>
          </a:p>
        </p:txBody>
      </p:sp>
      <p:sp>
        <p:nvSpPr>
          <p:cNvPr id="22" name="tarjeta-154"/>
          <p:cNvSpPr/>
          <p:nvPr/>
        </p:nvSpPr>
        <p:spPr>
          <a:xfrm>
            <a:off x="777240" y="5212080"/>
            <a:ext cx="10634472" cy="960120"/>
          </a:xfrm>
          <a:prstGeom prst="roundRect">
            <a:avLst>
              <a:gd name="adj" fmla="val 7619"/>
            </a:avLst>
          </a:prstGeom>
          <a:solidFill>
            <a:schemeClr val="accent6"/>
          </a:solidFill>
          <a:ln w="9525">
            <a:solidFill>
              <a:schemeClr val="accent1"/>
            </a:solidFill>
            <a:prstDash val="solid"/>
          </a:ln>
        </p:spPr>
        <p:txBody>
          <a:bodyPr/>
          <a:p/>
        </p:txBody>
      </p:sp>
      <p:sp>
        <p:nvSpPr>
          <p:cNvPr id="23" name="etiqueta-155"/>
          <p:cNvSpPr/>
          <p:nvPr/>
        </p:nvSpPr>
        <p:spPr>
          <a:xfrm>
            <a:off x="932688" y="5330952"/>
            <a:ext cx="2712110" cy="246888"/>
          </a:xfrm>
          <a:prstGeom prst="roundRect">
            <a:avLst>
              <a:gd name="adj" fmla="val 18519"/>
            </a:avLst>
          </a:prstGeom>
          <a:solidFill>
            <a:schemeClr val="accent1"/>
          </a:solidFill>
          <a:ln/>
        </p:spPr>
        <p:txBody>
          <a:bodyPr wrap="square" lIns="0" tIns="0" rIns="0" bIns="0" rtlCol="0" anchor="ctr"/>
          <a:lstStyle/>
          <a:p>
            <a:pPr algn="ctr" indent="0" marL="0">
              <a:buNone/>
            </a:pPr>
            <a:r>
              <a:rPr lang="en-US" sz="1100" b="1" dirty="0">
                <a:solidFill>
                  <a:srgbClr val="04222B"/>
                </a:solidFill>
              </a:rPr>
              <a:t>CORRECCIÓN DE LA VERSIÓN FINAL</a:t>
            </a:r>
            <a:endParaRPr lang="en-US" sz="1100" dirty="0"/>
          </a:p>
        </p:txBody>
      </p:sp>
      <p:sp>
        <p:nvSpPr>
          <p:cNvPr id="24" name="texto-156"/>
          <p:cNvSpPr txBox="1"/>
          <p:nvPr/>
        </p:nvSpPr>
        <p:spPr>
          <a:xfrm>
            <a:off x="932688" y="5623560"/>
            <a:ext cx="10332720" cy="457200"/>
          </a:xfrm>
          <a:prstGeom prst="rect">
            <a:avLst/>
          </a:prstGeom>
          <a:noFill/>
          <a:ln/>
        </p:spPr>
        <p:txBody>
          <a:bodyPr wrap="square" lIns="0" tIns="0" rIns="0" bIns="0" rtlCol="0" anchor="ctr"/>
          <a:lstStyle/>
          <a:p>
            <a:pPr indent="0" marL="0">
              <a:buNone/>
            </a:pPr>
            <a:r>
              <a:rPr lang="en-US" sz="1400" dirty="0">
                <a:solidFill>
                  <a:schemeClr val="accent3"/>
                </a:solidFill>
              </a:rPr>
              <a:t>La celda se codificaba como fila·ncols + col y se corrompía al crecer el catálogo. Ahora la clave es el par (fila, columna).</a:t>
            </a:r>
            <a:endParaRPr lang="en-US" sz="14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2" type="body" hasCustomPrompt="1"/>
          </p:nvPr>
        </p:nvSpPr>
        <p:spPr>
          <a:xfrm>
            <a:off x="777240" y="603504"/>
            <a:ext cx="10607040" cy="274320"/>
          </a:xfrm>
          <a:prstGeom prst="rect">
            <a:avLst/>
          </a:prstGeom>
          <a:noFill/>
          <a:ln/>
        </p:spPr>
        <p:txBody>
          <a:bodyPr wrap="square" lIns="0" tIns="0" rIns="0" bIns="0" rtlCol="0" anchor="ctr"/>
          <a:lstStyle/>
          <a:p>
            <a:pPr algn="l" indent="0" marL="0">
              <a:buNone/>
            </a:pPr>
            <a:r>
              <a:rPr lang="en-US" sz="1100" b="1" dirty="0">
                <a:solidFill>
                  <a:schemeClr val="accent2"/>
                </a:solidFill>
              </a:rPr>
              <a:t>S4 Y S5 · ÍNDICE EN DISCO Y VECINOS</a:t>
            </a:r>
            <a:endParaRPr lang="en-US" sz="1100" dirty="0"/>
          </a:p>
        </p:txBody>
      </p:sp>
      <p:sp>
        <p:nvSpPr>
          <p:cNvPr id="3" name="Text 0"/>
          <p:cNvSpPr/>
          <p:nvPr>
            <p:ph idx="103" type="title" hasCustomPrompt="1"/>
          </p:nvPr>
        </p:nvSpPr>
        <p:spPr>
          <a:xfrm>
            <a:off x="777240" y="877824"/>
            <a:ext cx="10789920" cy="548640"/>
          </a:xfrm>
          <a:prstGeom prst="rect">
            <a:avLst/>
          </a:prstGeom>
          <a:noFill/>
          <a:ln/>
        </p:spPr>
        <p:txBody>
          <a:bodyPr wrap="square" lIns="0" tIns="0" rIns="0" bIns="0" rtlCol="0" anchor="ctr"/>
          <a:lstStyle/>
          <a:p>
            <a:pPr algn="l" indent="0" marL="0">
              <a:buNone/>
            </a:pPr>
            <a:r>
              <a:rPr lang="en-US" sz="3000" b="1" dirty="0">
                <a:solidFill>
                  <a:schemeClr val="tx1"/>
                </a:solidFill>
              </a:rPr>
              <a:t>B+Tree para rangos en disco, KD-Tree para vecinos</a:t>
            </a:r>
            <a:endParaRPr lang="en-US" sz="3000" dirty="0"/>
          </a:p>
        </p:txBody>
      </p:sp>
      <p:sp>
        <p:nvSpPr>
          <p:cNvPr id="4" name="tarjeta-157"/>
          <p:cNvSpPr/>
          <p:nvPr/>
        </p:nvSpPr>
        <p:spPr>
          <a:xfrm>
            <a:off x="777240" y="1783080"/>
            <a:ext cx="5212080" cy="3429000"/>
          </a:xfrm>
          <a:prstGeom prst="roundRect">
            <a:avLst>
              <a:gd name="adj" fmla="val 2133"/>
            </a:avLst>
          </a:prstGeom>
          <a:solidFill>
            <a:srgbClr val="FFFFFF"/>
          </a:solidFill>
          <a:ln w="9525">
            <a:solidFill>
              <a:srgbClr val="E2E8F0"/>
            </a:solidFill>
            <a:prstDash val="solid"/>
          </a:ln>
        </p:spPr>
        <p:txBody>
          <a:bodyPr/>
          <a:p/>
        </p:txBody>
      </p:sp>
      <p:sp>
        <p:nvSpPr>
          <p:cNvPr id="5" name="etiqueta-158"/>
          <p:cNvSpPr/>
          <p:nvPr/>
        </p:nvSpPr>
        <p:spPr>
          <a:xfrm>
            <a:off x="960120" y="1965960"/>
            <a:ext cx="1887322" cy="246888"/>
          </a:xfrm>
          <a:prstGeom prst="roundRect">
            <a:avLst>
              <a:gd name="adj" fmla="val 18519"/>
            </a:avLst>
          </a:prstGeom>
          <a:solidFill>
            <a:schemeClr val="accent4"/>
          </a:solidFill>
          <a:ln/>
        </p:spPr>
        <p:txBody>
          <a:bodyPr wrap="square" lIns="0" tIns="0" rIns="0" bIns="0" rtlCol="0" anchor="ctr"/>
          <a:lstStyle/>
          <a:p>
            <a:pPr algn="ctr" indent="0" marL="0">
              <a:buNone/>
            </a:pPr>
            <a:r>
              <a:rPr lang="en-US" sz="1100" b="1" dirty="0">
                <a:solidFill>
                  <a:srgbClr val="04222B"/>
                </a:solidFill>
              </a:rPr>
              <a:t>S4 · B+TREE EN DISCO</a:t>
            </a:r>
            <a:endParaRPr lang="en-US" sz="1100" dirty="0"/>
          </a:p>
        </p:txBody>
      </p:sp>
      <p:sp>
        <p:nvSpPr>
          <p:cNvPr id="6" name="texto-159"/>
          <p:cNvSpPr txBox="1"/>
          <p:nvPr/>
        </p:nvSpPr>
        <p:spPr>
          <a:xfrm>
            <a:off x="960120" y="2331720"/>
            <a:ext cx="4846320" cy="310896"/>
          </a:xfrm>
          <a:prstGeom prst="rect">
            <a:avLst/>
          </a:prstGeom>
          <a:noFill/>
          <a:ln/>
        </p:spPr>
        <p:txBody>
          <a:bodyPr wrap="square" lIns="0" tIns="0" rIns="0" bIns="0" rtlCol="0" anchor="t"/>
          <a:lstStyle/>
          <a:p>
            <a:pPr indent="0" marL="0">
              <a:buNone/>
            </a:pPr>
            <a:r>
              <a:rPr lang="en-US" sz="1600" b="1" dirty="0">
                <a:solidFill>
                  <a:srgbClr val="1A2430"/>
                </a:solidFill>
              </a:rPr>
              <a:t>Páginas de 4 KB, 255 claves por hoja</a:t>
            </a:r>
            <a:endParaRPr lang="en-US" sz="1600" dirty="0"/>
          </a:p>
        </p:txBody>
      </p:sp>
      <p:sp>
        <p:nvSpPr>
          <p:cNvPr id="7" name="texto-160"/>
          <p:cNvSpPr txBox="1"/>
          <p:nvPr/>
        </p:nvSpPr>
        <p:spPr>
          <a:xfrm>
            <a:off x="960120" y="2743200"/>
            <a:ext cx="4846320" cy="14630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accent5"/>
                </a:solidFill>
              </a:rPr>
              <a:t>Índice de precio (carga masiva) e índice temporal de órdenes</a:t>
            </a:r>
            <a:endParaRPr lang="en-US" sz="1400" dirty="0"/>
          </a:p>
          <a:p>
            <a:pPr marL="177800" indent="-177800">
              <a:spcAft>
                <a:spcPts val="500"/>
              </a:spcAft>
              <a:buSzPct val="100000"/>
              <a:buChar char="•"/>
            </a:pPr>
            <a:r>
              <a:rPr lang="en-US" sz="1400" dirty="0">
                <a:solidFill>
                  <a:schemeClr val="accent5"/>
                </a:solidFill>
              </a:rPr>
              <a:t>Hojas enlazadas y buffer LRU con escritura diferida</a:t>
            </a:r>
            <a:endParaRPr lang="en-US" sz="1400" dirty="0"/>
          </a:p>
          <a:p>
            <a:pPr marL="177800" indent="-177800">
              <a:spcAft>
                <a:spcPts val="500"/>
              </a:spcAft>
              <a:buSzPct val="100000"/>
              <a:buChar char="•"/>
            </a:pPr>
            <a:r>
              <a:rPr lang="en-US" sz="1400" dirty="0">
                <a:solidFill>
                  <a:schemeClr val="accent5"/>
                </a:solidFill>
              </a:rPr>
              <a:t>Árbol binario con 10⁹ claves: ~43 accesos; B+Tree: 4</a:t>
            </a:r>
            <a:endParaRPr lang="en-US" sz="1400" dirty="0"/>
          </a:p>
        </p:txBody>
      </p:sp>
      <p:sp>
        <p:nvSpPr>
          <p:cNvPr id="8" name="texto-161"/>
          <p:cNvSpPr txBox="1"/>
          <p:nvPr/>
        </p:nvSpPr>
        <p:spPr>
          <a:xfrm>
            <a:off x="960120" y="4023360"/>
            <a:ext cx="2377440" cy="548640"/>
          </a:xfrm>
          <a:prstGeom prst="rect">
            <a:avLst/>
          </a:prstGeom>
          <a:noFill/>
          <a:ln/>
        </p:spPr>
        <p:txBody>
          <a:bodyPr wrap="square" lIns="0" tIns="0" rIns="0" bIns="0" rtlCol="0" anchor="b"/>
          <a:lstStyle/>
          <a:p>
            <a:pPr indent="0" marL="0">
              <a:buNone/>
            </a:pPr>
            <a:r>
              <a:rPr lang="en-US" sz="3400" b="1" dirty="0">
                <a:solidFill>
                  <a:schemeClr val="accent3"/>
                </a:solidFill>
              </a:rPr>
              <a:t>44 µs</a:t>
            </a:r>
            <a:endParaRPr lang="en-US" sz="3400" dirty="0"/>
          </a:p>
        </p:txBody>
      </p:sp>
      <p:sp>
        <p:nvSpPr>
          <p:cNvPr id="9" name="texto-162"/>
          <p:cNvSpPr txBox="1"/>
          <p:nvPr/>
        </p:nvSpPr>
        <p:spPr>
          <a:xfrm>
            <a:off x="960120" y="4608576"/>
            <a:ext cx="2377440" cy="548640"/>
          </a:xfrm>
          <a:prstGeom prst="rect">
            <a:avLst/>
          </a:prstGeom>
          <a:noFill/>
          <a:ln/>
        </p:spPr>
        <p:txBody>
          <a:bodyPr wrap="square" lIns="0" tIns="0" rIns="0" bIns="0" rtlCol="0" anchor="t"/>
          <a:lstStyle/>
          <a:p>
            <a:pPr indent="0" marL="0">
              <a:buNone/>
            </a:pPr>
            <a:r>
              <a:rPr lang="en-US" sz="1200" dirty="0">
                <a:solidFill>
                  <a:schemeClr val="accent5"/>
                </a:solidFill>
              </a:rPr>
              <a:t>por búsqueda con 10M claves</a:t>
            </a:r>
            <a:endParaRPr lang="en-US" sz="1200" dirty="0"/>
          </a:p>
        </p:txBody>
      </p:sp>
      <p:sp>
        <p:nvSpPr>
          <p:cNvPr id="10" name="texto-163"/>
          <p:cNvSpPr txBox="1"/>
          <p:nvPr/>
        </p:nvSpPr>
        <p:spPr>
          <a:xfrm>
            <a:off x="3474720" y="4023360"/>
            <a:ext cx="2377440" cy="548640"/>
          </a:xfrm>
          <a:prstGeom prst="rect">
            <a:avLst/>
          </a:prstGeom>
          <a:noFill/>
          <a:ln/>
        </p:spPr>
        <p:txBody>
          <a:bodyPr wrap="square" lIns="0" tIns="0" rIns="0" bIns="0" rtlCol="0" anchor="b"/>
          <a:lstStyle/>
          <a:p>
            <a:pPr indent="0" marL="0">
              <a:buNone/>
            </a:pPr>
            <a:r>
              <a:rPr lang="en-US" sz="3400" b="1" dirty="0">
                <a:solidFill>
                  <a:schemeClr val="accent3"/>
                </a:solidFill>
              </a:rPr>
              <a:t>altura 3</a:t>
            </a:r>
            <a:endParaRPr lang="en-US" sz="3400" dirty="0"/>
          </a:p>
        </p:txBody>
      </p:sp>
      <p:sp>
        <p:nvSpPr>
          <p:cNvPr id="11" name="texto-164"/>
          <p:cNvSpPr txBox="1"/>
          <p:nvPr/>
        </p:nvSpPr>
        <p:spPr>
          <a:xfrm>
            <a:off x="3474720" y="4608576"/>
            <a:ext cx="2377440" cy="548640"/>
          </a:xfrm>
          <a:prstGeom prst="rect">
            <a:avLst/>
          </a:prstGeom>
          <a:noFill/>
          <a:ln/>
        </p:spPr>
        <p:txBody>
          <a:bodyPr wrap="square" lIns="0" tIns="0" rIns="0" bIns="0" rtlCol="0" anchor="t"/>
          <a:lstStyle/>
          <a:p>
            <a:pPr indent="0" marL="0">
              <a:buNone/>
            </a:pPr>
            <a:r>
              <a:rPr lang="en-US" sz="1200" dirty="0">
                <a:solidFill>
                  <a:schemeClr val="accent5"/>
                </a:solidFill>
              </a:rPr>
              <a:t>3 páginas leídas por búsqueda</a:t>
            </a:r>
            <a:endParaRPr lang="en-US" sz="1200" dirty="0"/>
          </a:p>
        </p:txBody>
      </p:sp>
      <p:sp>
        <p:nvSpPr>
          <p:cNvPr id="12" name="tarjeta-165"/>
          <p:cNvSpPr/>
          <p:nvPr/>
        </p:nvSpPr>
        <p:spPr>
          <a:xfrm>
            <a:off x="6199632" y="1783080"/>
            <a:ext cx="5212080" cy="3429000"/>
          </a:xfrm>
          <a:prstGeom prst="roundRect">
            <a:avLst>
              <a:gd name="adj" fmla="val 2133"/>
            </a:avLst>
          </a:prstGeom>
          <a:solidFill>
            <a:srgbClr val="FFFFFF"/>
          </a:solidFill>
          <a:ln w="9525">
            <a:solidFill>
              <a:srgbClr val="E2E8F0"/>
            </a:solidFill>
            <a:prstDash val="solid"/>
          </a:ln>
        </p:spPr>
        <p:txBody>
          <a:bodyPr/>
          <a:p/>
        </p:txBody>
      </p:sp>
      <p:sp>
        <p:nvSpPr>
          <p:cNvPr id="13" name="etiqueta-166"/>
          <p:cNvSpPr/>
          <p:nvPr/>
        </p:nvSpPr>
        <p:spPr>
          <a:xfrm>
            <a:off x="6382512" y="1965960"/>
            <a:ext cx="1474927" cy="246888"/>
          </a:xfrm>
          <a:prstGeom prst="roundRect">
            <a:avLst>
              <a:gd name="adj" fmla="val 18519"/>
            </a:avLst>
          </a:prstGeom>
          <a:solidFill>
            <a:schemeClr val="accent4"/>
          </a:solidFill>
          <a:ln/>
        </p:spPr>
        <p:txBody>
          <a:bodyPr wrap="square" lIns="0" tIns="0" rIns="0" bIns="0" rtlCol="0" anchor="ctr"/>
          <a:lstStyle/>
          <a:p>
            <a:pPr algn="ctr" indent="0" marL="0">
              <a:buNone/>
            </a:pPr>
            <a:r>
              <a:rPr lang="en-US" sz="1100" b="1" dirty="0">
                <a:solidFill>
                  <a:srgbClr val="04222B"/>
                </a:solidFill>
              </a:rPr>
              <a:t>S5 · KD-TREE 3D</a:t>
            </a:r>
            <a:endParaRPr lang="en-US" sz="1100" dirty="0"/>
          </a:p>
        </p:txBody>
      </p:sp>
      <p:sp>
        <p:nvSpPr>
          <p:cNvPr id="14" name="texto-167"/>
          <p:cNvSpPr txBox="1"/>
          <p:nvPr/>
        </p:nvSpPr>
        <p:spPr>
          <a:xfrm>
            <a:off x="6382512" y="2331720"/>
            <a:ext cx="4846320" cy="310896"/>
          </a:xfrm>
          <a:prstGeom prst="rect">
            <a:avLst/>
          </a:prstGeom>
          <a:noFill/>
          <a:ln/>
        </p:spPr>
        <p:txBody>
          <a:bodyPr wrap="square" lIns="0" tIns="0" rIns="0" bIns="0" rtlCol="0" anchor="t"/>
          <a:lstStyle/>
          <a:p>
            <a:pPr indent="0" marL="0">
              <a:buNone/>
            </a:pPr>
            <a:r>
              <a:rPr lang="en-US" sz="1600" b="1" dirty="0">
                <a:solidFill>
                  <a:srgbClr val="1A2430"/>
                </a:solidFill>
              </a:rPr>
              <a:t>Precio, popularidad y conversión</a:t>
            </a:r>
            <a:endParaRPr lang="en-US" sz="1600" dirty="0"/>
          </a:p>
        </p:txBody>
      </p:sp>
      <p:sp>
        <p:nvSpPr>
          <p:cNvPr id="15" name="texto-168"/>
          <p:cNvSpPr txBox="1"/>
          <p:nvPr/>
        </p:nvSpPr>
        <p:spPr>
          <a:xfrm>
            <a:off x="6382512" y="2743200"/>
            <a:ext cx="4846320" cy="14630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accent5"/>
                </a:solidFill>
              </a:rPr>
              <a:t>Corte por la mediana del eje más extendido, hojas de 16</a:t>
            </a:r>
            <a:endParaRPr lang="en-US" sz="1400" dirty="0"/>
          </a:p>
          <a:p>
            <a:pPr marL="177800" indent="-177800">
              <a:spcAft>
                <a:spcPts val="500"/>
              </a:spcAft>
              <a:buSzPct val="100000"/>
              <a:buChar char="•"/>
            </a:pPr>
            <a:r>
              <a:rPr lang="en-US" sz="1400" dirty="0">
                <a:solidFill>
                  <a:schemeClr val="accent5"/>
                </a:solidFill>
              </a:rPr>
              <a:t>KNN exacto en O(log n) en dimensión baja</a:t>
            </a:r>
            <a:endParaRPr lang="en-US" sz="1400" dirty="0"/>
          </a:p>
          <a:p>
            <a:pPr marL="177800" indent="-177800">
              <a:spcAft>
                <a:spcPts val="500"/>
              </a:spcAft>
              <a:buSzPct val="100000"/>
              <a:buChar char="•"/>
            </a:pPr>
            <a:r>
              <a:rPr lang="en-US" sz="1400" dirty="0">
                <a:solidFill>
                  <a:schemeClr val="accent5"/>
                </a:solidFill>
              </a:rPr>
              <a:t>En d = 32 es 421 veces más lento: por eso S7 usa IVF</a:t>
            </a:r>
            <a:endParaRPr lang="en-US" sz="1400" dirty="0"/>
          </a:p>
        </p:txBody>
      </p:sp>
      <p:sp>
        <p:nvSpPr>
          <p:cNvPr id="16" name="texto-169"/>
          <p:cNvSpPr txBox="1"/>
          <p:nvPr/>
        </p:nvSpPr>
        <p:spPr>
          <a:xfrm>
            <a:off x="6382512" y="4023360"/>
            <a:ext cx="2377440" cy="548640"/>
          </a:xfrm>
          <a:prstGeom prst="rect">
            <a:avLst/>
          </a:prstGeom>
          <a:noFill/>
          <a:ln/>
        </p:spPr>
        <p:txBody>
          <a:bodyPr wrap="square" lIns="0" tIns="0" rIns="0" bIns="0" rtlCol="0" anchor="b"/>
          <a:lstStyle/>
          <a:p>
            <a:pPr indent="0" marL="0">
              <a:buNone/>
            </a:pPr>
            <a:r>
              <a:rPr lang="en-US" sz="3400" b="1" dirty="0">
                <a:solidFill>
                  <a:schemeClr val="accent3"/>
                </a:solidFill>
              </a:rPr>
              <a:t>537×</a:t>
            </a:r>
            <a:endParaRPr lang="en-US" sz="3400" dirty="0"/>
          </a:p>
        </p:txBody>
      </p:sp>
      <p:sp>
        <p:nvSpPr>
          <p:cNvPr id="17" name="texto-170"/>
          <p:cNvSpPr txBox="1"/>
          <p:nvPr/>
        </p:nvSpPr>
        <p:spPr>
          <a:xfrm>
            <a:off x="6382512" y="4608576"/>
            <a:ext cx="2377440" cy="548640"/>
          </a:xfrm>
          <a:prstGeom prst="rect">
            <a:avLst/>
          </a:prstGeom>
          <a:noFill/>
          <a:ln/>
        </p:spPr>
        <p:txBody>
          <a:bodyPr wrap="square" lIns="0" tIns="0" rIns="0" bIns="0" rtlCol="0" anchor="t"/>
          <a:lstStyle/>
          <a:p>
            <a:pPr indent="0" marL="0">
              <a:buNone/>
            </a:pPr>
            <a:r>
              <a:rPr lang="en-US" sz="1200" dirty="0">
                <a:solidFill>
                  <a:schemeClr val="accent5"/>
                </a:solidFill>
              </a:rPr>
              <a:t>más rápido que fuerza bruta (0,73 ms frente a 393 ms)</a:t>
            </a:r>
            <a:endParaRPr lang="en-US" sz="1200" dirty="0"/>
          </a:p>
        </p:txBody>
      </p:sp>
      <p:sp>
        <p:nvSpPr>
          <p:cNvPr id="18" name="texto-171"/>
          <p:cNvSpPr txBox="1"/>
          <p:nvPr/>
        </p:nvSpPr>
        <p:spPr>
          <a:xfrm>
            <a:off x="8897112" y="4023360"/>
            <a:ext cx="2377440" cy="548640"/>
          </a:xfrm>
          <a:prstGeom prst="rect">
            <a:avLst/>
          </a:prstGeom>
          <a:noFill/>
          <a:ln/>
        </p:spPr>
        <p:txBody>
          <a:bodyPr wrap="square" lIns="0" tIns="0" rIns="0" bIns="0" rtlCol="0" anchor="b"/>
          <a:lstStyle/>
          <a:p>
            <a:pPr indent="0" marL="0">
              <a:buNone/>
            </a:pPr>
            <a:r>
              <a:rPr lang="en-US" sz="3400" b="1" dirty="0">
                <a:solidFill>
                  <a:schemeClr val="accent3"/>
                </a:solidFill>
              </a:rPr>
              <a:t>0,11</a:t>
            </a:r>
            <a:endParaRPr lang="en-US" sz="3400" dirty="0"/>
          </a:p>
        </p:txBody>
      </p:sp>
      <p:sp>
        <p:nvSpPr>
          <p:cNvPr id="19" name="texto-172"/>
          <p:cNvSpPr txBox="1"/>
          <p:nvPr/>
        </p:nvSpPr>
        <p:spPr>
          <a:xfrm>
            <a:off x="8897112" y="4608576"/>
            <a:ext cx="2377440" cy="548640"/>
          </a:xfrm>
          <a:prstGeom prst="rect">
            <a:avLst/>
          </a:prstGeom>
          <a:noFill/>
          <a:ln/>
        </p:spPr>
        <p:txBody>
          <a:bodyPr wrap="square" lIns="0" tIns="0" rIns="0" bIns="0" rtlCol="0" anchor="t"/>
          <a:lstStyle/>
          <a:p>
            <a:pPr indent="0" marL="0">
              <a:buNone/>
            </a:pPr>
            <a:r>
              <a:rPr lang="en-US" sz="1200" dirty="0">
                <a:solidFill>
                  <a:schemeClr val="accent5"/>
                </a:solidFill>
              </a:rPr>
              <a:t>pendiente log-log, casi plana</a:t>
            </a:r>
            <a:endParaRPr lang="en-US" sz="1200" dirty="0"/>
          </a:p>
        </p:txBody>
      </p:sp>
      <p:sp>
        <p:nvSpPr>
          <p:cNvPr id="20" name="tarjeta-173"/>
          <p:cNvSpPr/>
          <p:nvPr/>
        </p:nvSpPr>
        <p:spPr>
          <a:xfrm>
            <a:off x="777240" y="5394960"/>
            <a:ext cx="10634472" cy="777240"/>
          </a:xfrm>
          <a:prstGeom prst="roundRect">
            <a:avLst>
              <a:gd name="adj" fmla="val 9412"/>
            </a:avLst>
          </a:prstGeom>
          <a:solidFill>
            <a:schemeClr val="accent6"/>
          </a:solidFill>
          <a:ln w="9525">
            <a:solidFill>
              <a:schemeClr val="accent1"/>
            </a:solidFill>
            <a:prstDash val="solid"/>
          </a:ln>
        </p:spPr>
        <p:txBody>
          <a:bodyPr/>
          <a:p/>
        </p:txBody>
      </p:sp>
      <p:sp>
        <p:nvSpPr>
          <p:cNvPr id="21" name="etiqueta-174"/>
          <p:cNvSpPr/>
          <p:nvPr/>
        </p:nvSpPr>
        <p:spPr>
          <a:xfrm>
            <a:off x="932688" y="5504688"/>
            <a:ext cx="2629632" cy="246888"/>
          </a:xfrm>
          <a:prstGeom prst="roundRect">
            <a:avLst>
              <a:gd name="adj" fmla="val 18519"/>
            </a:avLst>
          </a:prstGeom>
          <a:solidFill>
            <a:schemeClr val="accent1"/>
          </a:solidFill>
          <a:ln/>
        </p:spPr>
        <p:txBody>
          <a:bodyPr wrap="square" lIns="0" tIns="0" rIns="0" bIns="0" rtlCol="0" anchor="ctr"/>
          <a:lstStyle/>
          <a:p>
            <a:pPr algn="ctr" indent="0" marL="0">
              <a:buNone/>
            </a:pPr>
            <a:r>
              <a:rPr lang="en-US" sz="1100" b="1" dirty="0">
                <a:solidFill>
                  <a:srgbClr val="04222B"/>
                </a:solidFill>
              </a:rPr>
              <a:t>¿POR QUÉ NO UN ÁRBOL BINARIO?</a:t>
            </a:r>
            <a:endParaRPr lang="en-US" sz="1100" dirty="0"/>
          </a:p>
        </p:txBody>
      </p:sp>
      <p:sp>
        <p:nvSpPr>
          <p:cNvPr id="22" name="texto-175"/>
          <p:cNvSpPr txBox="1"/>
          <p:nvPr/>
        </p:nvSpPr>
        <p:spPr>
          <a:xfrm>
            <a:off x="932688" y="5788152"/>
            <a:ext cx="10332720" cy="329184"/>
          </a:xfrm>
          <a:prstGeom prst="rect">
            <a:avLst/>
          </a:prstGeom>
          <a:noFill/>
          <a:ln/>
        </p:spPr>
        <p:txBody>
          <a:bodyPr wrap="square" lIns="0" tIns="0" rIns="0" bIns="0" rtlCol="0" anchor="ctr"/>
          <a:lstStyle/>
          <a:p>
            <a:pPr indent="0" marL="0">
              <a:buNone/>
            </a:pPr>
            <a:r>
              <a:rPr lang="en-US" sz="1400" dirty="0">
                <a:solidFill>
                  <a:schemeClr val="accent3"/>
                </a:solidFill>
              </a:rPr>
              <a:t>Un nodo AVL ocupa ~40 bytes de una página de 4 KB: cada lectura desperdicia más del 99 % de lo que trae el disco.</a:t>
            </a:r>
            <a:endParaRPr lang="en-US" sz="14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body" hasCustomPrompt="1"/>
          </p:nvPr>
        </p:nvSpPr>
        <p:spPr>
          <a:xfrm>
            <a:off x="777240" y="603504"/>
            <a:ext cx="10607040" cy="274320"/>
          </a:xfrm>
          <a:prstGeom prst="rect">
            <a:avLst/>
          </a:prstGeom>
          <a:noFill/>
          <a:ln/>
        </p:spPr>
        <p:txBody>
          <a:bodyPr wrap="square" lIns="0" tIns="0" rIns="0" bIns="0" rtlCol="0" anchor="ctr"/>
          <a:lstStyle/>
          <a:p>
            <a:pPr algn="l" indent="0" marL="0">
              <a:buNone/>
            </a:pPr>
            <a:r>
              <a:rPr lang="en-US" sz="1100" b="1" dirty="0">
                <a:solidFill>
                  <a:schemeClr val="accent2"/>
                </a:solidFill>
              </a:rPr>
              <a:t>S6 · FILTRADO PROBABILÍSTICO [FIJA]</a:t>
            </a:r>
            <a:endParaRPr lang="en-US" sz="1100" dirty="0"/>
          </a:p>
        </p:txBody>
      </p:sp>
      <p:sp>
        <p:nvSpPr>
          <p:cNvPr id="3" name="Text 0"/>
          <p:cNvSpPr/>
          <p:nvPr>
            <p:ph idx="103" type="title" hasCustomPrompt="1"/>
          </p:nvPr>
        </p:nvSpPr>
        <p:spPr>
          <a:xfrm>
            <a:off x="777240" y="877824"/>
            <a:ext cx="10789920" cy="548640"/>
          </a:xfrm>
          <a:prstGeom prst="rect">
            <a:avLst/>
          </a:prstGeom>
          <a:noFill/>
          <a:ln/>
        </p:spPr>
        <p:txBody>
          <a:bodyPr wrap="square" lIns="0" tIns="0" rIns="0" bIns="0" rtlCol="0" anchor="ctr"/>
          <a:lstStyle/>
          <a:p>
            <a:pPr algn="l" indent="0" marL="0">
              <a:buNone/>
            </a:pPr>
            <a:r>
              <a:rPr lang="en-US" sz="3000" b="1" dirty="0">
                <a:solidFill>
                  <a:schemeClr val="tx1"/>
                </a:solidFill>
              </a:rPr>
              <a:t>Fraude detectado con unos pocos kilobytes</a:t>
            </a:r>
            <a:endParaRPr lang="en-US" sz="3000" dirty="0"/>
          </a:p>
        </p:txBody>
      </p:sp>
      <p:sp>
        <p:nvSpPr>
          <p:cNvPr id="4" name="tarjeta-176"/>
          <p:cNvSpPr/>
          <p:nvPr/>
        </p:nvSpPr>
        <p:spPr>
          <a:xfrm>
            <a:off x="777240" y="1783080"/>
            <a:ext cx="5120640" cy="1481328"/>
          </a:xfrm>
          <a:prstGeom prst="roundRect">
            <a:avLst>
              <a:gd name="adj" fmla="val 4938"/>
            </a:avLst>
          </a:prstGeom>
          <a:solidFill>
            <a:srgbClr val="FFFFFF"/>
          </a:solidFill>
          <a:ln w="9525">
            <a:solidFill>
              <a:srgbClr val="E2E8F0"/>
            </a:solidFill>
            <a:prstDash val="solid"/>
          </a:ln>
        </p:spPr>
        <p:txBody>
          <a:bodyPr/>
          <a:p/>
        </p:txBody>
      </p:sp>
      <p:sp>
        <p:nvSpPr>
          <p:cNvPr id="5" name="etiqueta-177"/>
          <p:cNvSpPr/>
          <p:nvPr/>
        </p:nvSpPr>
        <p:spPr>
          <a:xfrm>
            <a:off x="932688" y="1920240"/>
            <a:ext cx="2382195" cy="246888"/>
          </a:xfrm>
          <a:prstGeom prst="roundRect">
            <a:avLst>
              <a:gd name="adj" fmla="val 18519"/>
            </a:avLst>
          </a:prstGeom>
          <a:solidFill>
            <a:schemeClr val="accent4"/>
          </a:solidFill>
          <a:ln/>
        </p:spPr>
        <p:txBody>
          <a:bodyPr wrap="square" lIns="0" tIns="0" rIns="0" bIns="0" rtlCol="0" anchor="ctr"/>
          <a:lstStyle/>
          <a:p>
            <a:pPr algn="ctr" indent="0" marL="0">
              <a:buNone/>
            </a:pPr>
            <a:r>
              <a:rPr lang="en-US" sz="1100" b="1" dirty="0">
                <a:solidFill>
                  <a:srgbClr val="04222B"/>
                </a:solidFill>
              </a:rPr>
              <a:t>BLOOM FILTER · LISTA NEGRA</a:t>
            </a:r>
            <a:endParaRPr lang="en-US" sz="1100" dirty="0"/>
          </a:p>
        </p:txBody>
      </p:sp>
      <p:sp>
        <p:nvSpPr>
          <p:cNvPr id="6" name="texto-178"/>
          <p:cNvSpPr txBox="1"/>
          <p:nvPr/>
        </p:nvSpPr>
        <p:spPr>
          <a:xfrm>
            <a:off x="932688" y="2258568"/>
            <a:ext cx="4846320" cy="914400"/>
          </a:xfrm>
          <a:prstGeom prst="rect">
            <a:avLst/>
          </a:prstGeom>
          <a:noFill/>
          <a:ln/>
        </p:spPr>
        <p:txBody>
          <a:bodyPr wrap="square" lIns="0" tIns="0" rIns="0" bIns="0" rtlCol="0" anchor="t"/>
          <a:lstStyle/>
          <a:p>
            <a:pPr indent="0" marL="0">
              <a:buNone/>
            </a:pPr>
            <a:r>
              <a:rPr lang="en-US" sz="1400" dirty="0">
                <a:solidFill>
                  <a:schemeClr val="accent5"/>
                </a:solidFill>
              </a:rPr>
              <a:t>p = 0,1 % y k = 10. Sin falsos negativos. Todo positivo se verifica contra el conjunto exacto antes de bloquear.</a:t>
            </a:r>
            <a:endParaRPr lang="en-US" sz="1400" dirty="0"/>
          </a:p>
        </p:txBody>
      </p:sp>
      <p:sp>
        <p:nvSpPr>
          <p:cNvPr id="7" name="tarjeta-179"/>
          <p:cNvSpPr/>
          <p:nvPr/>
        </p:nvSpPr>
        <p:spPr>
          <a:xfrm>
            <a:off x="777240" y="3401568"/>
            <a:ext cx="5120640" cy="1481328"/>
          </a:xfrm>
          <a:prstGeom prst="roundRect">
            <a:avLst>
              <a:gd name="adj" fmla="val 4938"/>
            </a:avLst>
          </a:prstGeom>
          <a:solidFill>
            <a:srgbClr val="FFFFFF"/>
          </a:solidFill>
          <a:ln w="9525">
            <a:solidFill>
              <a:srgbClr val="E2E8F0"/>
            </a:solidFill>
            <a:prstDash val="solid"/>
          </a:ln>
        </p:spPr>
        <p:txBody>
          <a:bodyPr/>
          <a:p/>
        </p:txBody>
      </p:sp>
      <p:sp>
        <p:nvSpPr>
          <p:cNvPr id="8" name="etiqueta-180"/>
          <p:cNvSpPr/>
          <p:nvPr/>
        </p:nvSpPr>
        <p:spPr>
          <a:xfrm>
            <a:off x="932688" y="3538728"/>
            <a:ext cx="3206984" cy="246888"/>
          </a:xfrm>
          <a:prstGeom prst="roundRect">
            <a:avLst>
              <a:gd name="adj" fmla="val 18519"/>
            </a:avLst>
          </a:prstGeom>
          <a:solidFill>
            <a:schemeClr val="accent4"/>
          </a:solidFill>
          <a:ln/>
        </p:spPr>
        <p:txBody>
          <a:bodyPr wrap="square" lIns="0" tIns="0" rIns="0" bIns="0" rtlCol="0" anchor="ctr"/>
          <a:lstStyle/>
          <a:p>
            <a:pPr algn="ctr" indent="0" marL="0">
              <a:buNone/>
            </a:pPr>
            <a:r>
              <a:rPr lang="en-US" sz="1100" b="1" dirty="0">
                <a:solidFill>
                  <a:srgbClr val="04222B"/>
                </a:solidFill>
              </a:rPr>
              <a:t>COUNT-MIN SKETCH · VENTANA DE 10 MIN</a:t>
            </a:r>
            <a:endParaRPr lang="en-US" sz="1100" dirty="0"/>
          </a:p>
        </p:txBody>
      </p:sp>
      <p:sp>
        <p:nvSpPr>
          <p:cNvPr id="9" name="texto-181"/>
          <p:cNvSpPr txBox="1"/>
          <p:nvPr/>
        </p:nvSpPr>
        <p:spPr>
          <a:xfrm>
            <a:off x="932688" y="3877056"/>
            <a:ext cx="4846320" cy="914400"/>
          </a:xfrm>
          <a:prstGeom prst="rect">
            <a:avLst/>
          </a:prstGeom>
          <a:noFill/>
          <a:ln/>
        </p:spPr>
        <p:txBody>
          <a:bodyPr wrap="square" lIns="0" tIns="0" rIns="0" bIns="0" rtlCol="0" anchor="t"/>
          <a:lstStyle/>
          <a:p>
            <a:pPr indent="0" marL="0">
              <a:buNone/>
            </a:pPr>
            <a:r>
              <a:rPr lang="en-US" sz="1400" dirty="0">
                <a:solidFill>
                  <a:schemeClr val="accent5"/>
                </a:solidFill>
              </a:rPr>
              <a:t>Anillo de 10 sub-sketches de un minuto. Alerta con más de 12 intentos por tarjeta o 20 por dispositivo. Nunca subestima.</a:t>
            </a:r>
            <a:endParaRPr lang="en-US" sz="1400" dirty="0"/>
          </a:p>
        </p:txBody>
      </p:sp>
      <p:sp>
        <p:nvSpPr>
          <p:cNvPr id="10" name="texto-182"/>
          <p:cNvSpPr txBox="1"/>
          <p:nvPr/>
        </p:nvSpPr>
        <p:spPr>
          <a:xfrm>
            <a:off x="777240" y="4983480"/>
            <a:ext cx="1645920" cy="502920"/>
          </a:xfrm>
          <a:prstGeom prst="rect">
            <a:avLst/>
          </a:prstGeom>
          <a:noFill/>
          <a:ln/>
        </p:spPr>
        <p:txBody>
          <a:bodyPr wrap="square" lIns="0" tIns="0" rIns="0" bIns="0" rtlCol="0" anchor="b"/>
          <a:lstStyle/>
          <a:p>
            <a:pPr indent="0" marL="0">
              <a:buNone/>
            </a:pPr>
            <a:r>
              <a:rPr lang="en-US" sz="2800" b="1" dirty="0">
                <a:solidFill>
                  <a:schemeClr val="accent3"/>
                </a:solidFill>
              </a:rPr>
              <a:t>95,4 %</a:t>
            </a:r>
            <a:endParaRPr lang="en-US" sz="2800" dirty="0"/>
          </a:p>
        </p:txBody>
      </p:sp>
      <p:sp>
        <p:nvSpPr>
          <p:cNvPr id="11" name="texto-183"/>
          <p:cNvSpPr txBox="1"/>
          <p:nvPr/>
        </p:nvSpPr>
        <p:spPr>
          <a:xfrm>
            <a:off x="777240" y="5522976"/>
            <a:ext cx="1645920" cy="640080"/>
          </a:xfrm>
          <a:prstGeom prst="rect">
            <a:avLst/>
          </a:prstGeom>
          <a:noFill/>
          <a:ln/>
        </p:spPr>
        <p:txBody>
          <a:bodyPr wrap="square" lIns="0" tIns="0" rIns="0" bIns="0" rtlCol="0" anchor="t"/>
          <a:lstStyle/>
          <a:p>
            <a:pPr indent="0" marL="0">
              <a:buNone/>
            </a:pPr>
            <a:r>
              <a:rPr lang="en-US" sz="1200" dirty="0">
                <a:solidFill>
                  <a:schemeClr val="accent5"/>
                </a:solidFill>
              </a:rPr>
              <a:t>precisión en 10M</a:t>
            </a:r>
            <a:endParaRPr lang="en-US" sz="1200" dirty="0"/>
          </a:p>
        </p:txBody>
      </p:sp>
      <p:sp>
        <p:nvSpPr>
          <p:cNvPr id="12" name="texto-184"/>
          <p:cNvSpPr txBox="1"/>
          <p:nvPr/>
        </p:nvSpPr>
        <p:spPr>
          <a:xfrm>
            <a:off x="2514600" y="4983480"/>
            <a:ext cx="1645920" cy="502920"/>
          </a:xfrm>
          <a:prstGeom prst="rect">
            <a:avLst/>
          </a:prstGeom>
          <a:noFill/>
          <a:ln/>
        </p:spPr>
        <p:txBody>
          <a:bodyPr wrap="square" lIns="0" tIns="0" rIns="0" bIns="0" rtlCol="0" anchor="b"/>
          <a:lstStyle/>
          <a:p>
            <a:pPr indent="0" marL="0">
              <a:buNone/>
            </a:pPr>
            <a:r>
              <a:rPr lang="en-US" sz="2800" b="1" dirty="0">
                <a:solidFill>
                  <a:schemeClr val="accent3"/>
                </a:solidFill>
              </a:rPr>
              <a:t>88,1 %</a:t>
            </a:r>
            <a:endParaRPr lang="en-US" sz="2800" dirty="0"/>
          </a:p>
        </p:txBody>
      </p:sp>
      <p:sp>
        <p:nvSpPr>
          <p:cNvPr id="13" name="texto-185"/>
          <p:cNvSpPr txBox="1"/>
          <p:nvPr/>
        </p:nvSpPr>
        <p:spPr>
          <a:xfrm>
            <a:off x="2514600" y="5522976"/>
            <a:ext cx="1645920" cy="640080"/>
          </a:xfrm>
          <a:prstGeom prst="rect">
            <a:avLst/>
          </a:prstGeom>
          <a:noFill/>
          <a:ln/>
        </p:spPr>
        <p:txBody>
          <a:bodyPr wrap="square" lIns="0" tIns="0" rIns="0" bIns="0" rtlCol="0" anchor="t"/>
          <a:lstStyle/>
          <a:p>
            <a:pPr indent="0" marL="0">
              <a:buNone/>
            </a:pPr>
            <a:r>
              <a:rPr lang="en-US" sz="1200" dirty="0">
                <a:solidFill>
                  <a:schemeClr val="accent5"/>
                </a:solidFill>
              </a:rPr>
              <a:t>recall en 10M</a:t>
            </a:r>
            <a:endParaRPr lang="en-US" sz="1200" dirty="0"/>
          </a:p>
        </p:txBody>
      </p:sp>
      <p:sp>
        <p:nvSpPr>
          <p:cNvPr id="14" name="texto-186"/>
          <p:cNvSpPr txBox="1"/>
          <p:nvPr/>
        </p:nvSpPr>
        <p:spPr>
          <a:xfrm>
            <a:off x="4251960" y="4983480"/>
            <a:ext cx="1645920" cy="502920"/>
          </a:xfrm>
          <a:prstGeom prst="rect">
            <a:avLst/>
          </a:prstGeom>
          <a:noFill/>
          <a:ln/>
        </p:spPr>
        <p:txBody>
          <a:bodyPr wrap="square" lIns="0" tIns="0" rIns="0" bIns="0" rtlCol="0" anchor="b"/>
          <a:lstStyle/>
          <a:p>
            <a:pPr indent="0" marL="0">
              <a:buNone/>
            </a:pPr>
            <a:r>
              <a:rPr lang="en-US" sz="2800" b="1" dirty="0">
                <a:solidFill>
                  <a:schemeClr val="accent3"/>
                </a:solidFill>
              </a:rPr>
              <a:t>7</a:t>
            </a:r>
            <a:endParaRPr lang="en-US" sz="2800" dirty="0"/>
          </a:p>
        </p:txBody>
      </p:sp>
      <p:sp>
        <p:nvSpPr>
          <p:cNvPr id="15" name="texto-187"/>
          <p:cNvSpPr txBox="1"/>
          <p:nvPr/>
        </p:nvSpPr>
        <p:spPr>
          <a:xfrm>
            <a:off x="4251960" y="5522976"/>
            <a:ext cx="1645920" cy="640080"/>
          </a:xfrm>
          <a:prstGeom prst="rect">
            <a:avLst/>
          </a:prstGeom>
          <a:noFill/>
          <a:ln/>
        </p:spPr>
        <p:txBody>
          <a:bodyPr wrap="square" lIns="0" tIns="0" rIns="0" bIns="0" rtlCol="0" anchor="t"/>
          <a:lstStyle/>
          <a:p>
            <a:pPr indent="0" marL="0">
              <a:buNone/>
            </a:pPr>
            <a:r>
              <a:rPr lang="en-US" sz="1200" dirty="0">
                <a:solidFill>
                  <a:schemeClr val="accent5"/>
                </a:solidFill>
              </a:rPr>
              <a:t>falsos positivos del Bloom descartados</a:t>
            </a:r>
            <a:endParaRPr lang="en-US" sz="1200" dirty="0"/>
          </a:p>
        </p:txBody>
      </p:sp>
      <p:sp>
        <p:nvSpPr>
          <p:cNvPr id="16" name="tarjeta-188"/>
          <p:cNvSpPr/>
          <p:nvPr/>
        </p:nvSpPr>
        <p:spPr>
          <a:xfrm>
            <a:off x="6126480" y="1783080"/>
            <a:ext cx="5285232" cy="4389120"/>
          </a:xfrm>
          <a:prstGeom prst="roundRect">
            <a:avLst>
              <a:gd name="adj" fmla="val 1667"/>
            </a:avLst>
          </a:prstGeom>
          <a:solidFill>
            <a:srgbClr val="FFFFFF"/>
          </a:solidFill>
          <a:ln w="9525">
            <a:solidFill>
              <a:srgbClr val="E2E8F0"/>
            </a:solidFill>
            <a:prstDash val="solid"/>
          </a:ln>
        </p:spPr>
        <p:txBody>
          <a:bodyPr/>
          <a:p/>
        </p:txBody>
      </p:sp>
      <p:graphicFrame>
        <p:nvGraphicFramePr>
          <p:cNvPr id="17" name="grafico-bloom" descr=""/>
          <p:cNvGraphicFramePr/>
          <p:nvPr/>
        </p:nvGraphicFramePr>
        <p:xfrm>
          <a:off x="6263640" y="1874520"/>
          <a:ext cx="5029200" cy="3657600"/>
        </p:xfrm>
        <a:graphic xmlns:a="http://schemas.openxmlformats.org/drawingml/2006/main">
          <a:graphicData uri="http://schemas.openxmlformats.org/drawingml/2006/chart">
            <c:chart xmlns:c="http://schemas.openxmlformats.org/drawingml/2006/chart" r:id="rId1"/>
          </a:graphicData>
        </a:graphic>
      </p:graphicFrame>
      <p:sp>
        <p:nvSpPr>
          <p:cNvPr id="18" name="texto-189"/>
          <p:cNvSpPr txBox="1"/>
          <p:nvPr/>
        </p:nvSpPr>
        <p:spPr>
          <a:xfrm>
            <a:off x="6309360" y="5577840"/>
            <a:ext cx="4937760" cy="502920"/>
          </a:xfrm>
          <a:prstGeom prst="rect">
            <a:avLst/>
          </a:prstGeom>
          <a:noFill/>
          <a:ln/>
        </p:spPr>
        <p:txBody>
          <a:bodyPr wrap="square" lIns="0" tIns="0" rIns="0" bIns="0" rtlCol="0" anchor="t"/>
          <a:lstStyle/>
          <a:p>
            <a:pPr indent="0" marL="0">
              <a:buNone/>
            </a:pPr>
            <a:r>
              <a:rPr lang="en-US" sz="1200" dirty="0">
                <a:solidFill>
                  <a:schemeClr val="accent5"/>
                </a:solidFill>
              </a:rPr>
              <a:t>Con 10M claves: 12 MB frente a 268 MB (22 veces menos). FP medido 1,01 % con p = 1 %.</a:t>
            </a:r>
            <a:endParaRPr lang="en-US" sz="12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2" type="body" hasCustomPrompt="1"/>
          </p:nvPr>
        </p:nvSpPr>
        <p:spPr>
          <a:xfrm>
            <a:off x="777240" y="603504"/>
            <a:ext cx="10607040" cy="274320"/>
          </a:xfrm>
          <a:prstGeom prst="rect">
            <a:avLst/>
          </a:prstGeom>
          <a:noFill/>
          <a:ln/>
        </p:spPr>
        <p:txBody>
          <a:bodyPr wrap="square" lIns="0" tIns="0" rIns="0" bIns="0" rtlCol="0" anchor="ctr"/>
          <a:lstStyle/>
          <a:p>
            <a:pPr algn="l" indent="0" marL="0">
              <a:buNone/>
            </a:pPr>
            <a:r>
              <a:rPr lang="en-US" sz="1100" b="1" dirty="0">
                <a:solidFill>
                  <a:schemeClr val="accent2"/>
                </a:solidFill>
              </a:rPr>
              <a:t>S8 · GRAFO DE CO-COMPRA [FIJA]</a:t>
            </a:r>
            <a:endParaRPr lang="en-US" sz="1100" dirty="0"/>
          </a:p>
        </p:txBody>
      </p:sp>
      <p:sp>
        <p:nvSpPr>
          <p:cNvPr id="3" name="Text 0"/>
          <p:cNvSpPr/>
          <p:nvPr>
            <p:ph idx="103" type="title" hasCustomPrompt="1"/>
          </p:nvPr>
        </p:nvSpPr>
        <p:spPr>
          <a:xfrm>
            <a:off x="777240" y="877824"/>
            <a:ext cx="10789920" cy="548640"/>
          </a:xfrm>
          <a:prstGeom prst="rect">
            <a:avLst/>
          </a:prstGeom>
          <a:noFill/>
          <a:ln/>
        </p:spPr>
        <p:txBody>
          <a:bodyPr wrap="square" lIns="0" tIns="0" rIns="0" bIns="0" rtlCol="0" anchor="ctr"/>
          <a:lstStyle/>
          <a:p>
            <a:pPr algn="l" indent="0" marL="0">
              <a:buNone/>
            </a:pPr>
            <a:r>
              <a:rPr lang="en-US" sz="3000" b="1" dirty="0">
                <a:solidFill>
                  <a:schemeClr val="tx1"/>
                </a:solidFill>
              </a:rPr>
              <a:t>Quién influye y qué se compra junto</a:t>
            </a:r>
            <a:endParaRPr lang="en-US" sz="3000" dirty="0"/>
          </a:p>
        </p:txBody>
      </p:sp>
      <p:sp>
        <p:nvSpPr>
          <p:cNvPr id="4" name="tarjeta-190"/>
          <p:cNvSpPr/>
          <p:nvPr/>
        </p:nvSpPr>
        <p:spPr>
          <a:xfrm>
            <a:off x="777240" y="1783080"/>
            <a:ext cx="5120640" cy="1481328"/>
          </a:xfrm>
          <a:prstGeom prst="roundRect">
            <a:avLst>
              <a:gd name="adj" fmla="val 4938"/>
            </a:avLst>
          </a:prstGeom>
          <a:solidFill>
            <a:srgbClr val="FFFFFF"/>
          </a:solidFill>
          <a:ln w="9525">
            <a:solidFill>
              <a:srgbClr val="E2E8F0"/>
            </a:solidFill>
            <a:prstDash val="solid"/>
          </a:ln>
        </p:spPr>
        <p:txBody>
          <a:bodyPr/>
          <a:p/>
        </p:txBody>
      </p:sp>
      <p:sp>
        <p:nvSpPr>
          <p:cNvPr id="5" name="etiqueta-191"/>
          <p:cNvSpPr/>
          <p:nvPr/>
        </p:nvSpPr>
        <p:spPr>
          <a:xfrm>
            <a:off x="932688" y="1920240"/>
            <a:ext cx="1969800" cy="246888"/>
          </a:xfrm>
          <a:prstGeom prst="roundRect">
            <a:avLst>
              <a:gd name="adj" fmla="val 18519"/>
            </a:avLst>
          </a:prstGeom>
          <a:solidFill>
            <a:schemeClr val="accent4"/>
          </a:solidFill>
          <a:ln/>
        </p:spPr>
        <p:txBody>
          <a:bodyPr wrap="square" lIns="0" tIns="0" rIns="0" bIns="0" rtlCol="0" anchor="ctr"/>
          <a:lstStyle/>
          <a:p>
            <a:pPr algn="ctr" indent="0" marL="0">
              <a:buNone/>
            </a:pPr>
            <a:r>
              <a:rPr lang="en-US" sz="1100" b="1" dirty="0">
                <a:solidFill>
                  <a:srgbClr val="04222B"/>
                </a:solidFill>
              </a:rPr>
              <a:t>PAGERANK · INFLUENCIA</a:t>
            </a:r>
            <a:endParaRPr lang="en-US" sz="1100" dirty="0"/>
          </a:p>
        </p:txBody>
      </p:sp>
      <p:sp>
        <p:nvSpPr>
          <p:cNvPr id="6" name="texto-192"/>
          <p:cNvSpPr txBox="1"/>
          <p:nvPr/>
        </p:nvSpPr>
        <p:spPr>
          <a:xfrm>
            <a:off x="932688" y="2258568"/>
            <a:ext cx="4846320" cy="914400"/>
          </a:xfrm>
          <a:prstGeom prst="rect">
            <a:avLst/>
          </a:prstGeom>
          <a:noFill/>
          <a:ln/>
        </p:spPr>
        <p:txBody>
          <a:bodyPr wrap="square" lIns="0" tIns="0" rIns="0" bIns="0" rtlCol="0" anchor="t"/>
          <a:lstStyle/>
          <a:p>
            <a:pPr indent="0" marL="0">
              <a:buNone/>
            </a:pPr>
            <a:r>
              <a:rPr lang="en-US" sz="1400" dirty="0">
                <a:solidFill>
                  <a:schemeClr val="accent5"/>
                </a:solidFill>
              </a:rPr>
              <a:t>Iteración de potencias sobre CSR, α = 0,85, validado con NetworkX. Premia estar conectado con productos centrales, no solo el grado.</a:t>
            </a:r>
            <a:endParaRPr lang="en-US" sz="1400" dirty="0"/>
          </a:p>
        </p:txBody>
      </p:sp>
      <p:sp>
        <p:nvSpPr>
          <p:cNvPr id="7" name="tarjeta-193"/>
          <p:cNvSpPr/>
          <p:nvPr/>
        </p:nvSpPr>
        <p:spPr>
          <a:xfrm>
            <a:off x="777240" y="3401568"/>
            <a:ext cx="5120640" cy="1481328"/>
          </a:xfrm>
          <a:prstGeom prst="roundRect">
            <a:avLst>
              <a:gd name="adj" fmla="val 4938"/>
            </a:avLst>
          </a:prstGeom>
          <a:solidFill>
            <a:srgbClr val="FFFFFF"/>
          </a:solidFill>
          <a:ln w="9525">
            <a:solidFill>
              <a:srgbClr val="E2E8F0"/>
            </a:solidFill>
            <a:prstDash val="solid"/>
          </a:ln>
        </p:spPr>
        <p:txBody>
          <a:bodyPr/>
          <a:p/>
        </p:txBody>
      </p:sp>
      <p:sp>
        <p:nvSpPr>
          <p:cNvPr id="8" name="etiqueta-194"/>
          <p:cNvSpPr/>
          <p:nvPr/>
        </p:nvSpPr>
        <p:spPr>
          <a:xfrm>
            <a:off x="932688" y="3538728"/>
            <a:ext cx="3042026" cy="246888"/>
          </a:xfrm>
          <a:prstGeom prst="roundRect">
            <a:avLst>
              <a:gd name="adj" fmla="val 18519"/>
            </a:avLst>
          </a:prstGeom>
          <a:solidFill>
            <a:schemeClr val="accent4"/>
          </a:solidFill>
          <a:ln/>
        </p:spPr>
        <p:txBody>
          <a:bodyPr wrap="square" lIns="0" tIns="0" rIns="0" bIns="0" rtlCol="0" anchor="ctr"/>
          <a:lstStyle/>
          <a:p>
            <a:pPr algn="ctr" indent="0" marL="0">
              <a:buNone/>
            </a:pPr>
            <a:r>
              <a:rPr lang="en-US" sz="1100" b="1" dirty="0">
                <a:solidFill>
                  <a:srgbClr val="04222B"/>
                </a:solidFill>
              </a:rPr>
              <a:t>LOUVAIN FRENTE A LABEL PROPAGATION</a:t>
            </a:r>
            <a:endParaRPr lang="en-US" sz="1100" dirty="0"/>
          </a:p>
        </p:txBody>
      </p:sp>
      <p:sp>
        <p:nvSpPr>
          <p:cNvPr id="9" name="texto-195"/>
          <p:cNvSpPr txBox="1"/>
          <p:nvPr/>
        </p:nvSpPr>
        <p:spPr>
          <a:xfrm>
            <a:off x="932688" y="3877056"/>
            <a:ext cx="4846320" cy="914400"/>
          </a:xfrm>
          <a:prstGeom prst="rect">
            <a:avLst/>
          </a:prstGeom>
          <a:noFill/>
          <a:ln/>
        </p:spPr>
        <p:txBody>
          <a:bodyPr wrap="square" lIns="0" tIns="0" rIns="0" bIns="0" rtlCol="0" anchor="t"/>
          <a:lstStyle/>
          <a:p>
            <a:pPr indent="0" marL="0">
              <a:buNone/>
            </a:pPr>
            <a:r>
              <a:rPr lang="en-US" sz="1400" dirty="0">
                <a:solidFill>
                  <a:schemeClr val="accent5"/>
                </a:solidFill>
              </a:rPr>
              <a:t>Louvain maximiza la modularidad Q. LPA es casi lineal, pero no optimiza una función objetivo y varía entre semillas.</a:t>
            </a:r>
            <a:endParaRPr lang="en-US" sz="1400" dirty="0"/>
          </a:p>
        </p:txBody>
      </p:sp>
      <p:sp>
        <p:nvSpPr>
          <p:cNvPr id="10" name="texto-196"/>
          <p:cNvSpPr txBox="1"/>
          <p:nvPr/>
        </p:nvSpPr>
        <p:spPr>
          <a:xfrm>
            <a:off x="777240" y="4983480"/>
            <a:ext cx="1645920" cy="502920"/>
          </a:xfrm>
          <a:prstGeom prst="rect">
            <a:avLst/>
          </a:prstGeom>
          <a:noFill/>
          <a:ln/>
        </p:spPr>
        <p:txBody>
          <a:bodyPr wrap="square" lIns="0" tIns="0" rIns="0" bIns="0" rtlCol="0" anchor="b"/>
          <a:lstStyle/>
          <a:p>
            <a:pPr indent="0" marL="0">
              <a:buNone/>
            </a:pPr>
            <a:r>
              <a:rPr lang="en-US" sz="2800" b="1" dirty="0">
                <a:solidFill>
                  <a:schemeClr val="accent3"/>
                </a:solidFill>
              </a:rPr>
              <a:t>6 921</a:t>
            </a:r>
            <a:endParaRPr lang="en-US" sz="2800" dirty="0"/>
          </a:p>
        </p:txBody>
      </p:sp>
      <p:sp>
        <p:nvSpPr>
          <p:cNvPr id="11" name="texto-197"/>
          <p:cNvSpPr txBox="1"/>
          <p:nvPr/>
        </p:nvSpPr>
        <p:spPr>
          <a:xfrm>
            <a:off x="777240" y="5522976"/>
            <a:ext cx="1645920" cy="640080"/>
          </a:xfrm>
          <a:prstGeom prst="rect">
            <a:avLst/>
          </a:prstGeom>
          <a:noFill/>
          <a:ln/>
        </p:spPr>
        <p:txBody>
          <a:bodyPr wrap="square" lIns="0" tIns="0" rIns="0" bIns="0" rtlCol="0" anchor="t"/>
          <a:lstStyle/>
          <a:p>
            <a:pPr indent="0" marL="0">
              <a:buNone/>
            </a:pPr>
            <a:r>
              <a:rPr lang="en-US" sz="1200" dirty="0">
                <a:solidFill>
                  <a:schemeClr val="accent5"/>
                </a:solidFill>
              </a:rPr>
              <a:t>productos y 14 176 aristas reales</a:t>
            </a:r>
            <a:endParaRPr lang="en-US" sz="1200" dirty="0"/>
          </a:p>
        </p:txBody>
      </p:sp>
      <p:sp>
        <p:nvSpPr>
          <p:cNvPr id="12" name="texto-198"/>
          <p:cNvSpPr txBox="1"/>
          <p:nvPr/>
        </p:nvSpPr>
        <p:spPr>
          <a:xfrm>
            <a:off x="2514600" y="4983480"/>
            <a:ext cx="1645920" cy="502920"/>
          </a:xfrm>
          <a:prstGeom prst="rect">
            <a:avLst/>
          </a:prstGeom>
          <a:noFill/>
          <a:ln/>
        </p:spPr>
        <p:txBody>
          <a:bodyPr wrap="square" lIns="0" tIns="0" rIns="0" bIns="0" rtlCol="0" anchor="b"/>
          <a:lstStyle/>
          <a:p>
            <a:pPr indent="0" marL="0">
              <a:buNone/>
            </a:pPr>
            <a:r>
              <a:rPr lang="en-US" sz="2800" b="1" dirty="0">
                <a:solidFill>
                  <a:schemeClr val="accent3"/>
                </a:solidFill>
              </a:rPr>
              <a:t>0,03 s</a:t>
            </a:r>
            <a:endParaRPr lang="en-US" sz="2800" dirty="0"/>
          </a:p>
        </p:txBody>
      </p:sp>
      <p:sp>
        <p:nvSpPr>
          <p:cNvPr id="13" name="texto-199"/>
          <p:cNvSpPr txBox="1"/>
          <p:nvPr/>
        </p:nvSpPr>
        <p:spPr>
          <a:xfrm>
            <a:off x="2514600" y="5522976"/>
            <a:ext cx="1645920" cy="640080"/>
          </a:xfrm>
          <a:prstGeom prst="rect">
            <a:avLst/>
          </a:prstGeom>
          <a:noFill/>
          <a:ln/>
        </p:spPr>
        <p:txBody>
          <a:bodyPr wrap="square" lIns="0" tIns="0" rIns="0" bIns="0" rtlCol="0" anchor="t"/>
          <a:lstStyle/>
          <a:p>
            <a:pPr indent="0" marL="0">
              <a:buNone/>
            </a:pPr>
            <a:r>
              <a:rPr lang="en-US" sz="1200" dirty="0">
                <a:solidFill>
                  <a:schemeClr val="accent5"/>
                </a:solidFill>
              </a:rPr>
              <a:t>PageRank, 89 iteraciones</a:t>
            </a:r>
            <a:endParaRPr lang="en-US" sz="1200" dirty="0"/>
          </a:p>
        </p:txBody>
      </p:sp>
      <p:sp>
        <p:nvSpPr>
          <p:cNvPr id="14" name="texto-200"/>
          <p:cNvSpPr txBox="1"/>
          <p:nvPr/>
        </p:nvSpPr>
        <p:spPr>
          <a:xfrm>
            <a:off x="4251960" y="4983480"/>
            <a:ext cx="1645920" cy="502920"/>
          </a:xfrm>
          <a:prstGeom prst="rect">
            <a:avLst/>
          </a:prstGeom>
          <a:noFill/>
          <a:ln/>
        </p:spPr>
        <p:txBody>
          <a:bodyPr wrap="square" lIns="0" tIns="0" rIns="0" bIns="0" rtlCol="0" anchor="b"/>
          <a:lstStyle/>
          <a:p>
            <a:pPr indent="0" marL="0">
              <a:buNone/>
            </a:pPr>
            <a:r>
              <a:rPr lang="en-US" sz="2800" b="1" dirty="0">
                <a:solidFill>
                  <a:schemeClr val="accent3"/>
                </a:solidFill>
              </a:rPr>
              <a:t>0,99</a:t>
            </a:r>
            <a:endParaRPr lang="en-US" sz="2800" dirty="0"/>
          </a:p>
        </p:txBody>
      </p:sp>
      <p:sp>
        <p:nvSpPr>
          <p:cNvPr id="15" name="texto-201"/>
          <p:cNvSpPr txBox="1"/>
          <p:nvPr/>
        </p:nvSpPr>
        <p:spPr>
          <a:xfrm>
            <a:off x="4251960" y="5522976"/>
            <a:ext cx="1645920" cy="640080"/>
          </a:xfrm>
          <a:prstGeom prst="rect">
            <a:avLst/>
          </a:prstGeom>
          <a:noFill/>
          <a:ln/>
        </p:spPr>
        <p:txBody>
          <a:bodyPr wrap="square" lIns="0" tIns="0" rIns="0" bIns="0" rtlCol="0" anchor="t"/>
          <a:lstStyle/>
          <a:p>
            <a:pPr indent="0" marL="0">
              <a:buNone/>
            </a:pPr>
            <a:r>
              <a:rPr lang="en-US" sz="1200" dirty="0">
                <a:solidFill>
                  <a:schemeClr val="accent5"/>
                </a:solidFill>
              </a:rPr>
              <a:t>NMI de Louvain entre semillas (LPA 0,94)</a:t>
            </a:r>
            <a:endParaRPr lang="en-US" sz="1200" dirty="0"/>
          </a:p>
        </p:txBody>
      </p:sp>
      <p:sp>
        <p:nvSpPr>
          <p:cNvPr id="16" name="tarjeta-202"/>
          <p:cNvSpPr/>
          <p:nvPr/>
        </p:nvSpPr>
        <p:spPr>
          <a:xfrm>
            <a:off x="6126480" y="1783080"/>
            <a:ext cx="5285232" cy="4389120"/>
          </a:xfrm>
          <a:prstGeom prst="roundRect">
            <a:avLst>
              <a:gd name="adj" fmla="val 1667"/>
            </a:avLst>
          </a:prstGeom>
          <a:solidFill>
            <a:srgbClr val="FFFFFF"/>
          </a:solidFill>
          <a:ln w="9525">
            <a:solidFill>
              <a:srgbClr val="E2E8F0"/>
            </a:solidFill>
            <a:prstDash val="solid"/>
          </a:ln>
        </p:spPr>
        <p:txBody>
          <a:bodyPr/>
          <a:p/>
        </p:txBody>
      </p:sp>
      <p:graphicFrame>
        <p:nvGraphicFramePr>
          <p:cNvPr id="17" name="grafico-modularidad" descr=""/>
          <p:cNvGraphicFramePr/>
          <p:nvPr/>
        </p:nvGraphicFramePr>
        <p:xfrm>
          <a:off x="6263640" y="1874520"/>
          <a:ext cx="5029200" cy="3657600"/>
        </p:xfrm>
        <a:graphic xmlns:a="http://schemas.openxmlformats.org/drawingml/2006/main">
          <a:graphicData uri="http://schemas.openxmlformats.org/drawingml/2006/chart">
            <c:chart xmlns:c="http://schemas.openxmlformats.org/drawingml/2006/chart" r:id="rId1"/>
          </a:graphicData>
        </a:graphic>
      </p:graphicFrame>
      <p:sp>
        <p:nvSpPr>
          <p:cNvPr id="18" name="texto-203"/>
          <p:cNvSpPr txBox="1"/>
          <p:nvPr/>
        </p:nvSpPr>
        <p:spPr>
          <a:xfrm>
            <a:off x="6309360" y="5577840"/>
            <a:ext cx="4937760" cy="502920"/>
          </a:xfrm>
          <a:prstGeom prst="rect">
            <a:avLst/>
          </a:prstGeom>
          <a:noFill/>
          <a:ln/>
        </p:spPr>
        <p:txBody>
          <a:bodyPr wrap="square" lIns="0" tIns="0" rIns="0" bIns="0" rtlCol="0" anchor="t"/>
          <a:lstStyle/>
          <a:p>
            <a:pPr indent="0" marL="0">
              <a:buNone/>
            </a:pPr>
            <a:r>
              <a:rPr lang="en-US" sz="1200" dirty="0">
                <a:solidFill>
                  <a:schemeClr val="accent5"/>
                </a:solidFill>
              </a:rPr>
              <a:t>PageRank con 9,9M aristas: 20,7 s. Correlación de Spearman con el grado: 0,99.</a:t>
            </a:r>
            <a:endParaRPr lang="en-US" sz="12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body" hasCustomPrompt="1"/>
          </p:nvPr>
        </p:nvSpPr>
        <p:spPr>
          <a:xfrm>
            <a:off x="777240" y="603504"/>
            <a:ext cx="10607040" cy="274320"/>
          </a:xfrm>
          <a:prstGeom prst="rect">
            <a:avLst/>
          </a:prstGeom>
          <a:noFill/>
          <a:ln/>
        </p:spPr>
        <p:txBody>
          <a:bodyPr wrap="square" lIns="0" tIns="0" rIns="0" bIns="0" rtlCol="0" anchor="ctr"/>
          <a:lstStyle/>
          <a:p>
            <a:pPr algn="l" indent="0" marL="0">
              <a:buNone/>
            </a:pPr>
            <a:r>
              <a:rPr lang="en-US" sz="1100" b="1" dirty="0">
                <a:solidFill>
                  <a:schemeClr val="accent2"/>
                </a:solidFill>
              </a:rPr>
              <a:t>S7 · SIMILITUD [FIJA]</a:t>
            </a:r>
            <a:endParaRPr lang="en-US" sz="1100" dirty="0"/>
          </a:p>
        </p:txBody>
      </p:sp>
      <p:sp>
        <p:nvSpPr>
          <p:cNvPr id="3" name="Text 0"/>
          <p:cNvSpPr/>
          <p:nvPr>
            <p:ph idx="103" type="title" hasCustomPrompt="1"/>
          </p:nvPr>
        </p:nvSpPr>
        <p:spPr>
          <a:xfrm>
            <a:off x="777240" y="877824"/>
            <a:ext cx="10789920" cy="548640"/>
          </a:xfrm>
          <a:prstGeom prst="rect">
            <a:avLst/>
          </a:prstGeom>
          <a:noFill/>
          <a:ln/>
        </p:spPr>
        <p:txBody>
          <a:bodyPr wrap="square" lIns="0" tIns="0" rIns="0" bIns="0" rtlCol="0" anchor="ctr"/>
          <a:lstStyle/>
          <a:p>
            <a:pPr algn="l" indent="0" marL="0">
              <a:buNone/>
            </a:pPr>
            <a:r>
              <a:rPr lang="en-US" sz="3000" b="1" dirty="0">
                <a:solidFill>
                  <a:schemeClr val="tx1"/>
                </a:solidFill>
              </a:rPr>
              <a:t>Candidatos en milisegundos sin comparar todo</a:t>
            </a:r>
            <a:endParaRPr lang="en-US" sz="3000" dirty="0"/>
          </a:p>
        </p:txBody>
      </p:sp>
      <p:sp>
        <p:nvSpPr>
          <p:cNvPr id="4" name="tarjeta-204"/>
          <p:cNvSpPr/>
          <p:nvPr/>
        </p:nvSpPr>
        <p:spPr>
          <a:xfrm>
            <a:off x="777240" y="1783080"/>
            <a:ext cx="5120640" cy="1481328"/>
          </a:xfrm>
          <a:prstGeom prst="roundRect">
            <a:avLst>
              <a:gd name="adj" fmla="val 4938"/>
            </a:avLst>
          </a:prstGeom>
          <a:solidFill>
            <a:srgbClr val="FFFFFF"/>
          </a:solidFill>
          <a:ln w="9525">
            <a:solidFill>
              <a:srgbClr val="E2E8F0"/>
            </a:solidFill>
            <a:prstDash val="solid"/>
          </a:ln>
        </p:spPr>
        <p:txBody>
          <a:bodyPr/>
          <a:p/>
        </p:txBody>
      </p:sp>
      <p:sp>
        <p:nvSpPr>
          <p:cNvPr id="5" name="etiqueta-205"/>
          <p:cNvSpPr/>
          <p:nvPr/>
        </p:nvSpPr>
        <p:spPr>
          <a:xfrm>
            <a:off x="932688" y="1920240"/>
            <a:ext cx="2299716" cy="246888"/>
          </a:xfrm>
          <a:prstGeom prst="roundRect">
            <a:avLst>
              <a:gd name="adj" fmla="val 18519"/>
            </a:avLst>
          </a:prstGeom>
          <a:solidFill>
            <a:schemeClr val="accent4"/>
          </a:solidFill>
          <a:ln/>
        </p:spPr>
        <p:txBody>
          <a:bodyPr wrap="square" lIns="0" tIns="0" rIns="0" bIns="0" rtlCol="0" anchor="ctr"/>
          <a:lstStyle/>
          <a:p>
            <a:pPr algn="ctr" indent="0" marL="0">
              <a:buNone/>
            </a:pPr>
            <a:r>
              <a:rPr lang="en-US" sz="1100" b="1" dirty="0">
                <a:solidFill>
                  <a:srgbClr val="04222B"/>
                </a:solidFill>
              </a:rPr>
              <a:t>MINHASH + LSH · CONJUNTOS</a:t>
            </a:r>
            <a:endParaRPr lang="en-US" sz="1100" dirty="0"/>
          </a:p>
        </p:txBody>
      </p:sp>
      <p:sp>
        <p:nvSpPr>
          <p:cNvPr id="6" name="texto-206"/>
          <p:cNvSpPr txBox="1"/>
          <p:nvPr/>
        </p:nvSpPr>
        <p:spPr>
          <a:xfrm>
            <a:off x="932688" y="2258568"/>
            <a:ext cx="4846320" cy="914400"/>
          </a:xfrm>
          <a:prstGeom prst="rect">
            <a:avLst/>
          </a:prstGeom>
          <a:noFill/>
          <a:ln/>
        </p:spPr>
        <p:txBody>
          <a:bodyPr wrap="square" lIns="0" tIns="0" rIns="0" bIns="0" rtlCol="0" anchor="t"/>
          <a:lstStyle/>
          <a:p>
            <a:pPr indent="0" marL="0">
              <a:buNone/>
            </a:pPr>
            <a:r>
              <a:rPr lang="en-US" sz="1400" dirty="0">
                <a:solidFill>
                  <a:schemeClr val="accent5"/>
                </a:solidFill>
              </a:rPr>
              <a:t>Producto = conjunto de compradores. 128 minhashes en 32 bandas de 4 filas: umbral de Jaccard ≈ 0,42.</a:t>
            </a:r>
            <a:endParaRPr lang="en-US" sz="1400" dirty="0"/>
          </a:p>
        </p:txBody>
      </p:sp>
      <p:sp>
        <p:nvSpPr>
          <p:cNvPr id="7" name="tarjeta-207"/>
          <p:cNvSpPr/>
          <p:nvPr/>
        </p:nvSpPr>
        <p:spPr>
          <a:xfrm>
            <a:off x="777240" y="3401568"/>
            <a:ext cx="5120640" cy="1481328"/>
          </a:xfrm>
          <a:prstGeom prst="roundRect">
            <a:avLst>
              <a:gd name="adj" fmla="val 4938"/>
            </a:avLst>
          </a:prstGeom>
          <a:solidFill>
            <a:srgbClr val="FFFFFF"/>
          </a:solidFill>
          <a:ln w="9525">
            <a:solidFill>
              <a:srgbClr val="E2E8F0"/>
            </a:solidFill>
            <a:prstDash val="solid"/>
          </a:ln>
        </p:spPr>
        <p:txBody>
          <a:bodyPr/>
          <a:p/>
        </p:txBody>
      </p:sp>
      <p:sp>
        <p:nvSpPr>
          <p:cNvPr id="8" name="etiqueta-208"/>
          <p:cNvSpPr/>
          <p:nvPr/>
        </p:nvSpPr>
        <p:spPr>
          <a:xfrm>
            <a:off x="932688" y="3538728"/>
            <a:ext cx="2629632" cy="246888"/>
          </a:xfrm>
          <a:prstGeom prst="roundRect">
            <a:avLst>
              <a:gd name="adj" fmla="val 18519"/>
            </a:avLst>
          </a:prstGeom>
          <a:solidFill>
            <a:schemeClr val="accent4"/>
          </a:solidFill>
          <a:ln/>
        </p:spPr>
        <p:txBody>
          <a:bodyPr wrap="square" lIns="0" tIns="0" rIns="0" bIns="0" rtlCol="0" anchor="ctr"/>
          <a:lstStyle/>
          <a:p>
            <a:pPr algn="ctr" indent="0" marL="0">
              <a:buNone/>
            </a:pPr>
            <a:r>
              <a:rPr lang="en-US" sz="1100" b="1" dirty="0">
                <a:solidFill>
                  <a:srgbClr val="04222B"/>
                </a:solidFill>
              </a:rPr>
              <a:t>IVF · EMBEDDINGS SVD (d = 32)</a:t>
            </a:r>
            <a:endParaRPr lang="en-US" sz="1100" dirty="0"/>
          </a:p>
        </p:txBody>
      </p:sp>
      <p:sp>
        <p:nvSpPr>
          <p:cNvPr id="9" name="texto-209"/>
          <p:cNvSpPr txBox="1"/>
          <p:nvPr/>
        </p:nvSpPr>
        <p:spPr>
          <a:xfrm>
            <a:off x="932688" y="3877056"/>
            <a:ext cx="4846320" cy="914400"/>
          </a:xfrm>
          <a:prstGeom prst="rect">
            <a:avLst/>
          </a:prstGeom>
          <a:noFill/>
          <a:ln/>
        </p:spPr>
        <p:txBody>
          <a:bodyPr wrap="square" lIns="0" tIns="0" rIns="0" bIns="0" rtlCol="0" anchor="t"/>
          <a:lstStyle/>
          <a:p>
            <a:pPr indent="0" marL="0">
              <a:buNone/>
            </a:pPr>
            <a:r>
              <a:rPr lang="en-US" sz="1400" dirty="0">
                <a:solidFill>
                  <a:schemeClr val="accent5"/>
                </a:solidFill>
              </a:rPr>
              <a:t>k-means en celdas y búsqueda solo en las nprobe más cercanas. HNSW implementado como referencia.</a:t>
            </a:r>
            <a:endParaRPr lang="en-US" sz="1400" dirty="0"/>
          </a:p>
        </p:txBody>
      </p:sp>
      <p:sp>
        <p:nvSpPr>
          <p:cNvPr id="10" name="texto-210"/>
          <p:cNvSpPr txBox="1"/>
          <p:nvPr/>
        </p:nvSpPr>
        <p:spPr>
          <a:xfrm>
            <a:off x="777240" y="4983480"/>
            <a:ext cx="1645920" cy="502920"/>
          </a:xfrm>
          <a:prstGeom prst="rect">
            <a:avLst/>
          </a:prstGeom>
          <a:noFill/>
          <a:ln/>
        </p:spPr>
        <p:txBody>
          <a:bodyPr wrap="square" lIns="0" tIns="0" rIns="0" bIns="0" rtlCol="0" anchor="b"/>
          <a:lstStyle/>
          <a:p>
            <a:pPr indent="0" marL="0">
              <a:buNone/>
            </a:pPr>
            <a:r>
              <a:rPr lang="en-US" sz="2800" b="1" dirty="0">
                <a:solidFill>
                  <a:schemeClr val="accent3"/>
                </a:solidFill>
              </a:rPr>
              <a:t>295×</a:t>
            </a:r>
            <a:endParaRPr lang="en-US" sz="2800" dirty="0"/>
          </a:p>
        </p:txBody>
      </p:sp>
      <p:sp>
        <p:nvSpPr>
          <p:cNvPr id="11" name="texto-211"/>
          <p:cNvSpPr txBox="1"/>
          <p:nvPr/>
        </p:nvSpPr>
        <p:spPr>
          <a:xfrm>
            <a:off x="777240" y="5522976"/>
            <a:ext cx="1645920" cy="640080"/>
          </a:xfrm>
          <a:prstGeom prst="rect">
            <a:avLst/>
          </a:prstGeom>
          <a:noFill/>
          <a:ln/>
        </p:spPr>
        <p:txBody>
          <a:bodyPr wrap="square" lIns="0" tIns="0" rIns="0" bIns="0" rtlCol="0" anchor="t"/>
          <a:lstStyle/>
          <a:p>
            <a:pPr indent="0" marL="0">
              <a:buNone/>
            </a:pPr>
            <a:r>
              <a:rPr lang="en-US" sz="1200" dirty="0">
                <a:solidFill>
                  <a:schemeClr val="accent5"/>
                </a:solidFill>
              </a:rPr>
              <a:t>LSH frente a fuerza bruta (1M)</a:t>
            </a:r>
            <a:endParaRPr lang="en-US" sz="1200" dirty="0"/>
          </a:p>
        </p:txBody>
      </p:sp>
      <p:sp>
        <p:nvSpPr>
          <p:cNvPr id="12" name="texto-212"/>
          <p:cNvSpPr txBox="1"/>
          <p:nvPr/>
        </p:nvSpPr>
        <p:spPr>
          <a:xfrm>
            <a:off x="2514600" y="4983480"/>
            <a:ext cx="1645920" cy="502920"/>
          </a:xfrm>
          <a:prstGeom prst="rect">
            <a:avLst/>
          </a:prstGeom>
          <a:noFill/>
          <a:ln/>
        </p:spPr>
        <p:txBody>
          <a:bodyPr wrap="square" lIns="0" tIns="0" rIns="0" bIns="0" rtlCol="0" anchor="b"/>
          <a:lstStyle/>
          <a:p>
            <a:pPr indent="0" marL="0">
              <a:buNone/>
            </a:pPr>
            <a:r>
              <a:rPr lang="en-US" sz="2800" b="1" dirty="0">
                <a:solidFill>
                  <a:schemeClr val="accent3"/>
                </a:solidFill>
              </a:rPr>
              <a:t>226×</a:t>
            </a:r>
            <a:endParaRPr lang="en-US" sz="2800" dirty="0"/>
          </a:p>
        </p:txBody>
      </p:sp>
      <p:sp>
        <p:nvSpPr>
          <p:cNvPr id="13" name="texto-213"/>
          <p:cNvSpPr txBox="1"/>
          <p:nvPr/>
        </p:nvSpPr>
        <p:spPr>
          <a:xfrm>
            <a:off x="2514600" y="5522976"/>
            <a:ext cx="1645920" cy="640080"/>
          </a:xfrm>
          <a:prstGeom prst="rect">
            <a:avLst/>
          </a:prstGeom>
          <a:noFill/>
          <a:ln/>
        </p:spPr>
        <p:txBody>
          <a:bodyPr wrap="square" lIns="0" tIns="0" rIns="0" bIns="0" rtlCol="0" anchor="t"/>
          <a:lstStyle/>
          <a:p>
            <a:pPr indent="0" marL="0">
              <a:buNone/>
            </a:pPr>
            <a:r>
              <a:rPr lang="en-US" sz="1200" dirty="0">
                <a:solidFill>
                  <a:schemeClr val="accent5"/>
                </a:solidFill>
              </a:rPr>
              <a:t>IVF frente a KNN exacto (10M)</a:t>
            </a:r>
            <a:endParaRPr lang="en-US" sz="1200" dirty="0"/>
          </a:p>
        </p:txBody>
      </p:sp>
      <p:sp>
        <p:nvSpPr>
          <p:cNvPr id="14" name="texto-214"/>
          <p:cNvSpPr txBox="1"/>
          <p:nvPr/>
        </p:nvSpPr>
        <p:spPr>
          <a:xfrm>
            <a:off x="4251960" y="4983480"/>
            <a:ext cx="1645920" cy="502920"/>
          </a:xfrm>
          <a:prstGeom prst="rect">
            <a:avLst/>
          </a:prstGeom>
          <a:noFill/>
          <a:ln/>
        </p:spPr>
        <p:txBody>
          <a:bodyPr wrap="square" lIns="0" tIns="0" rIns="0" bIns="0" rtlCol="0" anchor="b"/>
          <a:lstStyle/>
          <a:p>
            <a:pPr indent="0" marL="0">
              <a:buNone/>
            </a:pPr>
            <a:r>
              <a:rPr lang="en-US" sz="2800" b="1" dirty="0">
                <a:solidFill>
                  <a:schemeClr val="accent3"/>
                </a:solidFill>
              </a:rPr>
              <a:t>0,95</a:t>
            </a:r>
            <a:endParaRPr lang="en-US" sz="2800" dirty="0"/>
          </a:p>
        </p:txBody>
      </p:sp>
      <p:sp>
        <p:nvSpPr>
          <p:cNvPr id="15" name="texto-215"/>
          <p:cNvSpPr txBox="1"/>
          <p:nvPr/>
        </p:nvSpPr>
        <p:spPr>
          <a:xfrm>
            <a:off x="4251960" y="5522976"/>
            <a:ext cx="1645920" cy="640080"/>
          </a:xfrm>
          <a:prstGeom prst="rect">
            <a:avLst/>
          </a:prstGeom>
          <a:noFill/>
          <a:ln/>
        </p:spPr>
        <p:txBody>
          <a:bodyPr wrap="square" lIns="0" tIns="0" rIns="0" bIns="0" rtlCol="0" anchor="t"/>
          <a:lstStyle/>
          <a:p>
            <a:pPr indent="0" marL="0">
              <a:buNone/>
            </a:pPr>
            <a:r>
              <a:rPr lang="en-US" sz="1200" dirty="0">
                <a:solidFill>
                  <a:schemeClr val="accent5"/>
                </a:solidFill>
              </a:rPr>
              <a:t>recall@10 del IVF (0,98 con nprobe 16)</a:t>
            </a:r>
            <a:endParaRPr lang="en-US" sz="1200" dirty="0"/>
          </a:p>
        </p:txBody>
      </p:sp>
      <p:sp>
        <p:nvSpPr>
          <p:cNvPr id="16" name="tarjeta-216"/>
          <p:cNvSpPr/>
          <p:nvPr/>
        </p:nvSpPr>
        <p:spPr>
          <a:xfrm>
            <a:off x="6126480" y="1783080"/>
            <a:ext cx="5285232" cy="4389120"/>
          </a:xfrm>
          <a:prstGeom prst="roundRect">
            <a:avLst>
              <a:gd name="adj" fmla="val 1667"/>
            </a:avLst>
          </a:prstGeom>
          <a:solidFill>
            <a:srgbClr val="FFFFFF"/>
          </a:solidFill>
          <a:ln w="9525">
            <a:solidFill>
              <a:srgbClr val="E2E8F0"/>
            </a:solidFill>
            <a:prstDash val="solid"/>
          </a:ln>
        </p:spPr>
        <p:txBody>
          <a:bodyPr/>
          <a:p/>
        </p:txBody>
      </p:sp>
      <p:graphicFrame>
        <p:nvGraphicFramePr>
          <p:cNvPr id="17" name="grafico-lsh" descr=""/>
          <p:cNvGraphicFramePr/>
          <p:nvPr/>
        </p:nvGraphicFramePr>
        <p:xfrm>
          <a:off x="6263640" y="1874520"/>
          <a:ext cx="5029200" cy="3657600"/>
        </p:xfrm>
        <a:graphic xmlns:a="http://schemas.openxmlformats.org/drawingml/2006/main">
          <a:graphicData uri="http://schemas.openxmlformats.org/drawingml/2006/chart">
            <c:chart xmlns:c="http://schemas.openxmlformats.org/drawingml/2006/chart" r:id="rId1"/>
          </a:graphicData>
        </a:graphic>
      </p:graphicFrame>
      <p:sp>
        <p:nvSpPr>
          <p:cNvPr id="18" name="texto-217"/>
          <p:cNvSpPr txBox="1"/>
          <p:nvPr/>
        </p:nvSpPr>
        <p:spPr>
          <a:xfrm>
            <a:off x="6309360" y="5577840"/>
            <a:ext cx="4937760" cy="502920"/>
          </a:xfrm>
          <a:prstGeom prst="rect">
            <a:avLst/>
          </a:prstGeom>
          <a:noFill/>
          <a:ln/>
        </p:spPr>
        <p:txBody>
          <a:bodyPr wrap="square" lIns="0" tIns="0" rIns="0" bIns="0" rtlCol="0" anchor="t"/>
          <a:lstStyle/>
          <a:p>
            <a:pPr indent="0" marL="0">
              <a:buNone/>
            </a:pPr>
            <a:r>
              <a:rPr lang="en-US" sz="1200" dirty="0">
                <a:solidFill>
                  <a:schemeClr val="accent5"/>
                </a:solidFill>
              </a:rPr>
              <a:t>Recall de LSH: 1,0 en vecinos con Jaccard ≥ 0,5 y 0,029 en el top-10 global (detecta casi duplicados).</a:t>
            </a:r>
            <a:endParaRPr lang="en-US" sz="12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2" type="body" hasCustomPrompt="1"/>
          </p:nvPr>
        </p:nvSpPr>
        <p:spPr>
          <a:xfrm>
            <a:off x="777240" y="603504"/>
            <a:ext cx="10607040" cy="274320"/>
          </a:xfrm>
          <a:prstGeom prst="rect">
            <a:avLst/>
          </a:prstGeom>
          <a:noFill/>
          <a:ln/>
        </p:spPr>
        <p:txBody>
          <a:bodyPr wrap="square" lIns="0" tIns="0" rIns="0" bIns="0" rtlCol="0" anchor="ctr"/>
          <a:lstStyle/>
          <a:p>
            <a:pPr algn="l" indent="0" marL="0">
              <a:buNone/>
            </a:pPr>
            <a:r>
              <a:rPr lang="en-US" sz="1100" b="1" dirty="0">
                <a:solidFill>
                  <a:schemeClr val="accent2"/>
                </a:solidFill>
              </a:rPr>
              <a:t>EXPERIMENTOS · ESCALABILIDAD</a:t>
            </a:r>
            <a:endParaRPr lang="en-US" sz="1100" dirty="0"/>
          </a:p>
        </p:txBody>
      </p:sp>
      <p:sp>
        <p:nvSpPr>
          <p:cNvPr id="3" name="Text 0"/>
          <p:cNvSpPr/>
          <p:nvPr>
            <p:ph idx="103" type="title" hasCustomPrompt="1"/>
          </p:nvPr>
        </p:nvSpPr>
        <p:spPr>
          <a:xfrm>
            <a:off x="777240" y="877824"/>
            <a:ext cx="10789920" cy="548640"/>
          </a:xfrm>
          <a:prstGeom prst="rect">
            <a:avLst/>
          </a:prstGeom>
          <a:noFill/>
          <a:ln/>
        </p:spPr>
        <p:txBody>
          <a:bodyPr wrap="square" lIns="0" tIns="0" rIns="0" bIns="0" rtlCol="0" anchor="ctr"/>
          <a:lstStyle/>
          <a:p>
            <a:pPr algn="l" indent="0" marL="0">
              <a:buNone/>
            </a:pPr>
            <a:r>
              <a:rPr lang="en-US" sz="3000" b="1" dirty="0">
                <a:solidFill>
                  <a:schemeClr val="tx1"/>
                </a:solidFill>
              </a:rPr>
              <a:t>Las pendientes medidas siguen la teoría</a:t>
            </a:r>
            <a:endParaRPr lang="en-US" sz="3000" dirty="0"/>
          </a:p>
        </p:txBody>
      </p:sp>
      <p:sp>
        <p:nvSpPr>
          <p:cNvPr id="4" name="tarjeta-218"/>
          <p:cNvSpPr/>
          <p:nvPr/>
        </p:nvSpPr>
        <p:spPr>
          <a:xfrm>
            <a:off x="777240" y="1783080"/>
            <a:ext cx="6720840" cy="4389120"/>
          </a:xfrm>
          <a:prstGeom prst="roundRect">
            <a:avLst>
              <a:gd name="adj" fmla="val 1667"/>
            </a:avLst>
          </a:prstGeom>
          <a:solidFill>
            <a:srgbClr val="FFFFFF"/>
          </a:solidFill>
          <a:ln w="9525">
            <a:solidFill>
              <a:srgbClr val="E2E8F0"/>
            </a:solidFill>
            <a:prstDash val="solid"/>
          </a:ln>
        </p:spPr>
        <p:txBody>
          <a:bodyPr/>
          <a:p/>
        </p:txBody>
      </p:sp>
      <p:pic>
        <p:nvPicPr>
          <p:cNvPr id="5" name="figura-escala" descr="Tiempo frente a n en log-log de 1K a 10M para S0 a S5">    </p:cNvPr>
          <p:cNvPicPr>
            <a:picLocks noChangeAspect="1"/>
          </p:cNvPicPr>
          <p:nvPr/>
        </p:nvPicPr>
        <p:blipFill>
          <a:blip r:embed="rId1"/>
          <a:stretch>
            <a:fillRect/>
          </a:stretch>
        </p:blipFill>
        <p:spPr>
          <a:xfrm>
            <a:off x="896112" y="1938528"/>
            <a:ext cx="6492240" cy="3849624"/>
          </a:xfrm>
          <a:prstGeom prst="rect">
            <a:avLst/>
          </a:prstGeom>
        </p:spPr>
      </p:pic>
      <p:sp>
        <p:nvSpPr>
          <p:cNvPr id="6" name="texto-219"/>
          <p:cNvSpPr txBox="1"/>
          <p:nvPr/>
        </p:nvSpPr>
        <p:spPr>
          <a:xfrm>
            <a:off x="896112" y="5833872"/>
            <a:ext cx="6492240" cy="274320"/>
          </a:xfrm>
          <a:prstGeom prst="rect">
            <a:avLst/>
          </a:prstGeom>
          <a:noFill/>
          <a:ln/>
        </p:spPr>
        <p:txBody>
          <a:bodyPr wrap="square" lIns="0" tIns="0" rIns="0" bIns="0" rtlCol="0" anchor="t"/>
          <a:lstStyle/>
          <a:p>
            <a:pPr indent="0" marL="0">
              <a:buNone/>
            </a:pPr>
            <a:r>
              <a:rPr lang="en-US" sz="1100" dirty="0">
                <a:solidFill>
                  <a:schemeClr val="accent5"/>
                </a:solidFill>
              </a:rPr>
              <a:t>Tiempo total frente a n, log-log, 1K a 10M</a:t>
            </a:r>
            <a:endParaRPr lang="en-US" sz="1100" dirty="0"/>
          </a:p>
        </p:txBody>
      </p:sp>
      <p:graphicFrame>
        <p:nvGraphicFramePr>
          <p:cNvPr id="12" name="tabla-pendientes"/>
          <p:cNvGraphicFramePr>
            <a:graphicFrameLocks noGrp="1"/>
          </p:cNvGraphicFramePr>
          <p:nvPr>
            <p:extLst>
              <p:ext uri="{D42A27DB-BD31-4B8C-83A1-F6EECF244321}">
                <p14:modId xmlns:p14="http://schemas.microsoft.com/office/powerpoint/2010/main" val="1579011935"/>
              </p:ext>
            </p:extLst>
          </p:nvPr>
        </p:nvGraphicFramePr>
        <p:xfrm>
          <a:off x="7726680" y="1783080"/>
          <a:ext cx="3685032" cy="914400"/>
        </p:xfrm>
        <a:graphic>
          <a:graphicData uri="http://schemas.openxmlformats.org/drawingml/2006/table">
            <a:tbl>
              <a:tblPr/>
              <a:tblGrid>
                <a:gridCol w="1600200"/>
                <a:gridCol w="731520"/>
                <a:gridCol w="1353312"/>
              </a:tblGrid>
              <a:tr h="365760">
                <a:tc>
                  <a:txBody>
                    <a:bodyPr/>
                    <a:lstStyle/>
                    <a:p>
                      <a:pPr algn="l" indent="0" marL="0">
                        <a:buNone/>
                      </a:pPr>
                      <a:r>
                        <a:rPr lang="en-US" sz="1300" b="1" dirty="0">
                          <a:solidFill>
                            <a:srgbClr val="04222B"/>
                          </a:solidFill>
                        </a:rPr>
                        <a:t>Estructura</a:t>
                      </a:r>
                      <a:endParaRPr lang="en-US" sz="13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9BE6F2"/>
                    </a:solidFill>
                  </a:tcPr>
                </a:tc>
                <a:tc>
                  <a:txBody>
                    <a:bodyPr/>
                    <a:lstStyle/>
                    <a:p>
                      <a:pPr algn="ctr" indent="0" marL="0">
                        <a:buNone/>
                      </a:pPr>
                      <a:r>
                        <a:rPr lang="en-US" sz="1300" b="1" dirty="0">
                          <a:solidFill>
                            <a:srgbClr val="04222B"/>
                          </a:solidFill>
                        </a:rPr>
                        <a:t>Pend.</a:t>
                      </a:r>
                      <a:endParaRPr lang="en-US" sz="13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9BE6F2"/>
                    </a:solidFill>
                  </a:tcPr>
                </a:tc>
                <a:tc>
                  <a:txBody>
                    <a:bodyPr/>
                    <a:lstStyle/>
                    <a:p>
                      <a:pPr algn="ctr" indent="0" marL="0">
                        <a:buNone/>
                      </a:pPr>
                      <a:r>
                        <a:rPr lang="en-US" sz="1300" b="1" dirty="0">
                          <a:solidFill>
                            <a:srgbClr val="04222B"/>
                          </a:solidFill>
                        </a:rPr>
                        <a:t>Esperado</a:t>
                      </a:r>
                      <a:endParaRPr lang="en-US" sz="13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9BE6F2"/>
                    </a:solidFill>
                  </a:tcPr>
                </a:tc>
              </a:tr>
              <a:tr h="365760">
                <a:tc>
                  <a:txBody>
                    <a:bodyPr/>
                    <a:lstStyle/>
                    <a:p>
                      <a:pPr algn="l" indent="0" marL="0">
                        <a:buNone/>
                      </a:pPr>
                      <a:r>
                        <a:rPr lang="en-US" sz="1300" dirty="0">
                          <a:solidFill>
                            <a:srgbClr val="1A2430"/>
                          </a:solidFill>
                        </a:rPr>
                        <a:t>Cola FIFO</a:t>
                      </a:r>
                      <a:endParaRPr lang="en-US" sz="13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B4F63"/>
                          </a:solidFill>
                        </a:rPr>
                        <a:t>1,12</a:t>
                      </a:r>
                      <a:endParaRPr lang="en-US" sz="13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2430"/>
                          </a:solidFill>
                        </a:rPr>
                        <a:t>O(n)</a:t>
                      </a:r>
                      <a:endParaRPr lang="en-US" sz="13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algn="l" indent="0" marL="0">
                        <a:buNone/>
                      </a:pPr>
                      <a:r>
                        <a:rPr lang="en-US" sz="1300" dirty="0">
                          <a:solidFill>
                            <a:srgbClr val="1A2430"/>
                          </a:solidFill>
                        </a:rPr>
                        <a:t>Tabla hash</a:t>
                      </a:r>
                      <a:endParaRPr lang="en-US" sz="13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algn="ctr" indent="0" marL="0">
                        <a:buNone/>
                      </a:pPr>
                      <a:r>
                        <a:rPr lang="en-US" sz="1300" b="1" dirty="0">
                          <a:solidFill>
                            <a:srgbClr val="0B4F63"/>
                          </a:solidFill>
                        </a:rPr>
                        <a:t>1,08</a:t>
                      </a:r>
                      <a:endParaRPr lang="en-US" sz="13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algn="ctr" indent="0" marL="0">
                        <a:buNone/>
                      </a:pPr>
                      <a:r>
                        <a:rPr lang="en-US" sz="1300" dirty="0">
                          <a:solidFill>
                            <a:srgbClr val="1A2430"/>
                          </a:solidFill>
                        </a:rPr>
                        <a:t>O(n)</a:t>
                      </a:r>
                      <a:endParaRPr lang="en-US" sz="13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r>
              <a:tr h="365760">
                <a:tc>
                  <a:txBody>
                    <a:bodyPr/>
                    <a:lstStyle/>
                    <a:p>
                      <a:pPr algn="l" indent="0" marL="0">
                        <a:buNone/>
                      </a:pPr>
                      <a:r>
                        <a:rPr lang="en-US" sz="1300" dirty="0">
                          <a:solidFill>
                            <a:srgbClr val="1A2430"/>
                          </a:solidFill>
                        </a:rPr>
                        <a:t>Merge sort</a:t>
                      </a:r>
                      <a:endParaRPr lang="en-US" sz="13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B4F63"/>
                          </a:solidFill>
                        </a:rPr>
                        <a:t>1,21</a:t>
                      </a:r>
                      <a:endParaRPr lang="en-US" sz="13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2430"/>
                          </a:solidFill>
                        </a:rPr>
                        <a:t>O(n log n)</a:t>
                      </a:r>
                      <a:endParaRPr lang="en-US" sz="13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algn="l" indent="0" marL="0">
                        <a:buNone/>
                      </a:pPr>
                      <a:r>
                        <a:rPr lang="en-US" sz="1300" dirty="0">
                          <a:solidFill>
                            <a:srgbClr val="1A2430"/>
                          </a:solidFill>
                        </a:rPr>
                        <a:t>Heap binario</a:t>
                      </a:r>
                      <a:endParaRPr lang="en-US" sz="13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algn="ctr" indent="0" marL="0">
                        <a:buNone/>
                      </a:pPr>
                      <a:r>
                        <a:rPr lang="en-US" sz="1300" b="1" dirty="0">
                          <a:solidFill>
                            <a:srgbClr val="0B4F63"/>
                          </a:solidFill>
                        </a:rPr>
                        <a:t>1,22</a:t>
                      </a:r>
                      <a:endParaRPr lang="en-US" sz="13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algn="ctr" indent="0" marL="0">
                        <a:buNone/>
                      </a:pPr>
                      <a:r>
                        <a:rPr lang="en-US" sz="1300" dirty="0">
                          <a:solidFill>
                            <a:srgbClr val="1A2430"/>
                          </a:solidFill>
                        </a:rPr>
                        <a:t>O(n log n)</a:t>
                      </a:r>
                      <a:endParaRPr lang="en-US" sz="13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r>
              <a:tr h="365760">
                <a:tc>
                  <a:txBody>
                    <a:bodyPr/>
                    <a:lstStyle/>
                    <a:p>
                      <a:pPr algn="l" indent="0" marL="0">
                        <a:buNone/>
                      </a:pPr>
                      <a:r>
                        <a:rPr lang="en-US" sz="1300" dirty="0">
                          <a:solidFill>
                            <a:srgbClr val="1A2430"/>
                          </a:solidFill>
                        </a:rPr>
                        <a:t>B+Tree búsqueda</a:t>
                      </a:r>
                      <a:endParaRPr lang="en-US" sz="13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B4F63"/>
                          </a:solidFill>
                        </a:rPr>
                        <a:t>0,32</a:t>
                      </a:r>
                      <a:endParaRPr lang="en-US" sz="13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2430"/>
                          </a:solidFill>
                        </a:rPr>
                        <a:t>≈ 0 (log_B n)</a:t>
                      </a:r>
                      <a:endParaRPr lang="en-US" sz="13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algn="l" indent="0" marL="0">
                        <a:buNone/>
                      </a:pPr>
                      <a:r>
                        <a:rPr lang="en-US" sz="1300" dirty="0">
                          <a:solidFill>
                            <a:srgbClr val="1A2430"/>
                          </a:solidFill>
                        </a:rPr>
                        <a:t>KD-Tree KNN</a:t>
                      </a:r>
                      <a:endParaRPr lang="en-US" sz="13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algn="ctr" indent="0" marL="0">
                        <a:buNone/>
                      </a:pPr>
                      <a:r>
                        <a:rPr lang="en-US" sz="1300" b="1" dirty="0">
                          <a:solidFill>
                            <a:srgbClr val="0B4F63"/>
                          </a:solidFill>
                        </a:rPr>
                        <a:t>0,11</a:t>
                      </a:r>
                      <a:endParaRPr lang="en-US" sz="13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c>
                  <a:txBody>
                    <a:bodyPr/>
                    <a:lstStyle/>
                    <a:p>
                      <a:pPr algn="ctr" indent="0" marL="0">
                        <a:buNone/>
                      </a:pPr>
                      <a:r>
                        <a:rPr lang="en-US" sz="1300" dirty="0">
                          <a:solidFill>
                            <a:srgbClr val="1A2430"/>
                          </a:solidFill>
                        </a:rPr>
                        <a:t>≈ 0 (log n)</a:t>
                      </a:r>
                      <a:endParaRPr lang="en-US" sz="13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7FB"/>
                    </a:solidFill>
                  </a:tcPr>
                </a:tc>
              </a:tr>
              <a:tr h="365760">
                <a:tc>
                  <a:txBody>
                    <a:bodyPr/>
                    <a:lstStyle/>
                    <a:p>
                      <a:pPr algn="l" indent="0" marL="0">
                        <a:buNone/>
                      </a:pPr>
                      <a:r>
                        <a:rPr lang="en-US" sz="1300" dirty="0">
                          <a:solidFill>
                            <a:srgbClr val="1A2430"/>
                          </a:solidFill>
                        </a:rPr>
                        <a:t>KNN fuerza bruta</a:t>
                      </a:r>
                      <a:endParaRPr lang="en-US" sz="13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B4F63"/>
                          </a:solidFill>
                        </a:rPr>
                        <a:t>1,02</a:t>
                      </a:r>
                      <a:endParaRPr lang="en-US" sz="13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2430"/>
                          </a:solidFill>
                        </a:rPr>
                        <a:t>O(n)</a:t>
                      </a:r>
                      <a:endParaRPr lang="en-US" sz="13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8" name="texto-220"/>
          <p:cNvSpPr txBox="1"/>
          <p:nvPr/>
        </p:nvSpPr>
        <p:spPr>
          <a:xfrm>
            <a:off x="7726680" y="4937760"/>
            <a:ext cx="3685032" cy="1188720"/>
          </a:xfrm>
          <a:prstGeom prst="rect">
            <a:avLst/>
          </a:prstGeom>
          <a:noFill/>
          <a:ln/>
        </p:spPr>
        <p:txBody>
          <a:bodyPr wrap="square" lIns="0" tIns="0" rIns="0" bIns="0" rtlCol="0" anchor="t"/>
          <a:lstStyle/>
          <a:p>
            <a:pPr indent="0" marL="0">
              <a:buNone/>
            </a:pPr>
            <a:r>
              <a:rPr lang="en-US" sz="1250" dirty="0">
                <a:solidFill>
                  <a:schemeClr val="accent5"/>
                </a:solidFill>
              </a:rPr>
              <a:t>Repeticiones: 100 hasta 10K, 10 en 100K, 3 en 1M y 1 en 10M (Python puro). Memoria actual y pico con tracemalloc. Semilla 2026.</a:t>
            </a:r>
            <a:endParaRPr lang="en-US" sz="125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2" type="body" hasCustomPrompt="1"/>
          </p:nvPr>
        </p:nvSpPr>
        <p:spPr>
          <a:xfrm>
            <a:off x="777240" y="603504"/>
            <a:ext cx="10607040" cy="274320"/>
          </a:xfrm>
          <a:prstGeom prst="rect">
            <a:avLst/>
          </a:prstGeom>
          <a:noFill/>
          <a:ln/>
        </p:spPr>
        <p:txBody>
          <a:bodyPr wrap="square" lIns="0" tIns="0" rIns="0" bIns="0" rtlCol="0" anchor="ctr"/>
          <a:lstStyle/>
          <a:p>
            <a:pPr algn="l" indent="0" marL="0">
              <a:buNone/>
            </a:pPr>
            <a:r>
              <a:rPr lang="en-US" sz="1100" b="1" dirty="0">
                <a:solidFill>
                  <a:schemeClr val="accent2"/>
                </a:solidFill>
              </a:rPr>
              <a:t>CORRIDA COMPLETA</a:t>
            </a:r>
            <a:endParaRPr lang="en-US" sz="1100" dirty="0"/>
          </a:p>
        </p:txBody>
      </p:sp>
      <p:sp>
        <p:nvSpPr>
          <p:cNvPr id="3" name="Text 0"/>
          <p:cNvSpPr/>
          <p:nvPr>
            <p:ph idx="103" type="title" hasCustomPrompt="1"/>
          </p:nvPr>
        </p:nvSpPr>
        <p:spPr>
          <a:xfrm>
            <a:off x="777240" y="877824"/>
            <a:ext cx="10789920" cy="548640"/>
          </a:xfrm>
          <a:prstGeom prst="rect">
            <a:avLst/>
          </a:prstGeom>
          <a:noFill/>
          <a:ln/>
        </p:spPr>
        <p:txBody>
          <a:bodyPr wrap="square" lIns="0" tIns="0" rIns="0" bIns="0" rtlCol="0" anchor="ctr"/>
          <a:lstStyle/>
          <a:p>
            <a:pPr algn="l" indent="0" marL="0">
              <a:buNone/>
            </a:pPr>
            <a:r>
              <a:rPr lang="en-US" sz="3000" b="1" dirty="0">
                <a:solidFill>
                  <a:schemeClr val="tx1"/>
                </a:solidFill>
              </a:rPr>
              <a:t>10,2 M eventos reales de punta a punta en 5 minutos</a:t>
            </a:r>
            <a:endParaRPr lang="en-US" sz="3000" dirty="0"/>
          </a:p>
        </p:txBody>
      </p:sp>
      <p:sp>
        <p:nvSpPr>
          <p:cNvPr id="4" name="tarjeta-221"/>
          <p:cNvSpPr/>
          <p:nvPr/>
        </p:nvSpPr>
        <p:spPr>
          <a:xfrm>
            <a:off x="777240" y="1783080"/>
            <a:ext cx="6720840" cy="4389120"/>
          </a:xfrm>
          <a:prstGeom prst="roundRect">
            <a:avLst>
              <a:gd name="adj" fmla="val 1667"/>
            </a:avLst>
          </a:prstGeom>
          <a:solidFill>
            <a:srgbClr val="FFFFFF"/>
          </a:solidFill>
          <a:ln w="9525">
            <a:solidFill>
              <a:srgbClr val="E2E8F0"/>
            </a:solidFill>
            <a:prstDash val="solid"/>
          </a:ln>
        </p:spPr>
        <p:txBody>
          <a:bodyPr/>
          <a:p/>
        </p:txBody>
      </p:sp>
      <p:graphicFrame>
        <p:nvGraphicFramePr>
          <p:cNvPr id="5" name="grafico-etapas" descr=""/>
          <p:cNvGraphicFramePr/>
          <p:nvPr/>
        </p:nvGraphicFramePr>
        <p:xfrm>
          <a:off x="896112" y="1874520"/>
          <a:ext cx="6492240" cy="4206240"/>
        </p:xfrm>
        <a:graphic xmlns:a="http://schemas.openxmlformats.org/drawingml/2006/main">
          <a:graphicData uri="http://schemas.openxmlformats.org/drawingml/2006/chart">
            <c:chart xmlns:c="http://schemas.openxmlformats.org/drawingml/2006/chart" r:id="rId1"/>
          </a:graphicData>
        </a:graphic>
      </p:graphicFrame>
      <p:sp>
        <p:nvSpPr>
          <p:cNvPr id="6" name="texto-222"/>
          <p:cNvSpPr txBox="1"/>
          <p:nvPr/>
        </p:nvSpPr>
        <p:spPr>
          <a:xfrm>
            <a:off x="7772400" y="1783080"/>
            <a:ext cx="3611880" cy="548640"/>
          </a:xfrm>
          <a:prstGeom prst="rect">
            <a:avLst/>
          </a:prstGeom>
          <a:noFill/>
          <a:ln/>
        </p:spPr>
        <p:txBody>
          <a:bodyPr wrap="square" lIns="0" tIns="0" rIns="0" bIns="0" rtlCol="0" anchor="b"/>
          <a:lstStyle/>
          <a:p>
            <a:pPr indent="0" marL="0">
              <a:buNone/>
            </a:pPr>
            <a:r>
              <a:rPr lang="en-US" sz="3200" b="1" dirty="0">
                <a:solidFill>
                  <a:schemeClr val="accent3"/>
                </a:solidFill>
              </a:rPr>
              <a:t>33 107</a:t>
            </a:r>
            <a:endParaRPr lang="en-US" sz="3200" dirty="0"/>
          </a:p>
        </p:txBody>
      </p:sp>
      <p:sp>
        <p:nvSpPr>
          <p:cNvPr id="7" name="texto-223"/>
          <p:cNvSpPr txBox="1"/>
          <p:nvPr/>
        </p:nvSpPr>
        <p:spPr>
          <a:xfrm>
            <a:off x="7772400" y="2368296"/>
            <a:ext cx="3611880" cy="411480"/>
          </a:xfrm>
          <a:prstGeom prst="rect">
            <a:avLst/>
          </a:prstGeom>
          <a:noFill/>
          <a:ln/>
        </p:spPr>
        <p:txBody>
          <a:bodyPr wrap="square" lIns="0" tIns="0" rIns="0" bIns="0" rtlCol="0" anchor="t"/>
          <a:lstStyle/>
          <a:p>
            <a:pPr indent="0" marL="0">
              <a:buNone/>
            </a:pPr>
            <a:r>
              <a:rPr lang="en-US" sz="1200" dirty="0">
                <a:solidFill>
                  <a:schemeClr val="accent5"/>
                </a:solidFill>
              </a:rPr>
              <a:t>eventos por segundo, un solo proceso</a:t>
            </a:r>
            <a:endParaRPr lang="en-US" sz="1200" dirty="0"/>
          </a:p>
        </p:txBody>
      </p:sp>
      <p:sp>
        <p:nvSpPr>
          <p:cNvPr id="8" name="texto-224"/>
          <p:cNvSpPr txBox="1"/>
          <p:nvPr/>
        </p:nvSpPr>
        <p:spPr>
          <a:xfrm>
            <a:off x="7772400" y="2926080"/>
            <a:ext cx="3611880" cy="548640"/>
          </a:xfrm>
          <a:prstGeom prst="rect">
            <a:avLst/>
          </a:prstGeom>
          <a:noFill/>
          <a:ln/>
        </p:spPr>
        <p:txBody>
          <a:bodyPr wrap="square" lIns="0" tIns="0" rIns="0" bIns="0" rtlCol="0" anchor="b"/>
          <a:lstStyle/>
          <a:p>
            <a:pPr indent="0" marL="0">
              <a:buNone/>
            </a:pPr>
            <a:r>
              <a:rPr lang="en-US" sz="3200" b="1" dirty="0">
                <a:solidFill>
                  <a:schemeClr val="accent3"/>
                </a:solidFill>
              </a:rPr>
              <a:t>179 043</a:t>
            </a:r>
            <a:endParaRPr lang="en-US" sz="3200" dirty="0"/>
          </a:p>
        </p:txBody>
      </p:sp>
      <p:sp>
        <p:nvSpPr>
          <p:cNvPr id="9" name="texto-225"/>
          <p:cNvSpPr txBox="1"/>
          <p:nvPr/>
        </p:nvSpPr>
        <p:spPr>
          <a:xfrm>
            <a:off x="7772400" y="3511296"/>
            <a:ext cx="3611880" cy="411480"/>
          </a:xfrm>
          <a:prstGeom prst="rect">
            <a:avLst/>
          </a:prstGeom>
          <a:noFill/>
          <a:ln/>
        </p:spPr>
        <p:txBody>
          <a:bodyPr wrap="square" lIns="0" tIns="0" rIns="0" bIns="0" rtlCol="0" anchor="t"/>
          <a:lstStyle/>
          <a:p>
            <a:pPr indent="0" marL="0">
              <a:buNone/>
            </a:pPr>
            <a:r>
              <a:rPr lang="en-US" sz="1200" dirty="0">
                <a:solidFill>
                  <a:schemeClr val="accent5"/>
                </a:solidFill>
              </a:rPr>
              <a:t>órdenes en el B+Tree en disco, altura 3</a:t>
            </a:r>
            <a:endParaRPr lang="en-US" sz="1200" dirty="0"/>
          </a:p>
        </p:txBody>
      </p:sp>
      <p:sp>
        <p:nvSpPr>
          <p:cNvPr id="10" name="texto-226"/>
          <p:cNvSpPr txBox="1"/>
          <p:nvPr/>
        </p:nvSpPr>
        <p:spPr>
          <a:xfrm>
            <a:off x="7772400" y="4069080"/>
            <a:ext cx="3611880" cy="548640"/>
          </a:xfrm>
          <a:prstGeom prst="rect">
            <a:avLst/>
          </a:prstGeom>
          <a:noFill/>
          <a:ln/>
        </p:spPr>
        <p:txBody>
          <a:bodyPr wrap="square" lIns="0" tIns="0" rIns="0" bIns="0" rtlCol="0" anchor="b"/>
          <a:lstStyle/>
          <a:p>
            <a:pPr indent="0" marL="0">
              <a:buNone/>
            </a:pPr>
            <a:r>
              <a:rPr lang="en-US" sz="3200" b="1" dirty="0">
                <a:solidFill>
                  <a:schemeClr val="accent3"/>
                </a:solidFill>
              </a:rPr>
              <a:t>66 628</a:t>
            </a:r>
            <a:endParaRPr lang="en-US" sz="3200" dirty="0"/>
          </a:p>
        </p:txBody>
      </p:sp>
      <p:sp>
        <p:nvSpPr>
          <p:cNvPr id="11" name="texto-227"/>
          <p:cNvSpPr txBox="1"/>
          <p:nvPr/>
        </p:nvSpPr>
        <p:spPr>
          <a:xfrm>
            <a:off x="7772400" y="4654296"/>
            <a:ext cx="3611880" cy="411480"/>
          </a:xfrm>
          <a:prstGeom prst="rect">
            <a:avLst/>
          </a:prstGeom>
          <a:noFill/>
          <a:ln/>
        </p:spPr>
        <p:txBody>
          <a:bodyPr wrap="square" lIns="0" tIns="0" rIns="0" bIns="0" rtlCol="0" anchor="t"/>
          <a:lstStyle/>
          <a:p>
            <a:pPr indent="0" marL="0">
              <a:buNone/>
            </a:pPr>
            <a:r>
              <a:rPr lang="en-US" sz="1200" dirty="0">
                <a:solidFill>
                  <a:schemeClr val="accent5"/>
                </a:solidFill>
              </a:rPr>
              <a:t>eventos de fraude bloqueados antes de S4</a:t>
            </a:r>
            <a:endParaRPr lang="en-US" sz="1200" dirty="0"/>
          </a:p>
        </p:txBody>
      </p:sp>
      <p:sp>
        <p:nvSpPr>
          <p:cNvPr id="12" name="tarjeta-228"/>
          <p:cNvSpPr/>
          <p:nvPr/>
        </p:nvSpPr>
        <p:spPr>
          <a:xfrm>
            <a:off x="7726680" y="5257800"/>
            <a:ext cx="3685032" cy="914400"/>
          </a:xfrm>
          <a:prstGeom prst="roundRect">
            <a:avLst>
              <a:gd name="adj" fmla="val 8000"/>
            </a:avLst>
          </a:prstGeom>
          <a:solidFill>
            <a:schemeClr val="accent6"/>
          </a:solidFill>
          <a:ln w="9525">
            <a:solidFill>
              <a:schemeClr val="accent1"/>
            </a:solidFill>
            <a:prstDash val="solid"/>
          </a:ln>
        </p:spPr>
        <p:txBody>
          <a:bodyPr/>
          <a:p/>
        </p:txBody>
      </p:sp>
      <p:sp>
        <p:nvSpPr>
          <p:cNvPr id="13" name="texto-229"/>
          <p:cNvSpPr txBox="1"/>
          <p:nvPr/>
        </p:nvSpPr>
        <p:spPr>
          <a:xfrm>
            <a:off x="7863840" y="5349240"/>
            <a:ext cx="3429000" cy="731520"/>
          </a:xfrm>
          <a:prstGeom prst="rect">
            <a:avLst/>
          </a:prstGeom>
          <a:noFill/>
          <a:ln/>
        </p:spPr>
        <p:txBody>
          <a:bodyPr wrap="square" lIns="0" tIns="0" rIns="0" bIns="0" rtlCol="0" anchor="ctr"/>
          <a:lstStyle/>
          <a:p>
            <a:pPr indent="0" marL="0">
              <a:buNone/>
            </a:pPr>
            <a:r>
              <a:rPr lang="en-US" sz="1350" dirty="0">
                <a:solidFill>
                  <a:schemeClr val="accent3"/>
                </a:solidFill>
              </a:rPr>
              <a:t>El refresco de S7 es el 49 % del tiempo: es lo primero a paralelizar.</a:t>
            </a:r>
            <a:endParaRPr lang="en-US" sz="135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o-230"/>
          <p:cNvSpPr txBox="1"/>
          <p:nvPr/>
        </p:nvSpPr>
        <p:spPr>
          <a:xfrm>
            <a:off x="640080" y="685800"/>
            <a:ext cx="7315200" cy="548640"/>
          </a:xfrm>
          <a:prstGeom prst="rect">
            <a:avLst/>
          </a:prstGeom>
          <a:noFill/>
          <a:ln/>
        </p:spPr>
        <p:txBody>
          <a:bodyPr wrap="square" lIns="0" tIns="0" rIns="0" bIns="0" rtlCol="0" anchor="ctr"/>
          <a:lstStyle/>
          <a:p>
            <a:pPr indent="0" marL="0">
              <a:buNone/>
            </a:pPr>
            <a:r>
              <a:rPr lang="en-US" sz="2700" b="1" dirty="0">
                <a:solidFill>
                  <a:srgbClr val="00D6E8"/>
                </a:solidFill>
              </a:rPr>
              <a:t>Demostración práctica</a:t>
            </a:r>
            <a:endParaRPr lang="en-US" sz="2700" dirty="0"/>
          </a:p>
        </p:txBody>
      </p:sp>
      <p:sp>
        <p:nvSpPr>
          <p:cNvPr id="3" name="texto-231"/>
          <p:cNvSpPr txBox="1"/>
          <p:nvPr/>
        </p:nvSpPr>
        <p:spPr>
          <a:xfrm>
            <a:off x="658368" y="1234440"/>
            <a:ext cx="9144000" cy="274320"/>
          </a:xfrm>
          <a:prstGeom prst="rect">
            <a:avLst/>
          </a:prstGeom>
          <a:noFill/>
          <a:ln/>
        </p:spPr>
        <p:txBody>
          <a:bodyPr wrap="square" lIns="0" tIns="0" rIns="0" bIns="0" rtlCol="0" anchor="t"/>
          <a:lstStyle/>
          <a:p>
            <a:pPr indent="0" marL="0">
              <a:buNone/>
            </a:pPr>
            <a:r>
              <a:rPr lang="en-US" sz="1200" b="1" dirty="0">
                <a:solidFill>
                  <a:srgbClr val="E6E6E6"/>
                </a:solidFill>
              </a:rPr>
              <a:t>DEMO EN VIVO CON DATOS REALES · el recorrido de una compra por las diez etapas</a:t>
            </a:r>
            <a:endParaRPr lang="en-US" sz="1200" dirty="0"/>
          </a:p>
        </p:txBody>
      </p:sp>
      <p:sp>
        <p:nvSpPr>
          <p:cNvPr id="4" name="traza-fondo"/>
          <p:cNvSpPr/>
          <p:nvPr/>
        </p:nvSpPr>
        <p:spPr>
          <a:xfrm>
            <a:off x="640080" y="1737360"/>
            <a:ext cx="5715000" cy="3566160"/>
          </a:xfrm>
          <a:prstGeom prst="roundRect">
            <a:avLst>
              <a:gd name="adj" fmla="val 2051"/>
            </a:avLst>
          </a:prstGeom>
          <a:solidFill>
            <a:srgbClr val="111A2C"/>
          </a:solidFill>
          <a:ln w="9525">
            <a:solidFill>
              <a:srgbClr val="2C3B58"/>
            </a:solidFill>
            <a:prstDash val="solid"/>
          </a:ln>
        </p:spPr>
        <p:txBody>
          <a:bodyPr/>
          <a:p/>
        </p:txBody>
      </p:sp>
      <p:sp>
        <p:nvSpPr>
          <p:cNvPr id="5" name="texto-232"/>
          <p:cNvSpPr txBox="1"/>
          <p:nvPr/>
        </p:nvSpPr>
        <p:spPr>
          <a:xfrm>
            <a:off x="822960" y="1828800"/>
            <a:ext cx="5394960" cy="3383280"/>
          </a:xfrm>
          <a:prstGeom prst="rect">
            <a:avLst/>
          </a:prstGeom>
          <a:noFill/>
          <a:ln/>
        </p:spPr>
        <p:txBody>
          <a:bodyPr wrap="square" lIns="0" tIns="0" rIns="0" bIns="0" rtlCol="0" anchor="ctr"/>
          <a:lstStyle/>
          <a:p>
            <a:pPr indent="0" marL="0">
              <a:spcAft>
                <a:spcPts val="300"/>
              </a:spcAft>
              <a:buNone/>
            </a:pPr>
            <a:r>
              <a:rPr lang="en-US" sz="1250" dirty="0">
                <a:solidFill>
                  <a:srgbClr val="57D3EA"/>
                </a:solidFill>
                <a:latin typeface="Courier New" pitchFamily="34" charset="0"/>
                <a:ea typeface="Courier New" pitchFamily="34" charset="-122"/>
                <a:cs typeface="Courier New" pitchFamily="34" charset="-120"/>
              </a:rPr>
              <a:t>Event(6967856, purchase, product=1004856, $131.76)</a:t>
            </a:r>
            <a:endParaRPr lang="en-US" sz="1250" dirty="0"/>
          </a:p>
          <a:p>
            <a:pPr indent="0" marL="0">
              <a:spcAft>
                <a:spcPts val="300"/>
              </a:spcAft>
              <a:buNone/>
            </a:pPr>
            <a:r>
              <a:rPr lang="en-US" sz="1250" dirty="0">
                <a:solidFill>
                  <a:srgbClr val="E2E8F0"/>
                </a:solidFill>
                <a:latin typeface="Courier New" pitchFamily="34" charset="0"/>
                <a:ea typeface="Courier New" pitchFamily="34" charset="-122"/>
                <a:cs typeface="Courier New" pitchFamily="34" charset="-120"/>
              </a:rPr>
              <a:t>[S0] encolado (cola=2366)</a:t>
            </a:r>
            <a:endParaRPr lang="en-US" sz="1250" dirty="0"/>
          </a:p>
          <a:p>
            <a:pPr indent="0" marL="0">
              <a:spcAft>
                <a:spcPts val="300"/>
              </a:spcAft>
              <a:buNone/>
            </a:pPr>
            <a:r>
              <a:rPr lang="en-US" sz="1250" dirty="0">
                <a:solidFill>
                  <a:srgbClr val="E2E8F0"/>
                </a:solidFill>
                <a:latin typeface="Courier New" pitchFamily="34" charset="0"/>
                <a:ea typeface="Courier New" pitchFamily="34" charset="-122"/>
                <a:cs typeface="Courier New" pitchFamily="34" charset="-120"/>
              </a:rPr>
              <a:t>[S1] válido, normalizado y no duplicado</a:t>
            </a:r>
            <a:endParaRPr lang="en-US" sz="1250" dirty="0"/>
          </a:p>
          <a:p>
            <a:pPr indent="0" marL="0">
              <a:spcAft>
                <a:spcPts val="300"/>
              </a:spcAft>
              <a:buNone/>
            </a:pPr>
            <a:r>
              <a:rPr lang="en-US" sz="1250" dirty="0">
                <a:solidFill>
                  <a:srgbClr val="E2E8F0"/>
                </a:solidFill>
                <a:latin typeface="Courier New" pitchFamily="34" charset="0"/>
                <a:ea typeface="Courier New" pitchFamily="34" charset="-122"/>
                <a:cs typeface="Courier New" pitchFamily="34" charset="-120"/>
              </a:rPr>
              <a:t>[S2] compra programada: posición 89 de 4929</a:t>
            </a:r>
            <a:endParaRPr lang="en-US" sz="1250" dirty="0"/>
          </a:p>
          <a:p>
            <a:pPr indent="0" marL="0">
              <a:spcAft>
                <a:spcPts val="300"/>
              </a:spcAft>
              <a:buNone/>
            </a:pPr>
            <a:r>
              <a:rPr lang="en-US" sz="1250" dirty="0">
                <a:solidFill>
                  <a:srgbClr val="E2E8F0"/>
                </a:solidFill>
                <a:latin typeface="Courier New" pitchFamily="34" charset="0"/>
                <a:ea typeface="Courier New" pitchFamily="34" charset="-122"/>
                <a:cs typeface="Courier New" pitchFamily="34" charset="-120"/>
              </a:rPr>
              <a:t>[S3] producto #861, usuario #746725</a:t>
            </a:r>
            <a:endParaRPr lang="en-US" sz="1250" dirty="0"/>
          </a:p>
          <a:p>
            <a:pPr indent="0" marL="0">
              <a:spcAft>
                <a:spcPts val="300"/>
              </a:spcAft>
              <a:buNone/>
            </a:pPr>
            <a:r>
              <a:rPr lang="en-US" sz="1250" dirty="0">
                <a:solidFill>
                  <a:srgbClr val="E2E8F0"/>
                </a:solidFill>
                <a:latin typeface="Courier New" pitchFamily="34" charset="0"/>
                <a:ea typeface="Courier New" pitchFamily="34" charset="-122"/>
                <a:cs typeface="Courier New" pitchFamily="34" charset="-120"/>
              </a:rPr>
              <a:t>[S6] pasa el filtro (Bloom ausente, CMS bajo umbral)</a:t>
            </a:r>
            <a:endParaRPr lang="en-US" sz="1250" dirty="0"/>
          </a:p>
          <a:p>
            <a:pPr indent="0" marL="0">
              <a:spcAft>
                <a:spcPts val="300"/>
              </a:spcAft>
              <a:buNone/>
            </a:pPr>
            <a:r>
              <a:rPr lang="en-US" sz="1250" dirty="0">
                <a:solidFill>
                  <a:srgbClr val="E2E8F0"/>
                </a:solidFill>
                <a:latin typeface="Courier New" pitchFamily="34" charset="0"/>
                <a:ea typeface="Courier New" pitchFamily="34" charset="-122"/>
                <a:cs typeface="Courier New" pitchFamily="34" charset="-120"/>
              </a:rPr>
              <a:t>[S4] orden indexada por tiempo en el B+Tree</a:t>
            </a:r>
            <a:endParaRPr lang="en-US" sz="1250" dirty="0"/>
          </a:p>
          <a:p>
            <a:pPr indent="0" marL="0">
              <a:spcAft>
                <a:spcPts val="300"/>
              </a:spcAft>
              <a:buNone/>
            </a:pPr>
            <a:r>
              <a:rPr lang="en-US" sz="1250" dirty="0">
                <a:solidFill>
                  <a:srgbClr val="E2E8F0"/>
                </a:solidFill>
                <a:latin typeface="Courier New" pitchFamily="34" charset="0"/>
                <a:ea typeface="Courier New" pitchFamily="34" charset="-122"/>
                <a:cs typeface="Courier New" pitchFamily="34" charset="-120"/>
              </a:rPr>
              <a:t>[S5] KD-Tree: [786, 840, 14608]</a:t>
            </a:r>
            <a:endParaRPr lang="en-US" sz="1250" dirty="0"/>
          </a:p>
          <a:p>
            <a:pPr indent="0" marL="0">
              <a:spcAft>
                <a:spcPts val="300"/>
              </a:spcAft>
              <a:buNone/>
            </a:pPr>
            <a:r>
              <a:rPr lang="en-US" sz="1250" dirty="0">
                <a:solidFill>
                  <a:srgbClr val="E2E8F0"/>
                </a:solidFill>
                <a:latin typeface="Courier New" pitchFamily="34" charset="0"/>
                <a:ea typeface="Courier New" pitchFamily="34" charset="-122"/>
                <a:cs typeface="Courier New" pitchFamily="34" charset="-120"/>
              </a:rPr>
              <a:t>[S7] LSH: []  IVF: [87862, 87190, 40728]</a:t>
            </a:r>
            <a:endParaRPr lang="en-US" sz="1250" dirty="0"/>
          </a:p>
          <a:p>
            <a:pPr indent="0" marL="0">
              <a:spcAft>
                <a:spcPts val="300"/>
              </a:spcAft>
              <a:buNone/>
            </a:pPr>
            <a:r>
              <a:rPr lang="en-US" sz="1250" dirty="0">
                <a:solidFill>
                  <a:srgbClr val="E2E8F0"/>
                </a:solidFill>
                <a:latin typeface="Courier New" pitchFamily="34" charset="0"/>
                <a:ea typeface="Courier New" pitchFamily="34" charset="-122"/>
                <a:cs typeface="Courier New" pitchFamily="34" charset="-120"/>
              </a:rPr>
              <a:t>[S8] nodo listo para nuevas aristas</a:t>
            </a:r>
            <a:endParaRPr lang="en-US" sz="1250" dirty="0"/>
          </a:p>
          <a:p>
            <a:pPr indent="0" marL="0">
              <a:spcAft>
                <a:spcPts val="300"/>
              </a:spcAft>
              <a:buNone/>
            </a:pPr>
            <a:r>
              <a:rPr lang="en-US" sz="1250" dirty="0">
                <a:solidFill>
                  <a:srgbClr val="00D6E8"/>
                </a:solidFill>
                <a:latin typeface="Courier New" pitchFamily="34" charset="0"/>
                <a:ea typeface="Courier New" pitchFamily="34" charset="-122"/>
                <a:cs typeface="Courier New" pitchFamily="34" charset="-120"/>
              </a:rPr>
              <a:t>[S9] Top-5: samsung 4767 (grafo + KD) …</a:t>
            </a:r>
            <a:endParaRPr lang="en-US" sz="1250" dirty="0"/>
          </a:p>
        </p:txBody>
      </p:sp>
      <p:pic>
        <p:nvPicPr>
          <p:cNvPr id="6" name="panel" descr="Panel Streamlit de la etapa 9 con métricas y recorrido del evento">    </p:cNvPr>
          <p:cNvPicPr>
            <a:picLocks noChangeAspect="1"/>
          </p:cNvPicPr>
          <p:nvPr/>
        </p:nvPicPr>
        <p:blipFill>
          <a:blip r:embed="rId1"/>
          <a:stretch>
            <a:fillRect/>
          </a:stretch>
        </p:blipFill>
        <p:spPr>
          <a:xfrm>
            <a:off x="6583680" y="1737360"/>
            <a:ext cx="4983480" cy="3264408"/>
          </a:xfrm>
          <a:prstGeom prst="rect">
            <a:avLst/>
          </a:prstGeom>
        </p:spPr>
      </p:pic>
      <p:sp>
        <p:nvSpPr>
          <p:cNvPr id="7" name="texto-233"/>
          <p:cNvSpPr txBox="1"/>
          <p:nvPr/>
        </p:nvSpPr>
        <p:spPr>
          <a:xfrm>
            <a:off x="6583680" y="5047488"/>
            <a:ext cx="4983480" cy="274320"/>
          </a:xfrm>
          <a:prstGeom prst="rect">
            <a:avLst/>
          </a:prstGeom>
          <a:noFill/>
          <a:ln/>
        </p:spPr>
        <p:txBody>
          <a:bodyPr wrap="square" lIns="0" tIns="0" rIns="0" bIns="0" rtlCol="0" anchor="t"/>
          <a:lstStyle/>
          <a:p>
            <a:pPr indent="0" marL="0">
              <a:buNone/>
            </a:pPr>
            <a:r>
              <a:rPr lang="en-US" sz="1100" dirty="0">
                <a:solidFill>
                  <a:srgbClr val="BBBBBB"/>
                </a:solidFill>
              </a:rPr>
              <a:t>Panel Streamlit (S9): métricas, traza, Top-K, Trie y rangos del B+Tree</a:t>
            </a:r>
            <a:endParaRPr lang="en-US" sz="1100" dirty="0"/>
          </a:p>
        </p:txBody>
      </p:sp>
      <p:sp>
        <p:nvSpPr>
          <p:cNvPr id="8" name="cmd-234"/>
          <p:cNvSpPr/>
          <p:nvPr/>
        </p:nvSpPr>
        <p:spPr>
          <a:xfrm>
            <a:off x="640080" y="5486400"/>
            <a:ext cx="5440680" cy="384048"/>
          </a:xfrm>
          <a:prstGeom prst="roundRect">
            <a:avLst>
              <a:gd name="adj" fmla="val 14286"/>
            </a:avLst>
          </a:prstGeom>
          <a:solidFill>
            <a:srgbClr val="1B2740"/>
          </a:solidFill>
          <a:ln w="9525">
            <a:solidFill>
              <a:srgbClr val="2C3B58"/>
            </a:solidFill>
            <a:prstDash val="solid"/>
          </a:ln>
        </p:spPr>
        <p:txBody>
          <a:bodyPr/>
          <a:p/>
        </p:txBody>
      </p:sp>
      <p:sp>
        <p:nvSpPr>
          <p:cNvPr id="9" name="texto-235"/>
          <p:cNvSpPr txBox="1"/>
          <p:nvPr/>
        </p:nvSpPr>
        <p:spPr>
          <a:xfrm>
            <a:off x="777240" y="5486400"/>
            <a:ext cx="5212080" cy="384048"/>
          </a:xfrm>
          <a:prstGeom prst="rect">
            <a:avLst/>
          </a:prstGeom>
          <a:noFill/>
          <a:ln/>
        </p:spPr>
        <p:txBody>
          <a:bodyPr wrap="square" lIns="0" tIns="0" rIns="0" bIns="0" rtlCol="0" anchor="ctr"/>
          <a:lstStyle/>
          <a:p>
            <a:pPr indent="0" marL="0">
              <a:buNone/>
            </a:pPr>
            <a:r>
              <a:rPr lang="en-US" sz="1100" dirty="0">
                <a:solidFill>
                  <a:srgbClr val="57D3EA"/>
                </a:solidFill>
                <a:latin typeface="Courier New" pitchFamily="34" charset="0"/>
                <a:ea typeface="Courier New" pitchFamily="34" charset="-122"/>
                <a:cs typeface="Courier New" pitchFamily="34" charset="-120"/>
              </a:rPr>
              <a:t>python scripts/run_pipeline.py --data data/rees46_200000</a:t>
            </a:r>
            <a:endParaRPr lang="en-US" sz="1100" dirty="0"/>
          </a:p>
        </p:txBody>
      </p:sp>
      <p:sp>
        <p:nvSpPr>
          <p:cNvPr id="10" name="cmd-236"/>
          <p:cNvSpPr/>
          <p:nvPr/>
        </p:nvSpPr>
        <p:spPr>
          <a:xfrm>
            <a:off x="6217920" y="5486400"/>
            <a:ext cx="5349240" cy="384048"/>
          </a:xfrm>
          <a:prstGeom prst="roundRect">
            <a:avLst>
              <a:gd name="adj" fmla="val 14286"/>
            </a:avLst>
          </a:prstGeom>
          <a:solidFill>
            <a:srgbClr val="1B2740"/>
          </a:solidFill>
          <a:ln w="9525">
            <a:solidFill>
              <a:srgbClr val="2C3B58"/>
            </a:solidFill>
            <a:prstDash val="solid"/>
          </a:ln>
        </p:spPr>
        <p:txBody>
          <a:bodyPr/>
          <a:p/>
        </p:txBody>
      </p:sp>
      <p:sp>
        <p:nvSpPr>
          <p:cNvPr id="11" name="texto-237"/>
          <p:cNvSpPr txBox="1"/>
          <p:nvPr/>
        </p:nvSpPr>
        <p:spPr>
          <a:xfrm>
            <a:off x="6355080" y="5486400"/>
            <a:ext cx="5212080" cy="384048"/>
          </a:xfrm>
          <a:prstGeom prst="rect">
            <a:avLst/>
          </a:prstGeom>
          <a:noFill/>
          <a:ln/>
        </p:spPr>
        <p:txBody>
          <a:bodyPr wrap="square" lIns="0" tIns="0" rIns="0" bIns="0" rtlCol="0" anchor="ctr"/>
          <a:lstStyle/>
          <a:p>
            <a:pPr indent="0" marL="0">
              <a:buNone/>
            </a:pPr>
            <a:r>
              <a:rPr lang="en-US" sz="1100" dirty="0">
                <a:solidFill>
                  <a:srgbClr val="57D3EA"/>
                </a:solidFill>
                <a:latin typeface="Courier New" pitchFamily="34" charset="0"/>
                <a:ea typeface="Courier New" pitchFamily="34" charset="-122"/>
                <a:cs typeface="Courier New" pitchFamily="34" charset="-120"/>
              </a:rPr>
              <a:t>streamlit run src/eda/service/dashboard.py</a:t>
            </a:r>
            <a:endParaRPr lang="en-US" sz="11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BBBB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2" type="body" hasCustomPrompt="1"/>
          </p:nvPr>
        </p:nvSpPr>
        <p:spPr>
          <a:xfrm>
            <a:off x="777240" y="603504"/>
            <a:ext cx="10607040" cy="274320"/>
          </a:xfrm>
          <a:prstGeom prst="rect">
            <a:avLst/>
          </a:prstGeom>
          <a:noFill/>
          <a:ln/>
        </p:spPr>
        <p:txBody>
          <a:bodyPr wrap="square" lIns="0" tIns="0" rIns="0" bIns="0" rtlCol="0" anchor="ctr"/>
          <a:lstStyle/>
          <a:p>
            <a:pPr algn="l" indent="0" marL="0">
              <a:buNone/>
            </a:pPr>
            <a:r>
              <a:rPr lang="en-US" sz="1100" b="1" dirty="0">
                <a:solidFill>
                  <a:schemeClr val="accent2"/>
                </a:solidFill>
              </a:rPr>
              <a:t>CIERRE · CONCLUSIONES</a:t>
            </a:r>
            <a:endParaRPr lang="en-US" sz="1100" dirty="0"/>
          </a:p>
        </p:txBody>
      </p:sp>
      <p:sp>
        <p:nvSpPr>
          <p:cNvPr id="3" name="Text 0"/>
          <p:cNvSpPr/>
          <p:nvPr>
            <p:ph idx="103" type="title" hasCustomPrompt="1"/>
          </p:nvPr>
        </p:nvSpPr>
        <p:spPr>
          <a:xfrm>
            <a:off x="777240" y="877824"/>
            <a:ext cx="10789920" cy="548640"/>
          </a:xfrm>
          <a:prstGeom prst="rect">
            <a:avLst/>
          </a:prstGeom>
          <a:noFill/>
          <a:ln/>
        </p:spPr>
        <p:txBody>
          <a:bodyPr wrap="square" lIns="0" tIns="0" rIns="0" bIns="0" rtlCol="0" anchor="ctr"/>
          <a:lstStyle/>
          <a:p>
            <a:pPr algn="l" indent="0" marL="0">
              <a:buNone/>
            </a:pPr>
            <a:r>
              <a:rPr lang="en-US" sz="3000" b="1" dirty="0">
                <a:solidFill>
                  <a:schemeClr val="tx1"/>
                </a:solidFill>
              </a:rPr>
              <a:t>Cuatro ideas para llevarse</a:t>
            </a:r>
            <a:endParaRPr lang="en-US" sz="3000" dirty="0"/>
          </a:p>
        </p:txBody>
      </p:sp>
      <p:sp>
        <p:nvSpPr>
          <p:cNvPr id="4" name="tarjeta-238"/>
          <p:cNvSpPr/>
          <p:nvPr/>
        </p:nvSpPr>
        <p:spPr>
          <a:xfrm>
            <a:off x="777240" y="1783080"/>
            <a:ext cx="5212080" cy="1783080"/>
          </a:xfrm>
          <a:prstGeom prst="roundRect">
            <a:avLst>
              <a:gd name="adj" fmla="val 4103"/>
            </a:avLst>
          </a:prstGeom>
          <a:solidFill>
            <a:srgbClr val="FFFFFF"/>
          </a:solidFill>
          <a:ln w="9525">
            <a:solidFill>
              <a:srgbClr val="E2E8F0"/>
            </a:solidFill>
            <a:prstDash val="solid"/>
          </a:ln>
        </p:spPr>
        <p:txBody>
          <a:bodyPr/>
          <a:p/>
        </p:txBody>
      </p:sp>
      <p:sp>
        <p:nvSpPr>
          <p:cNvPr id="5" name="etiqueta-239"/>
          <p:cNvSpPr/>
          <p:nvPr/>
        </p:nvSpPr>
        <p:spPr>
          <a:xfrm>
            <a:off x="960120" y="1947672"/>
            <a:ext cx="1145012" cy="246888"/>
          </a:xfrm>
          <a:prstGeom prst="roundRect">
            <a:avLst>
              <a:gd name="adj" fmla="val 18519"/>
            </a:avLst>
          </a:prstGeom>
          <a:solidFill>
            <a:schemeClr val="accent4"/>
          </a:solidFill>
          <a:ln/>
        </p:spPr>
        <p:txBody>
          <a:bodyPr wrap="square" lIns="0" tIns="0" rIns="0" bIns="0" rtlCol="0" anchor="ctr"/>
          <a:lstStyle/>
          <a:p>
            <a:pPr algn="ctr" indent="0" marL="0">
              <a:buNone/>
            </a:pPr>
            <a:r>
              <a:rPr lang="en-US" sz="1100" b="1" dirty="0">
                <a:solidFill>
                  <a:srgbClr val="04222B"/>
                </a:solidFill>
              </a:rPr>
              <a:t>INTEGRACIÓN</a:t>
            </a:r>
            <a:endParaRPr lang="en-US" sz="1100" dirty="0"/>
          </a:p>
        </p:txBody>
      </p:sp>
      <p:sp>
        <p:nvSpPr>
          <p:cNvPr id="6" name="texto-240"/>
          <p:cNvSpPr txBox="1"/>
          <p:nvPr/>
        </p:nvSpPr>
        <p:spPr>
          <a:xfrm>
            <a:off x="960120" y="2286000"/>
            <a:ext cx="4846320" cy="329184"/>
          </a:xfrm>
          <a:prstGeom prst="rect">
            <a:avLst/>
          </a:prstGeom>
          <a:noFill/>
          <a:ln/>
        </p:spPr>
        <p:txBody>
          <a:bodyPr wrap="square" lIns="0" tIns="0" rIns="0" bIns="0" rtlCol="0" anchor="t"/>
          <a:lstStyle/>
          <a:p>
            <a:pPr indent="0" marL="0">
              <a:buNone/>
            </a:pPr>
            <a:r>
              <a:rPr lang="en-US" sz="1700" b="1" dirty="0">
                <a:solidFill>
                  <a:srgbClr val="1A2430"/>
                </a:solidFill>
              </a:rPr>
              <a:t>Real y verificable</a:t>
            </a:r>
            <a:endParaRPr lang="en-US" sz="1700" dirty="0"/>
          </a:p>
        </p:txBody>
      </p:sp>
      <p:sp>
        <p:nvSpPr>
          <p:cNvPr id="7" name="texto-241"/>
          <p:cNvSpPr txBox="1"/>
          <p:nvPr/>
        </p:nvSpPr>
        <p:spPr>
          <a:xfrm>
            <a:off x="960120" y="2651760"/>
            <a:ext cx="4846320" cy="822960"/>
          </a:xfrm>
          <a:prstGeom prst="rect">
            <a:avLst/>
          </a:prstGeom>
          <a:noFill/>
          <a:ln/>
        </p:spPr>
        <p:txBody>
          <a:bodyPr wrap="square" lIns="0" tIns="0" rIns="0" bIns="0" rtlCol="0" anchor="t"/>
          <a:lstStyle/>
          <a:p>
            <a:pPr indent="0" marL="0">
              <a:buNone/>
            </a:pPr>
            <a:r>
              <a:rPr lang="en-US" sz="1400" dirty="0">
                <a:solidFill>
                  <a:schemeClr val="accent5"/>
                </a:solidFill>
              </a:rPr>
              <a:t>Un evento atraviesa las diez etapas y cada salida es la entrada de la siguiente. Una prueba automática lo comprueba.</a:t>
            </a:r>
            <a:endParaRPr lang="en-US" sz="1400" dirty="0"/>
          </a:p>
        </p:txBody>
      </p:sp>
      <p:sp>
        <p:nvSpPr>
          <p:cNvPr id="8" name="tarjeta-242"/>
          <p:cNvSpPr/>
          <p:nvPr/>
        </p:nvSpPr>
        <p:spPr>
          <a:xfrm>
            <a:off x="6199632" y="1783080"/>
            <a:ext cx="5212080" cy="1783080"/>
          </a:xfrm>
          <a:prstGeom prst="roundRect">
            <a:avLst>
              <a:gd name="adj" fmla="val 4103"/>
            </a:avLst>
          </a:prstGeom>
          <a:solidFill>
            <a:srgbClr val="FFFFFF"/>
          </a:solidFill>
          <a:ln w="9525">
            <a:solidFill>
              <a:srgbClr val="E2E8F0"/>
            </a:solidFill>
            <a:prstDash val="solid"/>
          </a:ln>
        </p:spPr>
        <p:txBody>
          <a:bodyPr/>
          <a:p/>
        </p:txBody>
      </p:sp>
      <p:sp>
        <p:nvSpPr>
          <p:cNvPr id="9" name="etiqueta-243"/>
          <p:cNvSpPr/>
          <p:nvPr/>
        </p:nvSpPr>
        <p:spPr>
          <a:xfrm>
            <a:off x="6382512" y="1947672"/>
            <a:ext cx="1227491" cy="246888"/>
          </a:xfrm>
          <a:prstGeom prst="roundRect">
            <a:avLst>
              <a:gd name="adj" fmla="val 18519"/>
            </a:avLst>
          </a:prstGeom>
          <a:solidFill>
            <a:schemeClr val="accent4"/>
          </a:solidFill>
          <a:ln/>
        </p:spPr>
        <p:txBody>
          <a:bodyPr wrap="square" lIns="0" tIns="0" rIns="0" bIns="0" rtlCol="0" anchor="ctr"/>
          <a:lstStyle/>
          <a:p>
            <a:pPr algn="ctr" indent="0" marL="0">
              <a:buNone/>
            </a:pPr>
            <a:r>
              <a:rPr lang="en-US" sz="1100" b="1" dirty="0">
                <a:solidFill>
                  <a:srgbClr val="04222B"/>
                </a:solidFill>
              </a:rPr>
              <a:t>APROXIMACIÓN</a:t>
            </a:r>
            <a:endParaRPr lang="en-US" sz="1100" dirty="0"/>
          </a:p>
        </p:txBody>
      </p:sp>
      <p:sp>
        <p:nvSpPr>
          <p:cNvPr id="10" name="texto-244"/>
          <p:cNvSpPr txBox="1"/>
          <p:nvPr/>
        </p:nvSpPr>
        <p:spPr>
          <a:xfrm>
            <a:off x="6382512" y="2286000"/>
            <a:ext cx="4846320" cy="329184"/>
          </a:xfrm>
          <a:prstGeom prst="rect">
            <a:avLst/>
          </a:prstGeom>
          <a:noFill/>
          <a:ln/>
        </p:spPr>
        <p:txBody>
          <a:bodyPr wrap="square" lIns="0" tIns="0" rIns="0" bIns="0" rtlCol="0" anchor="t"/>
          <a:lstStyle/>
          <a:p>
            <a:pPr indent="0" marL="0">
              <a:buNone/>
            </a:pPr>
            <a:r>
              <a:rPr lang="en-US" sz="1700" b="1" dirty="0">
                <a:solidFill>
                  <a:srgbClr val="1A2430"/>
                </a:solidFill>
              </a:rPr>
              <a:t>Paga con error acotado</a:t>
            </a:r>
            <a:endParaRPr lang="en-US" sz="1700" dirty="0"/>
          </a:p>
        </p:txBody>
      </p:sp>
      <p:sp>
        <p:nvSpPr>
          <p:cNvPr id="11" name="texto-245"/>
          <p:cNvSpPr txBox="1"/>
          <p:nvPr/>
        </p:nvSpPr>
        <p:spPr>
          <a:xfrm>
            <a:off x="6382512" y="2651760"/>
            <a:ext cx="4846320" cy="822960"/>
          </a:xfrm>
          <a:prstGeom prst="rect">
            <a:avLst/>
          </a:prstGeom>
          <a:noFill/>
          <a:ln/>
        </p:spPr>
        <p:txBody>
          <a:bodyPr wrap="square" lIns="0" tIns="0" rIns="0" bIns="0" rtlCol="0" anchor="t"/>
          <a:lstStyle/>
          <a:p>
            <a:pPr indent="0" marL="0">
              <a:buNone/>
            </a:pPr>
            <a:r>
              <a:rPr lang="en-US" sz="1400" dirty="0">
                <a:solidFill>
                  <a:schemeClr val="accent5"/>
                </a:solidFill>
              </a:rPr>
              <a:t>Bloom y Count-Min: 22 y 300 veces menos memoria. LSH e IVF: cientos de veces más rápidos. Un paso exacto corrige lo crítico.</a:t>
            </a:r>
            <a:endParaRPr lang="en-US" sz="1400" dirty="0"/>
          </a:p>
        </p:txBody>
      </p:sp>
      <p:sp>
        <p:nvSpPr>
          <p:cNvPr id="12" name="tarjeta-246"/>
          <p:cNvSpPr/>
          <p:nvPr/>
        </p:nvSpPr>
        <p:spPr>
          <a:xfrm>
            <a:off x="777240" y="3749040"/>
            <a:ext cx="5212080" cy="1783080"/>
          </a:xfrm>
          <a:prstGeom prst="roundRect">
            <a:avLst>
              <a:gd name="adj" fmla="val 4103"/>
            </a:avLst>
          </a:prstGeom>
          <a:solidFill>
            <a:srgbClr val="FFFFFF"/>
          </a:solidFill>
          <a:ln w="9525">
            <a:solidFill>
              <a:srgbClr val="E2E8F0"/>
            </a:solidFill>
            <a:prstDash val="solid"/>
          </a:ln>
        </p:spPr>
        <p:txBody>
          <a:bodyPr/>
          <a:p/>
        </p:txBody>
      </p:sp>
      <p:sp>
        <p:nvSpPr>
          <p:cNvPr id="13" name="etiqueta-247"/>
          <p:cNvSpPr/>
          <p:nvPr/>
        </p:nvSpPr>
        <p:spPr>
          <a:xfrm>
            <a:off x="960120" y="3913632"/>
            <a:ext cx="1227491" cy="246888"/>
          </a:xfrm>
          <a:prstGeom prst="roundRect">
            <a:avLst>
              <a:gd name="adj" fmla="val 18519"/>
            </a:avLst>
          </a:prstGeom>
          <a:solidFill>
            <a:schemeClr val="accent4"/>
          </a:solidFill>
          <a:ln/>
        </p:spPr>
        <p:txBody>
          <a:bodyPr wrap="square" lIns="0" tIns="0" rIns="0" bIns="0" rtlCol="0" anchor="ctr"/>
          <a:lstStyle/>
          <a:p>
            <a:pPr algn="ctr" indent="0" marL="0">
              <a:buNone/>
            </a:pPr>
            <a:r>
              <a:rPr lang="en-US" sz="1100" b="1" dirty="0">
                <a:solidFill>
                  <a:srgbClr val="04222B"/>
                </a:solidFill>
              </a:rPr>
              <a:t>EXPERIMENTOS</a:t>
            </a:r>
            <a:endParaRPr lang="en-US" sz="1100" dirty="0"/>
          </a:p>
        </p:txBody>
      </p:sp>
      <p:sp>
        <p:nvSpPr>
          <p:cNvPr id="14" name="texto-248"/>
          <p:cNvSpPr txBox="1"/>
          <p:nvPr/>
        </p:nvSpPr>
        <p:spPr>
          <a:xfrm>
            <a:off x="960120" y="4251960"/>
            <a:ext cx="4846320" cy="329184"/>
          </a:xfrm>
          <a:prstGeom prst="rect">
            <a:avLst/>
          </a:prstGeom>
          <a:noFill/>
          <a:ln/>
        </p:spPr>
        <p:txBody>
          <a:bodyPr wrap="square" lIns="0" tIns="0" rIns="0" bIns="0" rtlCol="0" anchor="t"/>
          <a:lstStyle/>
          <a:p>
            <a:pPr indent="0" marL="0">
              <a:buNone/>
            </a:pPr>
            <a:r>
              <a:rPr lang="en-US" sz="1700" b="1" dirty="0">
                <a:solidFill>
                  <a:srgbClr val="1A2430"/>
                </a:solidFill>
              </a:rPr>
              <a:t>Confirman la teoría</a:t>
            </a:r>
            <a:endParaRPr lang="en-US" sz="1700" dirty="0"/>
          </a:p>
        </p:txBody>
      </p:sp>
      <p:sp>
        <p:nvSpPr>
          <p:cNvPr id="15" name="texto-249"/>
          <p:cNvSpPr txBox="1"/>
          <p:nvPr/>
        </p:nvSpPr>
        <p:spPr>
          <a:xfrm>
            <a:off x="960120" y="4617720"/>
            <a:ext cx="4846320" cy="822960"/>
          </a:xfrm>
          <a:prstGeom prst="rect">
            <a:avLst/>
          </a:prstGeom>
          <a:noFill/>
          <a:ln/>
        </p:spPr>
        <p:txBody>
          <a:bodyPr wrap="square" lIns="0" tIns="0" rIns="0" bIns="0" rtlCol="0" anchor="t"/>
          <a:lstStyle/>
          <a:p>
            <a:pPr indent="0" marL="0">
              <a:buNone/>
            </a:pPr>
            <a:r>
              <a:rPr lang="en-US" sz="1400" dirty="0">
                <a:solidFill>
                  <a:schemeClr val="accent5"/>
                </a:solidFill>
              </a:rPr>
              <a:t>Lineal en cola y hash, n log n en ordenación y heap, casi plano en B+Tree y KD-Tree, lineal en fuerza bruta.</a:t>
            </a:r>
            <a:endParaRPr lang="en-US" sz="1400" dirty="0"/>
          </a:p>
        </p:txBody>
      </p:sp>
      <p:sp>
        <p:nvSpPr>
          <p:cNvPr id="16" name="tarjeta-250"/>
          <p:cNvSpPr/>
          <p:nvPr/>
        </p:nvSpPr>
        <p:spPr>
          <a:xfrm>
            <a:off x="6199632" y="3749040"/>
            <a:ext cx="5212080" cy="1783080"/>
          </a:xfrm>
          <a:prstGeom prst="roundRect">
            <a:avLst>
              <a:gd name="adj" fmla="val 4103"/>
            </a:avLst>
          </a:prstGeom>
          <a:solidFill>
            <a:srgbClr val="FFFFFF"/>
          </a:solidFill>
          <a:ln w="9525">
            <a:solidFill>
              <a:srgbClr val="E2E8F0"/>
            </a:solidFill>
            <a:prstDash val="solid"/>
          </a:ln>
        </p:spPr>
        <p:txBody>
          <a:bodyPr/>
          <a:p/>
        </p:txBody>
      </p:sp>
      <p:sp>
        <p:nvSpPr>
          <p:cNvPr id="17" name="etiqueta-251"/>
          <p:cNvSpPr/>
          <p:nvPr/>
        </p:nvSpPr>
        <p:spPr>
          <a:xfrm>
            <a:off x="6382512" y="3913632"/>
            <a:ext cx="815096" cy="246888"/>
          </a:xfrm>
          <a:prstGeom prst="roundRect">
            <a:avLst>
              <a:gd name="adj" fmla="val 18519"/>
            </a:avLst>
          </a:prstGeom>
          <a:solidFill>
            <a:schemeClr val="accent4"/>
          </a:solidFill>
          <a:ln/>
        </p:spPr>
        <p:txBody>
          <a:bodyPr wrap="square" lIns="0" tIns="0" rIns="0" bIns="0" rtlCol="0" anchor="ctr"/>
          <a:lstStyle/>
          <a:p>
            <a:pPr algn="ctr" indent="0" marL="0">
              <a:buNone/>
            </a:pPr>
            <a:r>
              <a:rPr lang="en-US" sz="1100" b="1" dirty="0">
                <a:solidFill>
                  <a:srgbClr val="04222B"/>
                </a:solidFill>
              </a:rPr>
              <a:t>LÍMITES</a:t>
            </a:r>
            <a:endParaRPr lang="en-US" sz="1100" dirty="0"/>
          </a:p>
        </p:txBody>
      </p:sp>
      <p:sp>
        <p:nvSpPr>
          <p:cNvPr id="18" name="texto-252"/>
          <p:cNvSpPr txBox="1"/>
          <p:nvPr/>
        </p:nvSpPr>
        <p:spPr>
          <a:xfrm>
            <a:off x="6382512" y="4251960"/>
            <a:ext cx="4846320" cy="329184"/>
          </a:xfrm>
          <a:prstGeom prst="rect">
            <a:avLst/>
          </a:prstGeom>
          <a:noFill/>
          <a:ln/>
        </p:spPr>
        <p:txBody>
          <a:bodyPr wrap="square" lIns="0" tIns="0" rIns="0" bIns="0" rtlCol="0" anchor="t"/>
          <a:lstStyle/>
          <a:p>
            <a:pPr indent="0" marL="0">
              <a:buNone/>
            </a:pPr>
            <a:r>
              <a:rPr lang="en-US" sz="1700" b="1" dirty="0">
                <a:solidFill>
                  <a:srgbClr val="1A2430"/>
                </a:solidFill>
              </a:rPr>
              <a:t>Declarados</a:t>
            </a:r>
            <a:endParaRPr lang="en-US" sz="1700" dirty="0"/>
          </a:p>
        </p:txBody>
      </p:sp>
      <p:sp>
        <p:nvSpPr>
          <p:cNvPr id="19" name="texto-253"/>
          <p:cNvSpPr txBox="1"/>
          <p:nvPr/>
        </p:nvSpPr>
        <p:spPr>
          <a:xfrm>
            <a:off x="6382512" y="4617720"/>
            <a:ext cx="4846320" cy="822960"/>
          </a:xfrm>
          <a:prstGeom prst="rect">
            <a:avLst/>
          </a:prstGeom>
          <a:noFill/>
          <a:ln/>
        </p:spPr>
        <p:txBody>
          <a:bodyPr wrap="square" lIns="0" tIns="0" rIns="0" bIns="0" rtlCol="0" anchor="t"/>
          <a:lstStyle/>
          <a:p>
            <a:pPr indent="0" marL="0">
              <a:buNone/>
            </a:pPr>
            <a:r>
              <a:rPr lang="en-US" sz="1400" dirty="0">
                <a:solidFill>
                  <a:schemeClr val="accent5"/>
                </a:solidFill>
              </a:rPr>
              <a:t>KD-Tree inútil en d = 32, LSH no es un índice global y el umbral fijo confunde usuarios intensos con fraude.</a:t>
            </a:r>
            <a:endParaRPr lang="en-US" sz="1400" dirty="0"/>
          </a:p>
        </p:txBody>
      </p:sp>
      <p:sp>
        <p:nvSpPr>
          <p:cNvPr id="20" name="tarjeta-254"/>
          <p:cNvSpPr/>
          <p:nvPr/>
        </p:nvSpPr>
        <p:spPr>
          <a:xfrm>
            <a:off x="777240" y="5715000"/>
            <a:ext cx="10634472" cy="548640"/>
          </a:xfrm>
          <a:prstGeom prst="roundRect">
            <a:avLst>
              <a:gd name="adj" fmla="val 13333"/>
            </a:avLst>
          </a:prstGeom>
          <a:solidFill>
            <a:schemeClr val="accent6"/>
          </a:solidFill>
          <a:ln w="9525">
            <a:solidFill>
              <a:schemeClr val="accent1"/>
            </a:solidFill>
            <a:prstDash val="solid"/>
          </a:ln>
        </p:spPr>
        <p:txBody>
          <a:bodyPr/>
          <a:p/>
        </p:txBody>
      </p:sp>
      <p:sp>
        <p:nvSpPr>
          <p:cNvPr id="21" name="texto-255"/>
          <p:cNvSpPr txBox="1"/>
          <p:nvPr/>
        </p:nvSpPr>
        <p:spPr>
          <a:xfrm>
            <a:off x="932688" y="5715000"/>
            <a:ext cx="10332720" cy="548640"/>
          </a:xfrm>
          <a:prstGeom prst="rect">
            <a:avLst/>
          </a:prstGeom>
          <a:noFill/>
          <a:ln/>
        </p:spPr>
        <p:txBody>
          <a:bodyPr wrap="square" lIns="0" tIns="0" rIns="0" bIns="0" rtlCol="0" anchor="ctr"/>
          <a:lstStyle/>
          <a:p>
            <a:pPr indent="0" marL="0">
              <a:buNone/>
            </a:pPr>
            <a:r>
              <a:rPr lang="en-US" sz="1400" b="1" dirty="0">
                <a:solidFill>
                  <a:schemeClr val="accent3"/>
                </a:solidFill>
              </a:rPr>
              <a:t>Siguiente paso: </a:t>
            </a:r>
            <a:pPr indent="0" marL="0">
              <a:buNone/>
            </a:pPr>
            <a:r>
              <a:rPr lang="en-US" sz="1400" dirty="0">
                <a:solidFill>
                  <a:schemeClr val="accent3"/>
                </a:solidFill>
              </a:rPr>
              <a:t>octubre y noviembre completos (110M eventos), umbral por usuario y S7 en paralelo.</a:t>
            </a:r>
            <a:endParaRPr lang="en-US" sz="1400" dirty="0"/>
          </a:p>
        </p:txBody>
      </p:sp>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banda"/>
          <p:cNvSpPr/>
          <p:nvPr/>
        </p:nvSpPr>
        <p:spPr>
          <a:xfrm>
            <a:off x="0" y="2139696"/>
            <a:ext cx="12191695" cy="2578608"/>
          </a:xfrm>
          <a:prstGeom prst="rect">
            <a:avLst/>
          </a:prstGeom>
          <a:solidFill>
            <a:srgbClr val="00D6E8"/>
          </a:solidFill>
          <a:ln/>
        </p:spPr>
        <p:txBody>
          <a:bodyPr/>
          <a:p/>
        </p:txBody>
      </p:sp>
      <p:sp>
        <p:nvSpPr>
          <p:cNvPr id="3" name="texto-256"/>
          <p:cNvSpPr txBox="1"/>
          <p:nvPr/>
        </p:nvSpPr>
        <p:spPr>
          <a:xfrm>
            <a:off x="2441448" y="2377440"/>
            <a:ext cx="7315200" cy="914400"/>
          </a:xfrm>
          <a:prstGeom prst="rect">
            <a:avLst/>
          </a:prstGeom>
          <a:noFill/>
          <a:ln/>
        </p:spPr>
        <p:txBody>
          <a:bodyPr wrap="square" lIns="0" tIns="0" rIns="0" bIns="0" rtlCol="0" anchor="ctr"/>
          <a:lstStyle/>
          <a:p>
            <a:pPr algn="ctr" indent="0" marL="0">
              <a:buNone/>
            </a:pPr>
            <a:r>
              <a:rPr lang="en-US" sz="6000" b="1" dirty="0">
                <a:solidFill>
                  <a:schemeClr val="bg1"/>
                </a:solidFill>
              </a:rPr>
              <a:t>¡Gracias!</a:t>
            </a:r>
            <a:endParaRPr lang="en-US" sz="6000" dirty="0"/>
          </a:p>
        </p:txBody>
      </p:sp>
      <p:sp>
        <p:nvSpPr>
          <p:cNvPr id="4" name="texto-257"/>
          <p:cNvSpPr txBox="1"/>
          <p:nvPr/>
        </p:nvSpPr>
        <p:spPr>
          <a:xfrm>
            <a:off x="2441448" y="3337560"/>
            <a:ext cx="7315200" cy="502920"/>
          </a:xfrm>
          <a:prstGeom prst="rect">
            <a:avLst/>
          </a:prstGeom>
          <a:noFill/>
          <a:ln/>
        </p:spPr>
        <p:txBody>
          <a:bodyPr wrap="square" lIns="0" tIns="0" rIns="0" bIns="0" rtlCol="0" anchor="ctr"/>
          <a:lstStyle/>
          <a:p>
            <a:pPr algn="ctr" indent="0" marL="0">
              <a:buNone/>
            </a:pPr>
            <a:r>
              <a:rPr lang="en-US" sz="2800" b="1" dirty="0">
                <a:solidFill>
                  <a:schemeClr val="bg1"/>
                </a:solidFill>
              </a:rPr>
              <a:t>¿Preguntas?</a:t>
            </a:r>
            <a:endParaRPr lang="en-US" sz="2800" dirty="0"/>
          </a:p>
        </p:txBody>
      </p:sp>
      <p:sp>
        <p:nvSpPr>
          <p:cNvPr id="5" name="raya"/>
          <p:cNvSpPr/>
          <p:nvPr/>
        </p:nvSpPr>
        <p:spPr>
          <a:xfrm>
            <a:off x="5586984" y="4005072"/>
            <a:ext cx="1014984" cy="36576"/>
          </a:xfrm>
          <a:prstGeom prst="roundRect">
            <a:avLst>
              <a:gd name="adj" fmla="val 50000"/>
            </a:avLst>
          </a:prstGeom>
          <a:solidFill>
            <a:schemeClr val="bg1"/>
          </a:solidFill>
          <a:ln/>
        </p:spPr>
        <p:txBody>
          <a:bodyPr/>
          <a:p/>
        </p:txBody>
      </p:sp>
      <p:sp>
        <p:nvSpPr>
          <p:cNvPr id="6" name="texto-258"/>
          <p:cNvSpPr txBox="1"/>
          <p:nvPr/>
        </p:nvSpPr>
        <p:spPr>
          <a:xfrm>
            <a:off x="2441448" y="4160520"/>
            <a:ext cx="7315200" cy="365760"/>
          </a:xfrm>
          <a:prstGeom prst="rect">
            <a:avLst/>
          </a:prstGeom>
          <a:noFill/>
          <a:ln/>
        </p:spPr>
        <p:txBody>
          <a:bodyPr wrap="square" lIns="0" tIns="0" rIns="0" bIns="0" rtlCol="0" anchor="ctr"/>
          <a:lstStyle/>
          <a:p>
            <a:pPr algn="ctr" indent="0" marL="0">
              <a:buNone/>
            </a:pPr>
            <a:r>
              <a:rPr lang="en-US" sz="1600" b="1" dirty="0">
                <a:solidFill>
                  <a:schemeClr val="tx2"/>
                </a:solidFill>
              </a:rPr>
              <a:t>github.com/UTEC-AII/Proyecto-Final-E-AD</a:t>
            </a:r>
            <a:endParaRPr lang="en-US" sz="1600" dirty="0"/>
          </a:p>
        </p:txBody>
      </p:sp>
      <p:pic>
        <p:nvPicPr>
          <p:cNvPr id="7" name="diana" descr="/tmp/w/build/img/diana.png">    </p:cNvPr>
          <p:cNvPicPr>
            <a:picLocks noChangeAspect="1"/>
          </p:cNvPicPr>
          <p:nvPr/>
        </p:nvPicPr>
        <p:blipFill>
          <a:blip r:embed="rId1"/>
          <a:stretch>
            <a:fillRect/>
          </a:stretch>
        </p:blipFill>
        <p:spPr>
          <a:xfrm>
            <a:off x="9692640" y="4846320"/>
            <a:ext cx="1536192" cy="1371600"/>
          </a:xfrm>
          <a:prstGeom prst="rect">
            <a:avLst/>
          </a:prstGeom>
        </p:spPr>
      </p:pic>
      <p:sp>
        <p:nvSpPr>
          <p:cNvPr id="25" name="Slide Number Placeholder 0"/>
          <p:cNvSpPr>
            <a:spLocks noGrp="1"/>
          </p:cNvSpPr>
          <p:nvPr>
            <p:ph type="sldNum" sz="quarter" idx="4294967295"/>
          </p:nvPr>
        </p:nvSpPr>
        <p:spPr>
          <a:xfrm>
            <a:off x="112928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BBBBB"/>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UTEC Posgrado Grupo 2">
  <a:themeElements>
    <a:clrScheme name="UTEC Posgrado Grupo 2">
      <a:dk1>
        <a:srgbClr val="12141C"/>
      </a:dk1>
      <a:lt1>
        <a:srgbClr val="FFFFFF"/>
      </a:lt1>
      <a:dk2>
        <a:srgbClr val="444444"/>
      </a:dk2>
      <a:lt2>
        <a:srgbClr val="F5F6F7"/>
      </a:lt2>
      <a:accent1>
        <a:srgbClr val="00C8E6"/>
      </a:accent1>
      <a:accent2>
        <a:srgbClr val="0089A8"/>
      </a:accent2>
      <a:accent3>
        <a:srgbClr val="0B4F63"/>
      </a:accent3>
      <a:accent4>
        <a:srgbClr val="9BE6F2"/>
      </a:accent4>
      <a:accent5>
        <a:srgbClr val="6B7480"/>
      </a:accent5>
      <a:accent6>
        <a:srgbClr val="E6FBFF"/>
      </a:accent6>
      <a:hlink>
        <a:srgbClr val="0089A8"/>
      </a:hlink>
      <a:folHlink>
        <a:srgbClr val="0B4F63"/>
      </a:folHlink>
    </a:clrScheme>
    <a:fontScheme name="UTEC Posgrado Grupo 2">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UTEC Posgrado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Pipeline de data streams para comercio electrónico</dc:title>
  <dc:subject>Proyecto Final EDA 2026-2 · Grupo 2</dc:subject>
  <dc:creator>Grupo 2</dc:creator>
  <cp:lastModifiedBy>Grupo 2</cp:lastModifiedBy>
  <cp:revision>1</cp:revision>
  <dcterms:created xsi:type="dcterms:W3CDTF">2026-10-26T06:08:23Z</dcterms:created>
  <dcterms:modified xsi:type="dcterms:W3CDTF">2026-10-26T06:08:23Z</dcterms:modified>
</cp:coreProperties>
</file>